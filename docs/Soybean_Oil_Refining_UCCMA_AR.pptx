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notesMasterIdLst>
    <p:notesMasterId r:id="rId14"/>
  </p:notesMasterIdLst>
  <p:sldIdLst>
    <p:sldId id="256" r:id="rId2"/>
    <p:sldId id="258" r:id="rId3"/>
    <p:sldId id="259" r:id="rId4"/>
    <p:sldId id="261" r:id="rId5"/>
    <p:sldId id="262" r:id="rId6"/>
    <p:sldId id="263" r:id="rId7"/>
    <p:sldId id="264" r:id="rId8"/>
    <p:sldId id="265" r:id="rId9"/>
    <p:sldId id="266" r:id="rId10"/>
    <p:sldId id="267" r:id="rId11"/>
    <p:sldId id="268" r:id="rId12"/>
    <p:sldId id="270" r:id="rId13"/>
  </p:sldIdLst>
  <p:sldSz cx="12192000" cy="6858000"/>
  <p:notesSz cx="6888163" cy="100218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05" autoAdjust="0"/>
    <p:restoredTop sz="94610"/>
  </p:normalViewPr>
  <p:slideViewPr>
    <p:cSldViewPr snapToGrid="0" snapToObjects="1">
      <p:cViewPr varScale="1">
        <p:scale>
          <a:sx n="66" d="100"/>
          <a:sy n="66" d="100"/>
        </p:scale>
        <p:origin x="102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EDB69D-6B51-4CBD-9563-3C20645762D3}"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n-US"/>
        </a:p>
      </dgm:t>
    </dgm:pt>
    <dgm:pt modelId="{6AA50A07-C586-4060-A131-B3DEB4E07E7B}">
      <dgm:prSet phldrT="[Text]" phldr="0"/>
      <dgm:spPr/>
      <dgm:t>
        <a:bodyPr/>
        <a:lstStyle/>
        <a:p>
          <a:r>
            <a:rPr lang="ar-EG" dirty="0">
              <a:cs typeface="+mj-cs"/>
            </a:rPr>
            <a:t>200 طن زيت خام /يوم</a:t>
          </a:r>
          <a:endParaRPr lang="en-US" dirty="0">
            <a:cs typeface="+mj-cs"/>
          </a:endParaRPr>
        </a:p>
      </dgm:t>
    </dgm:pt>
    <dgm:pt modelId="{D11F9773-FD5B-4BA0-A4DA-FEDFE1C14451}" type="parTrans" cxnId="{4BF64191-19FB-467A-894A-2DB2B1B83576}">
      <dgm:prSet/>
      <dgm:spPr/>
      <dgm:t>
        <a:bodyPr/>
        <a:lstStyle/>
        <a:p>
          <a:endParaRPr lang="en-US">
            <a:cs typeface="+mj-cs"/>
          </a:endParaRPr>
        </a:p>
      </dgm:t>
    </dgm:pt>
    <dgm:pt modelId="{58594966-5660-4B80-B748-CEBAE521E96E}" type="sibTrans" cxnId="{4BF64191-19FB-467A-894A-2DB2B1B83576}">
      <dgm:prSet/>
      <dgm:spPr/>
      <dgm:t>
        <a:bodyPr/>
        <a:lstStyle/>
        <a:p>
          <a:endParaRPr lang="en-US">
            <a:cs typeface="+mj-cs"/>
          </a:endParaRPr>
        </a:p>
      </dgm:t>
    </dgm:pt>
    <dgm:pt modelId="{174163E2-6E92-4312-AB3D-77E2D0FEB3A3}">
      <dgm:prSet phldrT="[Text]" phldr="0" custT="1"/>
      <dgm:spPr/>
      <dgm:t>
        <a:bodyPr/>
        <a:lstStyle/>
        <a:p>
          <a:r>
            <a:rPr lang="ar-EG" sz="2000" dirty="0">
              <a:cs typeface="+mj-cs"/>
            </a:rPr>
            <a:t>زيت مكرر 195-198 طن </a:t>
          </a:r>
          <a:endParaRPr lang="en-US" sz="2000" dirty="0">
            <a:cs typeface="+mj-cs"/>
          </a:endParaRPr>
        </a:p>
      </dgm:t>
    </dgm:pt>
    <dgm:pt modelId="{27049698-E0F5-4D9D-BDFB-BBB5096813DC}" type="parTrans" cxnId="{06315C64-FCD2-422F-B75B-2D1BB4127048}">
      <dgm:prSet/>
      <dgm:spPr/>
      <dgm:t>
        <a:bodyPr/>
        <a:lstStyle/>
        <a:p>
          <a:endParaRPr lang="en-US">
            <a:cs typeface="+mj-cs"/>
          </a:endParaRPr>
        </a:p>
      </dgm:t>
    </dgm:pt>
    <dgm:pt modelId="{380A0A62-FEBA-484D-9880-1A266A9E9D1A}" type="sibTrans" cxnId="{06315C64-FCD2-422F-B75B-2D1BB4127048}">
      <dgm:prSet/>
      <dgm:spPr/>
      <dgm:t>
        <a:bodyPr/>
        <a:lstStyle/>
        <a:p>
          <a:endParaRPr lang="en-US">
            <a:cs typeface="+mj-cs"/>
          </a:endParaRPr>
        </a:p>
      </dgm:t>
    </dgm:pt>
    <dgm:pt modelId="{1522F2EB-F611-4EE7-9131-A5A9DE99B7AC}">
      <dgm:prSet phldrT="[Text]" phldr="0" custT="1"/>
      <dgm:spPr/>
      <dgm:t>
        <a:bodyPr/>
        <a:lstStyle/>
        <a:p>
          <a:pPr>
            <a:buNone/>
          </a:pPr>
          <a:r>
            <a:rPr lang="ar-EG" sz="2000" dirty="0">
              <a:cs typeface="+mj-cs"/>
            </a:rPr>
            <a:t>فسفولبيدات مائية (جمز) يتم اضافتها على كسب الصويا كمصدر للطاقة </a:t>
          </a:r>
        </a:p>
        <a:p>
          <a:pPr>
            <a:buFont typeface="Arial" panose="020B0604020202020204" pitchFamily="34" charset="0"/>
            <a:buChar char="•"/>
          </a:pPr>
          <a:r>
            <a:rPr lang="ar-EG" sz="2000" dirty="0">
              <a:cs typeface="+mj-cs"/>
            </a:rPr>
            <a:t>فسفوليبدات لا مائية يتم خروجها مع الصابون</a:t>
          </a:r>
          <a:endParaRPr lang="en-US" sz="2000" dirty="0">
            <a:cs typeface="+mj-cs"/>
          </a:endParaRPr>
        </a:p>
      </dgm:t>
    </dgm:pt>
    <dgm:pt modelId="{BF5C9160-EB3B-4EB6-A0E1-D363B221C9D3}" type="parTrans" cxnId="{32E0D6FC-2EAF-41E8-958B-61C612EDED90}">
      <dgm:prSet/>
      <dgm:spPr/>
      <dgm:t>
        <a:bodyPr/>
        <a:lstStyle/>
        <a:p>
          <a:endParaRPr lang="en-US">
            <a:cs typeface="+mj-cs"/>
          </a:endParaRPr>
        </a:p>
      </dgm:t>
    </dgm:pt>
    <dgm:pt modelId="{67332965-F8B9-4E3D-A7D6-BD273BD69533}" type="sibTrans" cxnId="{32E0D6FC-2EAF-41E8-958B-61C612EDED90}">
      <dgm:prSet/>
      <dgm:spPr/>
      <dgm:t>
        <a:bodyPr/>
        <a:lstStyle/>
        <a:p>
          <a:endParaRPr lang="en-US">
            <a:cs typeface="+mj-cs"/>
          </a:endParaRPr>
        </a:p>
      </dgm:t>
    </dgm:pt>
    <dgm:pt modelId="{69B0BD14-EC67-4F31-A7F6-9B8B93A2FE13}">
      <dgm:prSet phldrT="[Text]" custT="1"/>
      <dgm:spPr/>
      <dgm:t>
        <a:bodyPr/>
        <a:lstStyle/>
        <a:p>
          <a:r>
            <a:rPr lang="ar-SA" sz="2000" dirty="0">
              <a:cs typeface="+mj-cs"/>
            </a:rPr>
            <a:t>الصابون</a:t>
          </a:r>
          <a:r>
            <a:rPr lang="ar-EG" sz="2000" dirty="0">
              <a:cs typeface="+mj-cs"/>
            </a:rPr>
            <a:t> يستخدم في صناعة الصابون </a:t>
          </a:r>
          <a:endParaRPr lang="en-US" sz="2000" dirty="0">
            <a:cs typeface="+mj-cs"/>
          </a:endParaRPr>
        </a:p>
      </dgm:t>
    </dgm:pt>
    <dgm:pt modelId="{96064AE5-CB51-424C-87F2-E70662749610}" type="parTrans" cxnId="{EFCCABBE-0987-4EC4-BD39-122BC8ED1B64}">
      <dgm:prSet/>
      <dgm:spPr/>
      <dgm:t>
        <a:bodyPr/>
        <a:lstStyle/>
        <a:p>
          <a:endParaRPr lang="en-US">
            <a:cs typeface="+mj-cs"/>
          </a:endParaRPr>
        </a:p>
      </dgm:t>
    </dgm:pt>
    <dgm:pt modelId="{06939023-0886-40AF-8E70-F03DBD0D8A92}" type="sibTrans" cxnId="{EFCCABBE-0987-4EC4-BD39-122BC8ED1B64}">
      <dgm:prSet/>
      <dgm:spPr/>
      <dgm:t>
        <a:bodyPr/>
        <a:lstStyle/>
        <a:p>
          <a:endParaRPr lang="en-US">
            <a:cs typeface="+mj-cs"/>
          </a:endParaRPr>
        </a:p>
      </dgm:t>
    </dgm:pt>
    <dgm:pt modelId="{612ABFF3-2D97-4426-BCF1-CB1657ABA0D8}">
      <dgm:prSet phldrT="[Text]" phldr="0" custT="1"/>
      <dgm:spPr/>
      <dgm:t>
        <a:bodyPr/>
        <a:lstStyle/>
        <a:p>
          <a:r>
            <a:rPr lang="ar-EG" sz="2000" dirty="0">
              <a:cs typeface="+mj-cs"/>
            </a:rPr>
            <a:t>احماض دهنية تستخدم في صناعة الوقود الحيوي و مستحضرات التجميل </a:t>
          </a:r>
          <a:endParaRPr lang="en-US" sz="2000" dirty="0">
            <a:cs typeface="+mj-cs"/>
          </a:endParaRPr>
        </a:p>
      </dgm:t>
    </dgm:pt>
    <dgm:pt modelId="{6D01A1E3-BE9B-4319-B7B2-9274FDEE109B}" type="parTrans" cxnId="{C0DB07CC-6922-42B2-9F0C-6AAC86D238F6}">
      <dgm:prSet/>
      <dgm:spPr/>
      <dgm:t>
        <a:bodyPr/>
        <a:lstStyle/>
        <a:p>
          <a:endParaRPr lang="en-US">
            <a:cs typeface="+mj-cs"/>
          </a:endParaRPr>
        </a:p>
      </dgm:t>
    </dgm:pt>
    <dgm:pt modelId="{32672F13-E719-44D8-B920-37B8EBBD6EF9}" type="sibTrans" cxnId="{C0DB07CC-6922-42B2-9F0C-6AAC86D238F6}">
      <dgm:prSet/>
      <dgm:spPr/>
      <dgm:t>
        <a:bodyPr/>
        <a:lstStyle/>
        <a:p>
          <a:endParaRPr lang="en-US">
            <a:cs typeface="+mj-cs"/>
          </a:endParaRPr>
        </a:p>
      </dgm:t>
    </dgm:pt>
    <dgm:pt modelId="{93BA8B1A-5C45-47DA-94B2-8E8BF1AECB01}" type="pres">
      <dgm:prSet presAssocID="{B1EDB69D-6B51-4CBD-9563-3C20645762D3}" presName="Name0" presStyleCnt="0">
        <dgm:presLayoutVars>
          <dgm:chMax val="1"/>
          <dgm:chPref val="1"/>
          <dgm:dir/>
          <dgm:animOne val="branch"/>
          <dgm:animLvl val="lvl"/>
        </dgm:presLayoutVars>
      </dgm:prSet>
      <dgm:spPr/>
    </dgm:pt>
    <dgm:pt modelId="{3C938FA2-31B8-424C-AF60-A93ABB2F02B7}" type="pres">
      <dgm:prSet presAssocID="{6AA50A07-C586-4060-A131-B3DEB4E07E7B}" presName="singleCycle" presStyleCnt="0"/>
      <dgm:spPr/>
    </dgm:pt>
    <dgm:pt modelId="{55454F0B-3D42-4C58-8652-0D63C97E1066}" type="pres">
      <dgm:prSet presAssocID="{6AA50A07-C586-4060-A131-B3DEB4E07E7B}" presName="singleCenter" presStyleLbl="node1" presStyleIdx="0" presStyleCnt="5" custScaleX="260445" custScaleY="62735" custLinFactNeighborX="10573" custLinFactNeighborY="-12333">
        <dgm:presLayoutVars>
          <dgm:chMax val="7"/>
          <dgm:chPref val="7"/>
        </dgm:presLayoutVars>
      </dgm:prSet>
      <dgm:spPr/>
    </dgm:pt>
    <dgm:pt modelId="{A51DF323-739A-410C-B025-6223FFBEBD42}" type="pres">
      <dgm:prSet presAssocID="{27049698-E0F5-4D9D-BDFB-BBB5096813DC}" presName="Name56" presStyleLbl="parChTrans1D2" presStyleIdx="0" presStyleCnt="4"/>
      <dgm:spPr/>
    </dgm:pt>
    <dgm:pt modelId="{123559F5-195F-4684-9958-FB31DE11D0D1}" type="pres">
      <dgm:prSet presAssocID="{174163E2-6E92-4312-AB3D-77E2D0FEB3A3}" presName="text0" presStyleLbl="node1" presStyleIdx="1" presStyleCnt="5" custScaleX="238128" custScaleY="114929" custRadScaleRad="103424" custRadScaleInc="22341">
        <dgm:presLayoutVars>
          <dgm:bulletEnabled val="1"/>
        </dgm:presLayoutVars>
      </dgm:prSet>
      <dgm:spPr/>
    </dgm:pt>
    <dgm:pt modelId="{73CBA39D-49E6-478E-80EC-F47E06A852F0}" type="pres">
      <dgm:prSet presAssocID="{BF5C9160-EB3B-4EB6-A0E1-D363B221C9D3}" presName="Name56" presStyleLbl="parChTrans1D2" presStyleIdx="1" presStyleCnt="4"/>
      <dgm:spPr/>
    </dgm:pt>
    <dgm:pt modelId="{8FD0BBE7-5153-4395-8C28-D5BC00AF4015}" type="pres">
      <dgm:prSet presAssocID="{1522F2EB-F611-4EE7-9131-A5A9DE99B7AC}" presName="text0" presStyleLbl="node1" presStyleIdx="2" presStyleCnt="5" custScaleX="484123" custScaleY="194289" custRadScaleRad="259937" custRadScaleInc="32148">
        <dgm:presLayoutVars>
          <dgm:bulletEnabled val="1"/>
        </dgm:presLayoutVars>
      </dgm:prSet>
      <dgm:spPr/>
    </dgm:pt>
    <dgm:pt modelId="{775DE1A7-5158-406E-B3C4-E4D011BF6CD6}" type="pres">
      <dgm:prSet presAssocID="{96064AE5-CB51-424C-87F2-E70662749610}" presName="Name56" presStyleLbl="parChTrans1D2" presStyleIdx="2" presStyleCnt="4"/>
      <dgm:spPr/>
    </dgm:pt>
    <dgm:pt modelId="{C41BEF1A-97F4-4F7A-A7EC-709373FD4037}" type="pres">
      <dgm:prSet presAssocID="{69B0BD14-EC67-4F31-A7F6-9B8B93A2FE13}" presName="text0" presStyleLbl="node1" presStyleIdx="3" presStyleCnt="5" custScaleX="232113" custRadScaleRad="85339" custRadScaleInc="-30780">
        <dgm:presLayoutVars>
          <dgm:bulletEnabled val="1"/>
        </dgm:presLayoutVars>
      </dgm:prSet>
      <dgm:spPr/>
    </dgm:pt>
    <dgm:pt modelId="{DE9F6947-1D7A-4EC2-A20F-A5FFC0A46782}" type="pres">
      <dgm:prSet presAssocID="{6D01A1E3-BE9B-4319-B7B2-9274FDEE109B}" presName="Name56" presStyleLbl="parChTrans1D2" presStyleIdx="3" presStyleCnt="4"/>
      <dgm:spPr/>
    </dgm:pt>
    <dgm:pt modelId="{0839ABBA-721D-4C81-87CD-3EAF9F04F401}" type="pres">
      <dgm:prSet presAssocID="{612ABFF3-2D97-4426-BCF1-CB1657ABA0D8}" presName="text0" presStyleLbl="node1" presStyleIdx="4" presStyleCnt="5" custScaleX="382268" custScaleY="142723" custRadScaleRad="246008" custRadScaleInc="-30752">
        <dgm:presLayoutVars>
          <dgm:bulletEnabled val="1"/>
        </dgm:presLayoutVars>
      </dgm:prSet>
      <dgm:spPr/>
    </dgm:pt>
  </dgm:ptLst>
  <dgm:cxnLst>
    <dgm:cxn modelId="{14B60403-ECD7-4317-A60B-2A83C911DE5A}" type="presOf" srcId="{27049698-E0F5-4D9D-BDFB-BBB5096813DC}" destId="{A51DF323-739A-410C-B025-6223FFBEBD42}" srcOrd="0" destOrd="0" presId="urn:microsoft.com/office/officeart/2008/layout/RadialCluster"/>
    <dgm:cxn modelId="{FC46C50D-14FC-4CD3-A2D6-3ACB77B6771B}" type="presOf" srcId="{612ABFF3-2D97-4426-BCF1-CB1657ABA0D8}" destId="{0839ABBA-721D-4C81-87CD-3EAF9F04F401}" srcOrd="0" destOrd="0" presId="urn:microsoft.com/office/officeart/2008/layout/RadialCluster"/>
    <dgm:cxn modelId="{CEB83E0E-4E47-4E0F-981F-DBAD6E0B7D64}" type="presOf" srcId="{BF5C9160-EB3B-4EB6-A0E1-D363B221C9D3}" destId="{73CBA39D-49E6-478E-80EC-F47E06A852F0}" srcOrd="0" destOrd="0" presId="urn:microsoft.com/office/officeart/2008/layout/RadialCluster"/>
    <dgm:cxn modelId="{ED1E2440-8A4C-44A3-8084-556D1C432879}" type="presOf" srcId="{6D01A1E3-BE9B-4319-B7B2-9274FDEE109B}" destId="{DE9F6947-1D7A-4EC2-A20F-A5FFC0A46782}" srcOrd="0" destOrd="0" presId="urn:microsoft.com/office/officeart/2008/layout/RadialCluster"/>
    <dgm:cxn modelId="{9E80D742-84B2-4CF4-8BC9-29AD77CC337F}" type="presOf" srcId="{B1EDB69D-6B51-4CBD-9563-3C20645762D3}" destId="{93BA8B1A-5C45-47DA-94B2-8E8BF1AECB01}" srcOrd="0" destOrd="0" presId="urn:microsoft.com/office/officeart/2008/layout/RadialCluster"/>
    <dgm:cxn modelId="{07F51E63-BEF1-43FF-8799-B75C43F69A7D}" type="presOf" srcId="{6AA50A07-C586-4060-A131-B3DEB4E07E7B}" destId="{55454F0B-3D42-4C58-8652-0D63C97E1066}" srcOrd="0" destOrd="0" presId="urn:microsoft.com/office/officeart/2008/layout/RadialCluster"/>
    <dgm:cxn modelId="{06315C64-FCD2-422F-B75B-2D1BB4127048}" srcId="{6AA50A07-C586-4060-A131-B3DEB4E07E7B}" destId="{174163E2-6E92-4312-AB3D-77E2D0FEB3A3}" srcOrd="0" destOrd="0" parTransId="{27049698-E0F5-4D9D-BDFB-BBB5096813DC}" sibTransId="{380A0A62-FEBA-484D-9880-1A266A9E9D1A}"/>
    <dgm:cxn modelId="{4BF64191-19FB-467A-894A-2DB2B1B83576}" srcId="{B1EDB69D-6B51-4CBD-9563-3C20645762D3}" destId="{6AA50A07-C586-4060-A131-B3DEB4E07E7B}" srcOrd="0" destOrd="0" parTransId="{D11F9773-FD5B-4BA0-A4DA-FEDFE1C14451}" sibTransId="{58594966-5660-4B80-B748-CEBAE521E96E}"/>
    <dgm:cxn modelId="{2C3238BC-1751-48B3-83D6-4F5852CE9A44}" type="presOf" srcId="{174163E2-6E92-4312-AB3D-77E2D0FEB3A3}" destId="{123559F5-195F-4684-9958-FB31DE11D0D1}" srcOrd="0" destOrd="0" presId="urn:microsoft.com/office/officeart/2008/layout/RadialCluster"/>
    <dgm:cxn modelId="{EFCCABBE-0987-4EC4-BD39-122BC8ED1B64}" srcId="{6AA50A07-C586-4060-A131-B3DEB4E07E7B}" destId="{69B0BD14-EC67-4F31-A7F6-9B8B93A2FE13}" srcOrd="2" destOrd="0" parTransId="{96064AE5-CB51-424C-87F2-E70662749610}" sibTransId="{06939023-0886-40AF-8E70-F03DBD0D8A92}"/>
    <dgm:cxn modelId="{E3D547CA-1F13-4654-BFCF-7922E7AB49B8}" type="presOf" srcId="{1522F2EB-F611-4EE7-9131-A5A9DE99B7AC}" destId="{8FD0BBE7-5153-4395-8C28-D5BC00AF4015}" srcOrd="0" destOrd="0" presId="urn:microsoft.com/office/officeart/2008/layout/RadialCluster"/>
    <dgm:cxn modelId="{C0DB07CC-6922-42B2-9F0C-6AAC86D238F6}" srcId="{6AA50A07-C586-4060-A131-B3DEB4E07E7B}" destId="{612ABFF3-2D97-4426-BCF1-CB1657ABA0D8}" srcOrd="3" destOrd="0" parTransId="{6D01A1E3-BE9B-4319-B7B2-9274FDEE109B}" sibTransId="{32672F13-E719-44D8-B920-37B8EBBD6EF9}"/>
    <dgm:cxn modelId="{2D5A24E5-363F-4CC5-A01F-FDA24B228209}" type="presOf" srcId="{96064AE5-CB51-424C-87F2-E70662749610}" destId="{775DE1A7-5158-406E-B3C4-E4D011BF6CD6}" srcOrd="0" destOrd="0" presId="urn:microsoft.com/office/officeart/2008/layout/RadialCluster"/>
    <dgm:cxn modelId="{B56B9FF0-8FDE-42CA-A518-1E19FFA30A02}" type="presOf" srcId="{69B0BD14-EC67-4F31-A7F6-9B8B93A2FE13}" destId="{C41BEF1A-97F4-4F7A-A7EC-709373FD4037}" srcOrd="0" destOrd="0" presId="urn:microsoft.com/office/officeart/2008/layout/RadialCluster"/>
    <dgm:cxn modelId="{32E0D6FC-2EAF-41E8-958B-61C612EDED90}" srcId="{6AA50A07-C586-4060-A131-B3DEB4E07E7B}" destId="{1522F2EB-F611-4EE7-9131-A5A9DE99B7AC}" srcOrd="1" destOrd="0" parTransId="{BF5C9160-EB3B-4EB6-A0E1-D363B221C9D3}" sibTransId="{67332965-F8B9-4E3D-A7D6-BD273BD69533}"/>
    <dgm:cxn modelId="{AC1411F4-B3FA-43CC-87CA-ECC13AE58CF1}" type="presParOf" srcId="{93BA8B1A-5C45-47DA-94B2-8E8BF1AECB01}" destId="{3C938FA2-31B8-424C-AF60-A93ABB2F02B7}" srcOrd="0" destOrd="0" presId="urn:microsoft.com/office/officeart/2008/layout/RadialCluster"/>
    <dgm:cxn modelId="{8E7ECFCA-908F-476D-B7A9-75C1B51CB7C3}" type="presParOf" srcId="{3C938FA2-31B8-424C-AF60-A93ABB2F02B7}" destId="{55454F0B-3D42-4C58-8652-0D63C97E1066}" srcOrd="0" destOrd="0" presId="urn:microsoft.com/office/officeart/2008/layout/RadialCluster"/>
    <dgm:cxn modelId="{E2C5022B-AFD4-429A-ADAA-1B0FE26CFFBF}" type="presParOf" srcId="{3C938FA2-31B8-424C-AF60-A93ABB2F02B7}" destId="{A51DF323-739A-410C-B025-6223FFBEBD42}" srcOrd="1" destOrd="0" presId="urn:microsoft.com/office/officeart/2008/layout/RadialCluster"/>
    <dgm:cxn modelId="{7EED66BD-6210-4DD8-832F-A349F4B52C1A}" type="presParOf" srcId="{3C938FA2-31B8-424C-AF60-A93ABB2F02B7}" destId="{123559F5-195F-4684-9958-FB31DE11D0D1}" srcOrd="2" destOrd="0" presId="urn:microsoft.com/office/officeart/2008/layout/RadialCluster"/>
    <dgm:cxn modelId="{7AB03AEC-54AA-4801-8313-8AFFDB0CC981}" type="presParOf" srcId="{3C938FA2-31B8-424C-AF60-A93ABB2F02B7}" destId="{73CBA39D-49E6-478E-80EC-F47E06A852F0}" srcOrd="3" destOrd="0" presId="urn:microsoft.com/office/officeart/2008/layout/RadialCluster"/>
    <dgm:cxn modelId="{23BBF3D9-EF96-44CC-B9EE-571C01A2041B}" type="presParOf" srcId="{3C938FA2-31B8-424C-AF60-A93ABB2F02B7}" destId="{8FD0BBE7-5153-4395-8C28-D5BC00AF4015}" srcOrd="4" destOrd="0" presId="urn:microsoft.com/office/officeart/2008/layout/RadialCluster"/>
    <dgm:cxn modelId="{CB19F8B2-2947-42A0-B4CB-B44F0506D2DE}" type="presParOf" srcId="{3C938FA2-31B8-424C-AF60-A93ABB2F02B7}" destId="{775DE1A7-5158-406E-B3C4-E4D011BF6CD6}" srcOrd="5" destOrd="0" presId="urn:microsoft.com/office/officeart/2008/layout/RadialCluster"/>
    <dgm:cxn modelId="{D709D8A7-D2D2-4B67-99AE-44981D5673E4}" type="presParOf" srcId="{3C938FA2-31B8-424C-AF60-A93ABB2F02B7}" destId="{C41BEF1A-97F4-4F7A-A7EC-709373FD4037}" srcOrd="6" destOrd="0" presId="urn:microsoft.com/office/officeart/2008/layout/RadialCluster"/>
    <dgm:cxn modelId="{7484BD5C-A8AD-406D-9BE2-5CF565BCEC3A}" type="presParOf" srcId="{3C938FA2-31B8-424C-AF60-A93ABB2F02B7}" destId="{DE9F6947-1D7A-4EC2-A20F-A5FFC0A46782}" srcOrd="7" destOrd="0" presId="urn:microsoft.com/office/officeart/2008/layout/RadialCluster"/>
    <dgm:cxn modelId="{284807A7-9E62-4B52-A085-F22A456D16F8}" type="presParOf" srcId="{3C938FA2-31B8-424C-AF60-A93ABB2F02B7}" destId="{0839ABBA-721D-4C81-87CD-3EAF9F04F401}"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54F0B-3D42-4C58-8652-0D63C97E1066}">
      <dsp:nvSpPr>
        <dsp:cNvPr id="0" name=""/>
        <dsp:cNvSpPr/>
      </dsp:nvSpPr>
      <dsp:spPr>
        <a:xfrm>
          <a:off x="4349055" y="1200651"/>
          <a:ext cx="2979267" cy="71763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ar-EG" sz="2800" kern="1200" dirty="0">
              <a:cs typeface="+mj-cs"/>
            </a:rPr>
            <a:t>200 طن زيت خام /يوم</a:t>
          </a:r>
          <a:endParaRPr lang="en-US" sz="2800" kern="1200" dirty="0">
            <a:cs typeface="+mj-cs"/>
          </a:endParaRPr>
        </a:p>
      </dsp:txBody>
      <dsp:txXfrm>
        <a:off x="4384087" y="1235683"/>
        <a:ext cx="2909203" cy="647570"/>
      </dsp:txXfrm>
    </dsp:sp>
    <dsp:sp modelId="{A51DF323-739A-410C-B025-6223FFBEBD42}">
      <dsp:nvSpPr>
        <dsp:cNvPr id="0" name=""/>
        <dsp:cNvSpPr/>
      </dsp:nvSpPr>
      <dsp:spPr>
        <a:xfrm rot="16058999">
          <a:off x="5642631" y="1026608"/>
          <a:ext cx="348380" cy="0"/>
        </a:xfrm>
        <a:custGeom>
          <a:avLst/>
          <a:gdLst/>
          <a:ahLst/>
          <a:cxnLst/>
          <a:rect l="0" t="0" r="0" b="0"/>
          <a:pathLst>
            <a:path>
              <a:moveTo>
                <a:pt x="0" y="0"/>
              </a:moveTo>
              <a:lnTo>
                <a:pt x="34838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3559F5-195F-4684-9958-FB31DE11D0D1}">
      <dsp:nvSpPr>
        <dsp:cNvPr id="0" name=""/>
        <dsp:cNvSpPr/>
      </dsp:nvSpPr>
      <dsp:spPr>
        <a:xfrm>
          <a:off x="4879071" y="-28277"/>
          <a:ext cx="1825066" cy="88084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ar-EG" sz="2000" kern="1200" dirty="0">
              <a:cs typeface="+mj-cs"/>
            </a:rPr>
            <a:t>زيت مكرر 195-198 طن </a:t>
          </a:r>
          <a:endParaRPr lang="en-US" sz="2000" kern="1200" dirty="0">
            <a:cs typeface="+mj-cs"/>
          </a:endParaRPr>
        </a:p>
      </dsp:txBody>
      <dsp:txXfrm>
        <a:off x="4922070" y="14722"/>
        <a:ext cx="1739068" cy="794843"/>
      </dsp:txXfrm>
    </dsp:sp>
    <dsp:sp modelId="{73CBA39D-49E6-478E-80EC-F47E06A852F0}">
      <dsp:nvSpPr>
        <dsp:cNvPr id="0" name=""/>
        <dsp:cNvSpPr/>
      </dsp:nvSpPr>
      <dsp:spPr>
        <a:xfrm rot="1274308">
          <a:off x="6735238" y="2060681"/>
          <a:ext cx="786165" cy="0"/>
        </a:xfrm>
        <a:custGeom>
          <a:avLst/>
          <a:gdLst/>
          <a:ahLst/>
          <a:cxnLst/>
          <a:rect l="0" t="0" r="0" b="0"/>
          <a:pathLst>
            <a:path>
              <a:moveTo>
                <a:pt x="0" y="0"/>
              </a:moveTo>
              <a:lnTo>
                <a:pt x="786165"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D0BBE7-5153-4395-8C28-D5BC00AF4015}">
      <dsp:nvSpPr>
        <dsp:cNvPr id="0" name=""/>
        <dsp:cNvSpPr/>
      </dsp:nvSpPr>
      <dsp:spPr>
        <a:xfrm>
          <a:off x="7494706" y="2179561"/>
          <a:ext cx="3710428" cy="14890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ar-EG" sz="2000" kern="1200" dirty="0">
              <a:cs typeface="+mj-cs"/>
            </a:rPr>
            <a:t>فسفولبيدات مائية (جمز) يتم اضافتها على كسب الصويا كمصدر للطاقة </a:t>
          </a:r>
        </a:p>
        <a:p>
          <a:pPr marL="0" lvl="0" indent="0" algn="ctr" defTabSz="889000">
            <a:lnSpc>
              <a:spcPct val="90000"/>
            </a:lnSpc>
            <a:spcBef>
              <a:spcPct val="0"/>
            </a:spcBef>
            <a:spcAft>
              <a:spcPct val="35000"/>
            </a:spcAft>
            <a:buFont typeface="Arial" panose="020B0604020202020204" pitchFamily="34" charset="0"/>
            <a:buNone/>
          </a:pPr>
          <a:r>
            <a:rPr lang="ar-EG" sz="2000" kern="1200" dirty="0">
              <a:cs typeface="+mj-cs"/>
            </a:rPr>
            <a:t>فسفوليبدات لا مائية يتم خروجها مع الصابون</a:t>
          </a:r>
          <a:endParaRPr lang="en-US" sz="2000" kern="1200" dirty="0">
            <a:cs typeface="+mj-cs"/>
          </a:endParaRPr>
        </a:p>
      </dsp:txBody>
      <dsp:txXfrm>
        <a:off x="7567397" y="2252252"/>
        <a:ext cx="3565046" cy="1343692"/>
      </dsp:txXfrm>
    </dsp:sp>
    <dsp:sp modelId="{775DE1A7-5158-406E-B3C4-E4D011BF6CD6}">
      <dsp:nvSpPr>
        <dsp:cNvPr id="0" name=""/>
        <dsp:cNvSpPr/>
      </dsp:nvSpPr>
      <dsp:spPr>
        <a:xfrm rot="5422893">
          <a:off x="5385539" y="2366055"/>
          <a:ext cx="895557" cy="0"/>
        </a:xfrm>
        <a:custGeom>
          <a:avLst/>
          <a:gdLst/>
          <a:ahLst/>
          <a:cxnLst/>
          <a:rect l="0" t="0" r="0" b="0"/>
          <a:pathLst>
            <a:path>
              <a:moveTo>
                <a:pt x="0" y="0"/>
              </a:moveTo>
              <a:lnTo>
                <a:pt x="895557"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41BEF1A-97F4-4F7A-A7EC-709373FD4037}">
      <dsp:nvSpPr>
        <dsp:cNvPr id="0" name=""/>
        <dsp:cNvSpPr/>
      </dsp:nvSpPr>
      <dsp:spPr>
        <a:xfrm>
          <a:off x="4938301" y="2813824"/>
          <a:ext cx="1778966" cy="7664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ar-SA" sz="2000" kern="1200" dirty="0">
              <a:cs typeface="+mj-cs"/>
            </a:rPr>
            <a:t>الصابون</a:t>
          </a:r>
          <a:r>
            <a:rPr lang="ar-EG" sz="2000" kern="1200" dirty="0">
              <a:cs typeface="+mj-cs"/>
            </a:rPr>
            <a:t> يستخدم في صناعة الصابون </a:t>
          </a:r>
          <a:endParaRPr lang="en-US" sz="2000" kern="1200" dirty="0">
            <a:cs typeface="+mj-cs"/>
          </a:endParaRPr>
        </a:p>
      </dsp:txBody>
      <dsp:txXfrm>
        <a:off x="4975715" y="2851238"/>
        <a:ext cx="1704138" cy="691594"/>
      </dsp:txXfrm>
    </dsp:sp>
    <dsp:sp modelId="{DE9F6947-1D7A-4EC2-A20F-A5FFC0A46782}">
      <dsp:nvSpPr>
        <dsp:cNvPr id="0" name=""/>
        <dsp:cNvSpPr/>
      </dsp:nvSpPr>
      <dsp:spPr>
        <a:xfrm rot="9731688">
          <a:off x="3308960" y="2139542"/>
          <a:ext cx="1447150" cy="0"/>
        </a:xfrm>
        <a:custGeom>
          <a:avLst/>
          <a:gdLst/>
          <a:ahLst/>
          <a:cxnLst/>
          <a:rect l="0" t="0" r="0" b="0"/>
          <a:pathLst>
            <a:path>
              <a:moveTo>
                <a:pt x="0" y="0"/>
              </a:moveTo>
              <a:lnTo>
                <a:pt x="1447150"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39ABBA-721D-4C81-87CD-3EAF9F04F401}">
      <dsp:nvSpPr>
        <dsp:cNvPr id="0" name=""/>
        <dsp:cNvSpPr/>
      </dsp:nvSpPr>
      <dsp:spPr>
        <a:xfrm>
          <a:off x="413829" y="2284341"/>
          <a:ext cx="2929788" cy="109386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ar-EG" sz="2000" kern="1200" dirty="0">
              <a:cs typeface="+mj-cs"/>
            </a:rPr>
            <a:t>احماض دهنية تستخدم في صناعة الوقود الحيوي و مستحضرات التجميل </a:t>
          </a:r>
          <a:endParaRPr lang="en-US" sz="2000" kern="1200" dirty="0">
            <a:cs typeface="+mj-cs"/>
          </a:endParaRPr>
        </a:p>
      </dsp:txBody>
      <dsp:txXfrm>
        <a:off x="467227" y="2337739"/>
        <a:ext cx="2822992" cy="987065"/>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9T18:41:40.317"/>
    </inkml:context>
    <inkml:brush xml:id="br0">
      <inkml:brushProperty name="width" value="0.1" units="cm"/>
      <inkml:brushProperty name="height" value="0.1" units="cm"/>
      <inkml:brushProperty name="color" value="#008C3A"/>
    </inkml:brush>
  </inkml:definitions>
  <inkml:trace contextRef="#ctx0" brushRef="#br0">1 0 6553,'0'0'0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4337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38500"/>
            <a:ext cx="12191695" cy="6858000"/>
          </a:xfrm>
          <a:prstGeom prst="rect">
            <a:avLst/>
          </a:prstGeom>
          <a:solidFill>
            <a:srgbClr val="16324F"/>
          </a:solidFill>
          <a:ln/>
        </p:spPr>
        <p:txBody>
          <a:bodyPr/>
          <a:lstStyle/>
          <a:p>
            <a:endParaRPr lang="en-US"/>
          </a:p>
        </p:txBody>
      </p:sp>
      <p:sp>
        <p:nvSpPr>
          <p:cNvPr id="3" name="Shape 1"/>
          <p:cNvSpPr/>
          <p:nvPr/>
        </p:nvSpPr>
        <p:spPr>
          <a:xfrm>
            <a:off x="0" y="0"/>
            <a:ext cx="256032" cy="6858000"/>
          </a:xfrm>
          <a:prstGeom prst="rect">
            <a:avLst/>
          </a:prstGeom>
          <a:solidFill>
            <a:srgbClr val="C47A1A"/>
          </a:solidFill>
          <a:ln/>
        </p:spPr>
        <p:txBody>
          <a:bodyPr/>
          <a:lstStyle/>
          <a:p>
            <a:endParaRPr lang="en-US"/>
          </a:p>
        </p:txBody>
      </p:sp>
      <p:sp>
        <p:nvSpPr>
          <p:cNvPr id="5" name="Text 3"/>
          <p:cNvSpPr/>
          <p:nvPr/>
        </p:nvSpPr>
        <p:spPr>
          <a:xfrm>
            <a:off x="3532471" y="469233"/>
            <a:ext cx="5762982" cy="1321066"/>
          </a:xfrm>
          <a:prstGeom prst="rect">
            <a:avLst/>
          </a:prstGeom>
          <a:noFill/>
          <a:ln/>
        </p:spPr>
        <p:txBody>
          <a:bodyPr wrap="square" rtlCol="0" anchor="ctr"/>
          <a:lstStyle/>
          <a:p>
            <a:pPr marL="0" indent="0" algn="r" rtl="1">
              <a:buNone/>
            </a:pPr>
            <a:r>
              <a:rPr lang="ar-EG" sz="4200" b="1" dirty="0">
                <a:solidFill>
                  <a:srgbClr val="FFFFFF"/>
                </a:solidFill>
                <a:latin typeface="Segoe UI" pitchFamily="34" charset="0"/>
                <a:ea typeface="Segoe UI" pitchFamily="34" charset="-122"/>
                <a:cs typeface="Segoe UI" pitchFamily="34" charset="-120"/>
              </a:rPr>
              <a:t>مصنع </a:t>
            </a:r>
            <a:r>
              <a:rPr lang="en-US" sz="4200" b="1" dirty="0">
                <a:solidFill>
                  <a:srgbClr val="FFFFFF"/>
                </a:solidFill>
                <a:latin typeface="Segoe UI" pitchFamily="34" charset="0"/>
                <a:ea typeface="Segoe UI" pitchFamily="34" charset="-122"/>
                <a:cs typeface="Segoe UI" pitchFamily="34" charset="-120"/>
              </a:rPr>
              <a:t>تكرير زيت الصويا</a:t>
            </a:r>
            <a:endParaRPr lang="en-US" sz="4200" dirty="0"/>
          </a:p>
        </p:txBody>
      </p:sp>
      <p:sp>
        <p:nvSpPr>
          <p:cNvPr id="7" name="Text 5"/>
          <p:cNvSpPr/>
          <p:nvPr/>
        </p:nvSpPr>
        <p:spPr>
          <a:xfrm>
            <a:off x="3840480" y="5351648"/>
            <a:ext cx="4754880" cy="779645"/>
          </a:xfrm>
          <a:prstGeom prst="rect">
            <a:avLst/>
          </a:prstGeom>
          <a:noFill/>
          <a:ln/>
        </p:spPr>
        <p:txBody>
          <a:bodyPr wrap="square" rtlCol="0" anchor="ctr"/>
          <a:lstStyle/>
          <a:p>
            <a:pPr marL="0" indent="0" algn="r" rtl="1">
              <a:buNone/>
            </a:pPr>
            <a:r>
              <a:rPr lang="en-US" sz="3200" b="1" dirty="0">
                <a:solidFill>
                  <a:srgbClr val="FFDFA0"/>
                </a:solidFill>
                <a:latin typeface="Segoe UI" pitchFamily="34" charset="0"/>
                <a:ea typeface="Segoe UI" pitchFamily="34" charset="-122"/>
                <a:cs typeface="Segoe UI" pitchFamily="34" charset="-120"/>
              </a:rPr>
              <a:t>إعداد: </a:t>
            </a:r>
            <a:r>
              <a:rPr lang="ar-EG" sz="3200" b="1" dirty="0">
                <a:solidFill>
                  <a:srgbClr val="FFDFA0"/>
                </a:solidFill>
                <a:latin typeface="Segoe UI" pitchFamily="34" charset="0"/>
                <a:ea typeface="Segoe UI" pitchFamily="34" charset="-122"/>
                <a:cs typeface="Segoe UI" pitchFamily="34" charset="-120"/>
              </a:rPr>
              <a:t> </a:t>
            </a:r>
            <a:r>
              <a:rPr lang="en-US" sz="3200" b="1" dirty="0">
                <a:solidFill>
                  <a:srgbClr val="FFDFA0"/>
                </a:solidFill>
                <a:latin typeface="Segoe UI" pitchFamily="34" charset="0"/>
                <a:ea typeface="Segoe UI" pitchFamily="34" charset="-122"/>
                <a:cs typeface="Segoe UI" pitchFamily="34" charset="-120"/>
              </a:rPr>
              <a:t>أحمد </a:t>
            </a:r>
            <a:r>
              <a:rPr lang="en-US" sz="3200" b="1" dirty="0" err="1">
                <a:solidFill>
                  <a:srgbClr val="FFDFA0"/>
                </a:solidFill>
                <a:latin typeface="Segoe UI" pitchFamily="34" charset="0"/>
                <a:ea typeface="Segoe UI" pitchFamily="34" charset="-122"/>
                <a:cs typeface="Segoe UI" pitchFamily="34" charset="-120"/>
              </a:rPr>
              <a:t>سلاو</a:t>
            </a:r>
            <a:r>
              <a:rPr lang="ar-EG" sz="3200" b="1" dirty="0">
                <a:solidFill>
                  <a:srgbClr val="FFDFA0"/>
                </a:solidFill>
                <a:latin typeface="Segoe UI" pitchFamily="34" charset="0"/>
                <a:ea typeface="Segoe UI" pitchFamily="34" charset="-122"/>
                <a:cs typeface="Segoe UI" pitchFamily="34" charset="-120"/>
              </a:rPr>
              <a:t>ي محمد </a:t>
            </a:r>
            <a:endParaRPr lang="en-US" sz="32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err="1">
                <a:solidFill>
                  <a:srgbClr val="16324F"/>
                </a:solidFill>
                <a:latin typeface="Segoe UI" pitchFamily="34" charset="0"/>
                <a:ea typeface="Segoe UI" pitchFamily="34" charset="-122"/>
                <a:cs typeface="Segoe UI" pitchFamily="34" charset="-120"/>
              </a:rPr>
              <a:t>القدرة</a:t>
            </a:r>
            <a:r>
              <a:rPr lang="en-US" sz="2400" b="1" dirty="0">
                <a:solidFill>
                  <a:srgbClr val="16324F"/>
                </a:solidFill>
                <a:latin typeface="Segoe UI" pitchFamily="34" charset="0"/>
                <a:ea typeface="Segoe UI" pitchFamily="34" charset="-122"/>
                <a:cs typeface="Segoe UI" pitchFamily="34" charset="-120"/>
              </a:rPr>
              <a:t> </a:t>
            </a:r>
            <a:r>
              <a:rPr lang="en-US" sz="2400" b="1" dirty="0" err="1">
                <a:solidFill>
                  <a:srgbClr val="16324F"/>
                </a:solidFill>
                <a:latin typeface="Segoe UI" pitchFamily="34" charset="0"/>
                <a:ea typeface="Segoe UI" pitchFamily="34" charset="-122"/>
                <a:cs typeface="Segoe UI" pitchFamily="34" charset="-120"/>
              </a:rPr>
              <a:t>الإنتاجية</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13" name="Text 11"/>
          <p:cNvSpPr/>
          <p:nvPr/>
        </p:nvSpPr>
        <p:spPr>
          <a:xfrm>
            <a:off x="6144768" y="1188720"/>
            <a:ext cx="1516941" cy="731520"/>
          </a:xfrm>
          <a:prstGeom prst="rect">
            <a:avLst/>
          </a:prstGeom>
          <a:noFill/>
          <a:ln/>
        </p:spPr>
        <p:txBody>
          <a:bodyPr wrap="square" rtlCol="0" anchor="ctr"/>
          <a:lstStyle/>
          <a:p>
            <a:pPr marL="0" indent="0" algn="ctr">
              <a:buNone/>
            </a:pPr>
            <a:endParaRPr lang="en-US" sz="3200" dirty="0"/>
          </a:p>
        </p:txBody>
      </p:sp>
      <p:sp>
        <p:nvSpPr>
          <p:cNvPr id="24" name="Shape 22"/>
          <p:cNvSpPr/>
          <p:nvPr/>
        </p:nvSpPr>
        <p:spPr>
          <a:xfrm>
            <a:off x="0" y="6528816"/>
            <a:ext cx="12191695" cy="329184"/>
          </a:xfrm>
          <a:prstGeom prst="rect">
            <a:avLst/>
          </a:prstGeom>
          <a:solidFill>
            <a:srgbClr val="F3EFE4"/>
          </a:solidFill>
          <a:ln/>
        </p:spPr>
        <p:txBody>
          <a:bodyPr/>
          <a:lstStyle/>
          <a:p>
            <a:endParaRPr lang="en-US"/>
          </a:p>
        </p:txBody>
      </p:sp>
      <p:sp>
        <p:nvSpPr>
          <p:cNvPr id="25" name="Text 23"/>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26" name="Text 24"/>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2 / 12</a:t>
            </a:r>
            <a:endParaRPr lang="en-US" sz="1000" dirty="0"/>
          </a:p>
        </p:txBody>
      </p:sp>
      <p:graphicFrame>
        <p:nvGraphicFramePr>
          <p:cNvPr id="27" name="Diagram 26">
            <a:extLst>
              <a:ext uri="{FF2B5EF4-FFF2-40B4-BE49-F238E27FC236}">
                <a16:creationId xmlns:a16="http://schemas.microsoft.com/office/drawing/2014/main" id="{78D0B8AF-42F9-3A7D-C438-6975925F9049}"/>
              </a:ext>
            </a:extLst>
          </p:cNvPr>
          <p:cNvGraphicFramePr/>
          <p:nvPr>
            <p:extLst>
              <p:ext uri="{D42A27DB-BD31-4B8C-83A1-F6EECF244321}">
                <p14:modId xmlns:p14="http://schemas.microsoft.com/office/powerpoint/2010/main" val="949854945"/>
              </p:ext>
            </p:extLst>
          </p:nvPr>
        </p:nvGraphicFramePr>
        <p:xfrm>
          <a:off x="384048" y="2472249"/>
          <a:ext cx="11423598" cy="38130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A6A9280C-ED39-2673-4083-B0D9F1E3D2A1}"/>
              </a:ext>
            </a:extLst>
          </p:cNvPr>
          <p:cNvSpPr txBox="1"/>
          <p:nvPr/>
        </p:nvSpPr>
        <p:spPr>
          <a:xfrm>
            <a:off x="384048" y="1188720"/>
            <a:ext cx="11423599" cy="830997"/>
          </a:xfrm>
          <a:prstGeom prst="rect">
            <a:avLst/>
          </a:prstGeom>
          <a:noFill/>
        </p:spPr>
        <p:txBody>
          <a:bodyPr wrap="square" rtlCol="0">
            <a:spAutoFit/>
          </a:bodyPr>
          <a:lstStyle/>
          <a:p>
            <a:pPr algn="r" rtl="1"/>
            <a:r>
              <a:rPr lang="ar-EG" sz="2400" b="1" dirty="0">
                <a:solidFill>
                  <a:schemeClr val="accent1">
                    <a:lumMod val="75000"/>
                  </a:schemeClr>
                </a:solidFill>
              </a:rPr>
              <a:t>مصنع تكرير زيت الصويا يتم فيه استقبال الزيت الخام الناتج من وحدة الاستخلاص وتحويله الى زيت مكرر نقي يصلح للتعبئة والاستخدام الادمي وذلك بعد إزالة الشوائب والمواد الغير مرغوب فيها وتحسين اللون والرائحة</a:t>
            </a:r>
            <a:endParaRPr lang="en-US" sz="2400" b="1" dirty="0">
              <a:solidFill>
                <a:schemeClr val="accent1">
                  <a:lumMod val="75000"/>
                </a:schemeClr>
              </a:solidFill>
            </a:endParaRPr>
          </a:p>
        </p:txBody>
      </p:sp>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B6F8E9FE-2232-2EA5-E91B-6FB556610C1C}"/>
                  </a:ext>
                </a:extLst>
              </p14:cNvPr>
              <p14:cNvContentPartPr/>
              <p14:nvPr/>
            </p14:nvContentPartPr>
            <p14:xfrm>
              <a:off x="404053" y="2117482"/>
              <a:ext cx="360" cy="360"/>
            </p14:xfrm>
          </p:contentPart>
        </mc:Choice>
        <mc:Fallback>
          <p:pic>
            <p:nvPicPr>
              <p:cNvPr id="6" name="Ink 5">
                <a:extLst>
                  <a:ext uri="{FF2B5EF4-FFF2-40B4-BE49-F238E27FC236}">
                    <a16:creationId xmlns:a16="http://schemas.microsoft.com/office/drawing/2014/main" id="{B6F8E9FE-2232-2EA5-E91B-6FB556610C1C}"/>
                  </a:ext>
                </a:extLst>
              </p:cNvPr>
              <p:cNvPicPr/>
              <p:nvPr/>
            </p:nvPicPr>
            <p:blipFill>
              <a:blip r:embed="rId9"/>
              <a:stretch>
                <a:fillRect/>
              </a:stretch>
            </p:blipFill>
            <p:spPr>
              <a:xfrm>
                <a:off x="386413" y="2099482"/>
                <a:ext cx="36000" cy="360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dirty="0"/>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لماذا لا يُستخدم زيت الصويا خاماً؟</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Text 4"/>
          <p:cNvSpPr/>
          <p:nvPr/>
        </p:nvSpPr>
        <p:spPr>
          <a:xfrm>
            <a:off x="384048" y="1585282"/>
            <a:ext cx="11423599" cy="365760"/>
          </a:xfrm>
          <a:prstGeom prst="rect">
            <a:avLst/>
          </a:prstGeom>
          <a:noFill/>
          <a:ln/>
        </p:spPr>
        <p:txBody>
          <a:bodyPr wrap="square" rtlCol="0" anchor="ctr"/>
          <a:lstStyle/>
          <a:p>
            <a:pPr marL="0" indent="0" algn="r" rtl="1">
              <a:buNone/>
            </a:pPr>
            <a:r>
              <a:rPr lang="en-US" dirty="0">
                <a:solidFill>
                  <a:srgbClr val="4D5C54"/>
                </a:solidFill>
                <a:latin typeface="Segoe UI" pitchFamily="34" charset="0"/>
                <a:ea typeface="Segoe UI" pitchFamily="34" charset="-122"/>
                <a:cs typeface="Segoe UI" pitchFamily="34" charset="-120"/>
              </a:rPr>
              <a:t>الزيت الخام بعد الاستخلاص يحتوي شوائب تجعل استخدامه مباشرة غير مناسب غذائياً ولا تجارياً.</a:t>
            </a:r>
            <a:endParaRPr lang="en-US" dirty="0"/>
          </a:p>
        </p:txBody>
      </p:sp>
      <p:sp>
        <p:nvSpPr>
          <p:cNvPr id="7" name="Shape 5"/>
          <p:cNvSpPr/>
          <p:nvPr/>
        </p:nvSpPr>
        <p:spPr>
          <a:xfrm>
            <a:off x="384048" y="2868329"/>
            <a:ext cx="3657600" cy="2377440"/>
          </a:xfrm>
          <a:prstGeom prst="roundRect">
            <a:avLst>
              <a:gd name="adj" fmla="val 3077"/>
            </a:avLst>
          </a:prstGeom>
          <a:solidFill>
            <a:srgbClr val="FFFFFF"/>
          </a:solidFill>
          <a:ln w="12700">
            <a:solidFill>
              <a:srgbClr val="D5DDD7"/>
            </a:solidFill>
            <a:prstDash val="solid"/>
          </a:ln>
        </p:spPr>
        <p:txBody>
          <a:bodyPr/>
          <a:lstStyle/>
          <a:p>
            <a:endParaRPr lang="en-US"/>
          </a:p>
        </p:txBody>
      </p:sp>
      <p:sp>
        <p:nvSpPr>
          <p:cNvPr id="8" name="Text 6"/>
          <p:cNvSpPr/>
          <p:nvPr/>
        </p:nvSpPr>
        <p:spPr>
          <a:xfrm>
            <a:off x="566928" y="3051209"/>
            <a:ext cx="3291840" cy="502920"/>
          </a:xfrm>
          <a:prstGeom prst="rect">
            <a:avLst/>
          </a:prstGeom>
          <a:noFill/>
          <a:ln/>
        </p:spPr>
        <p:txBody>
          <a:bodyPr wrap="square" rtlCol="0" anchor="ctr"/>
          <a:lstStyle/>
          <a:p>
            <a:pPr marL="0" indent="0" algn="r" rtl="1">
              <a:buNone/>
            </a:pPr>
            <a:r>
              <a:rPr lang="en-US" sz="1500" b="1" dirty="0">
                <a:solidFill>
                  <a:srgbClr val="1F5C45"/>
                </a:solidFill>
                <a:latin typeface="Segoe UI" pitchFamily="34" charset="0"/>
                <a:ea typeface="Segoe UI" pitchFamily="34" charset="-122"/>
                <a:cs typeface="Segoe UI" pitchFamily="34" charset="-120"/>
              </a:rPr>
              <a:t>أحماض دهنية حرة FFA</a:t>
            </a:r>
            <a:endParaRPr lang="en-US" sz="1500" dirty="0"/>
          </a:p>
        </p:txBody>
      </p:sp>
      <p:sp>
        <p:nvSpPr>
          <p:cNvPr id="9" name="Text 7"/>
          <p:cNvSpPr/>
          <p:nvPr/>
        </p:nvSpPr>
        <p:spPr>
          <a:xfrm>
            <a:off x="566928" y="3645569"/>
            <a:ext cx="3291840" cy="1371600"/>
          </a:xfrm>
          <a:prstGeom prst="rect">
            <a:avLst/>
          </a:prstGeom>
          <a:noFill/>
          <a:ln/>
        </p:spPr>
        <p:txBody>
          <a:bodyPr wrap="square" rtlCol="0" anchor="ctr"/>
          <a:lstStyle/>
          <a:p>
            <a:pPr marL="0" indent="0" algn="r" rtl="1">
              <a:buNone/>
            </a:pPr>
            <a:r>
              <a:rPr lang="en-US" sz="1600" dirty="0">
                <a:solidFill>
                  <a:srgbClr val="14201A"/>
                </a:solidFill>
                <a:latin typeface="Segoe UI" pitchFamily="34" charset="0"/>
                <a:ea typeface="Segoe UI" pitchFamily="34" charset="-122"/>
                <a:cs typeface="Segoe UI" pitchFamily="34" charset="-120"/>
              </a:rPr>
              <a:t>ترفع الحموضة والطعم غير المرغوب، وتسرّع التزنخ، وتُضعف ثبات الزيت في القلي والتخزين.</a:t>
            </a:r>
            <a:endParaRPr lang="en-US" sz="1600" dirty="0"/>
          </a:p>
        </p:txBody>
      </p:sp>
      <p:sp>
        <p:nvSpPr>
          <p:cNvPr id="10" name="Shape 8"/>
          <p:cNvSpPr/>
          <p:nvPr/>
        </p:nvSpPr>
        <p:spPr>
          <a:xfrm>
            <a:off x="4224528" y="2868329"/>
            <a:ext cx="3657600" cy="2377440"/>
          </a:xfrm>
          <a:prstGeom prst="roundRect">
            <a:avLst>
              <a:gd name="adj" fmla="val 3077"/>
            </a:avLst>
          </a:prstGeom>
          <a:solidFill>
            <a:srgbClr val="FFFFFF"/>
          </a:solidFill>
          <a:ln w="12700">
            <a:solidFill>
              <a:srgbClr val="D5DDD7"/>
            </a:solidFill>
            <a:prstDash val="solid"/>
          </a:ln>
        </p:spPr>
        <p:txBody>
          <a:bodyPr/>
          <a:lstStyle/>
          <a:p>
            <a:endParaRPr lang="en-US"/>
          </a:p>
        </p:txBody>
      </p:sp>
      <p:sp>
        <p:nvSpPr>
          <p:cNvPr id="11" name="Text 9"/>
          <p:cNvSpPr/>
          <p:nvPr/>
        </p:nvSpPr>
        <p:spPr>
          <a:xfrm>
            <a:off x="4407408" y="3051209"/>
            <a:ext cx="3291840" cy="502920"/>
          </a:xfrm>
          <a:prstGeom prst="rect">
            <a:avLst/>
          </a:prstGeom>
          <a:noFill/>
          <a:ln/>
        </p:spPr>
        <p:txBody>
          <a:bodyPr wrap="square" rtlCol="0" anchor="ctr"/>
          <a:lstStyle/>
          <a:p>
            <a:pPr marL="0" indent="0" algn="r" rtl="1">
              <a:buNone/>
            </a:pPr>
            <a:r>
              <a:rPr lang="en-US" sz="1500" b="1" dirty="0">
                <a:solidFill>
                  <a:srgbClr val="1F5C45"/>
                </a:solidFill>
                <a:latin typeface="Segoe UI" pitchFamily="34" charset="0"/>
                <a:ea typeface="Segoe UI" pitchFamily="34" charset="-122"/>
                <a:cs typeface="Segoe UI" pitchFamily="34" charset="-120"/>
              </a:rPr>
              <a:t>صموغ وفوسفوليبيدات</a:t>
            </a:r>
            <a:endParaRPr lang="en-US" sz="1500" dirty="0"/>
          </a:p>
        </p:txBody>
      </p:sp>
      <p:sp>
        <p:nvSpPr>
          <p:cNvPr id="12" name="Text 10"/>
          <p:cNvSpPr/>
          <p:nvPr/>
        </p:nvSpPr>
        <p:spPr>
          <a:xfrm>
            <a:off x="4407408" y="3645569"/>
            <a:ext cx="3291840" cy="1371600"/>
          </a:xfrm>
          <a:prstGeom prst="rect">
            <a:avLst/>
          </a:prstGeom>
          <a:noFill/>
          <a:ln/>
        </p:spPr>
        <p:txBody>
          <a:bodyPr wrap="square" rtlCol="0" anchor="ctr"/>
          <a:lstStyle/>
          <a:p>
            <a:pPr marL="0" indent="0" algn="r" rtl="1">
              <a:buNone/>
            </a:pPr>
            <a:r>
              <a:rPr lang="en-US" sz="1600" dirty="0">
                <a:solidFill>
                  <a:srgbClr val="14201A"/>
                </a:solidFill>
                <a:latin typeface="Segoe UI" pitchFamily="34" charset="0"/>
                <a:ea typeface="Segoe UI" pitchFamily="34" charset="-122"/>
                <a:cs typeface="Segoe UI" pitchFamily="34" charset="-120"/>
              </a:rPr>
              <a:t>تسبب عكارة ورغاوي </a:t>
            </a:r>
            <a:r>
              <a:rPr lang="ar-EG" sz="1600" dirty="0">
                <a:solidFill>
                  <a:srgbClr val="14201A"/>
                </a:solidFill>
                <a:latin typeface="Segoe UI" pitchFamily="34" charset="0"/>
                <a:ea typeface="Segoe UI" pitchFamily="34" charset="-122"/>
                <a:cs typeface="Segoe UI" pitchFamily="34" charset="-120"/>
              </a:rPr>
              <a:t>وتؤدي الى احتراق الزيت سريعا عند الاستخدام وتغير رائحته ولونه</a:t>
            </a:r>
            <a:r>
              <a:rPr lang="en-US" sz="1600" dirty="0">
                <a:solidFill>
                  <a:srgbClr val="14201A"/>
                </a:solidFill>
                <a:latin typeface="Segoe UI" pitchFamily="34" charset="0"/>
                <a:ea typeface="Segoe UI" pitchFamily="34" charset="-122"/>
                <a:cs typeface="Segoe UI" pitchFamily="34" charset="-120"/>
              </a:rPr>
              <a:t>.</a:t>
            </a:r>
            <a:endParaRPr lang="en-US" sz="1600" dirty="0"/>
          </a:p>
        </p:txBody>
      </p:sp>
      <p:sp>
        <p:nvSpPr>
          <p:cNvPr id="13" name="Shape 11"/>
          <p:cNvSpPr/>
          <p:nvPr/>
        </p:nvSpPr>
        <p:spPr>
          <a:xfrm>
            <a:off x="8065008" y="2868329"/>
            <a:ext cx="3657600" cy="2377440"/>
          </a:xfrm>
          <a:prstGeom prst="roundRect">
            <a:avLst>
              <a:gd name="adj" fmla="val 3077"/>
            </a:avLst>
          </a:prstGeom>
          <a:solidFill>
            <a:srgbClr val="FFFFFF"/>
          </a:solidFill>
          <a:ln w="12700">
            <a:solidFill>
              <a:srgbClr val="D5DDD7"/>
            </a:solidFill>
            <a:prstDash val="solid"/>
          </a:ln>
        </p:spPr>
        <p:txBody>
          <a:bodyPr/>
          <a:lstStyle/>
          <a:p>
            <a:endParaRPr lang="en-US"/>
          </a:p>
        </p:txBody>
      </p:sp>
      <p:sp>
        <p:nvSpPr>
          <p:cNvPr id="14" name="Text 12"/>
          <p:cNvSpPr/>
          <p:nvPr/>
        </p:nvSpPr>
        <p:spPr>
          <a:xfrm>
            <a:off x="8247888" y="3051209"/>
            <a:ext cx="3291840" cy="502920"/>
          </a:xfrm>
          <a:prstGeom prst="rect">
            <a:avLst/>
          </a:prstGeom>
          <a:noFill/>
          <a:ln/>
        </p:spPr>
        <p:txBody>
          <a:bodyPr wrap="square" rtlCol="0" anchor="ctr"/>
          <a:lstStyle/>
          <a:p>
            <a:pPr marL="0" indent="0" algn="r" rtl="1">
              <a:buNone/>
            </a:pPr>
            <a:r>
              <a:rPr lang="en-US" sz="1500" b="1" dirty="0">
                <a:solidFill>
                  <a:srgbClr val="1F5C45"/>
                </a:solidFill>
                <a:latin typeface="Segoe UI" pitchFamily="34" charset="0"/>
                <a:ea typeface="Segoe UI" pitchFamily="34" charset="-122"/>
                <a:cs typeface="Segoe UI" pitchFamily="34" charset="-120"/>
              </a:rPr>
              <a:t>أصباغ</a:t>
            </a:r>
            <a:endParaRPr lang="en-US" sz="1500" dirty="0"/>
          </a:p>
        </p:txBody>
      </p:sp>
      <p:sp>
        <p:nvSpPr>
          <p:cNvPr id="15" name="Text 13"/>
          <p:cNvSpPr/>
          <p:nvPr/>
        </p:nvSpPr>
        <p:spPr>
          <a:xfrm>
            <a:off x="8247888" y="3645569"/>
            <a:ext cx="3291840" cy="1371600"/>
          </a:xfrm>
          <a:prstGeom prst="rect">
            <a:avLst/>
          </a:prstGeom>
          <a:noFill/>
          <a:ln/>
        </p:spPr>
        <p:txBody>
          <a:bodyPr wrap="square" rtlCol="0" anchor="ctr"/>
          <a:lstStyle/>
          <a:p>
            <a:pPr marL="0" indent="0" algn="r" rtl="1">
              <a:buNone/>
            </a:pPr>
            <a:r>
              <a:rPr lang="ar-EG" sz="1600" dirty="0">
                <a:solidFill>
                  <a:srgbClr val="14201A"/>
                </a:solidFill>
                <a:latin typeface="Segoe UI" pitchFamily="34" charset="0"/>
                <a:ea typeface="Segoe UI" pitchFamily="34" charset="-122"/>
                <a:cs typeface="Segoe UI" pitchFamily="34" charset="-120"/>
              </a:rPr>
              <a:t>مثل ال</a:t>
            </a:r>
            <a:r>
              <a:rPr lang="en-US" sz="1600" dirty="0">
                <a:solidFill>
                  <a:srgbClr val="14201A"/>
                </a:solidFill>
                <a:latin typeface="Segoe UI" pitchFamily="34" charset="0"/>
                <a:ea typeface="Segoe UI" pitchFamily="34" charset="-122"/>
                <a:cs typeface="Segoe UI" pitchFamily="34" charset="-120"/>
              </a:rPr>
              <a:t>كاروتين و</a:t>
            </a:r>
            <a:r>
              <a:rPr lang="ar-EG" sz="1600" dirty="0">
                <a:solidFill>
                  <a:srgbClr val="14201A"/>
                </a:solidFill>
                <a:latin typeface="Segoe UI" pitchFamily="34" charset="0"/>
                <a:ea typeface="Segoe UI" pitchFamily="34" charset="-122"/>
                <a:cs typeface="Segoe UI" pitchFamily="34" charset="-120"/>
              </a:rPr>
              <a:t>ال</a:t>
            </a:r>
            <a:r>
              <a:rPr lang="en-US" sz="1600" dirty="0">
                <a:solidFill>
                  <a:srgbClr val="14201A"/>
                </a:solidFill>
                <a:latin typeface="Segoe UI" pitchFamily="34" charset="0"/>
                <a:ea typeface="Segoe UI" pitchFamily="34" charset="-122"/>
                <a:cs typeface="Segoe UI" pitchFamily="34" charset="-120"/>
              </a:rPr>
              <a:t>كلوروفيل تعطي لوناً داكناً</a:t>
            </a:r>
            <a:r>
              <a:rPr lang="ar-EG" sz="1600" dirty="0">
                <a:solidFill>
                  <a:srgbClr val="14201A"/>
                </a:solidFill>
                <a:latin typeface="Segoe UI" pitchFamily="34" charset="0"/>
                <a:ea typeface="Segoe UI" pitchFamily="34" charset="-122"/>
                <a:cs typeface="Segoe UI" pitchFamily="34" charset="-120"/>
              </a:rPr>
              <a:t> وتؤدي الى اكسدة الزيت اثناء التخزين</a:t>
            </a:r>
            <a:r>
              <a:rPr lang="en-US" sz="1600" dirty="0">
                <a:solidFill>
                  <a:srgbClr val="14201A"/>
                </a:solidFill>
                <a:latin typeface="Segoe UI" pitchFamily="34" charset="0"/>
                <a:ea typeface="Segoe UI" pitchFamily="34" charset="-122"/>
                <a:cs typeface="Segoe UI" pitchFamily="34" charset="-120"/>
              </a:rPr>
              <a:t>.</a:t>
            </a:r>
            <a:endParaRPr lang="en-US" sz="1600" dirty="0"/>
          </a:p>
        </p:txBody>
      </p:sp>
      <p:sp>
        <p:nvSpPr>
          <p:cNvPr id="19" name="Shape 17"/>
          <p:cNvSpPr/>
          <p:nvPr/>
        </p:nvSpPr>
        <p:spPr>
          <a:xfrm>
            <a:off x="0" y="6528816"/>
            <a:ext cx="12191695" cy="329184"/>
          </a:xfrm>
          <a:prstGeom prst="rect">
            <a:avLst/>
          </a:prstGeom>
          <a:solidFill>
            <a:srgbClr val="F3EFE4"/>
          </a:solidFill>
          <a:ln/>
        </p:spPr>
        <p:txBody>
          <a:bodyPr/>
          <a:lstStyle/>
          <a:p>
            <a:endParaRPr lang="en-US"/>
          </a:p>
        </p:txBody>
      </p:sp>
      <p:sp>
        <p:nvSpPr>
          <p:cNvPr id="20" name="Text 18"/>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21" name="Text 19"/>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ar-EG" sz="2400" b="1" dirty="0">
                <a:solidFill>
                  <a:srgbClr val="16324F"/>
                </a:solidFill>
                <a:latin typeface="Segoe UI" pitchFamily="34" charset="0"/>
                <a:ea typeface="Segoe UI" pitchFamily="34" charset="-122"/>
                <a:cs typeface="Segoe UI" pitchFamily="34" charset="-120"/>
              </a:rPr>
              <a:t>خزانات الزيت الخارجية </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2304080448"/>
              </p:ext>
            </p:extLst>
          </p:nvPr>
        </p:nvGraphicFramePr>
        <p:xfrm>
          <a:off x="55995" y="905254"/>
          <a:ext cx="5815416" cy="5504688"/>
        </p:xfrm>
        <a:graphic>
          <a:graphicData uri="http://schemas.openxmlformats.org/drawingml/2006/table">
            <a:tbl>
              <a:tblPr/>
              <a:tblGrid>
                <a:gridCol w="1774570">
                  <a:extLst>
                    <a:ext uri="{9D8B030D-6E8A-4147-A177-3AD203B41FA5}">
                      <a16:colId xmlns:a16="http://schemas.microsoft.com/office/drawing/2014/main" val="20000"/>
                    </a:ext>
                  </a:extLst>
                </a:gridCol>
                <a:gridCol w="1312827">
                  <a:extLst>
                    <a:ext uri="{9D8B030D-6E8A-4147-A177-3AD203B41FA5}">
                      <a16:colId xmlns:a16="http://schemas.microsoft.com/office/drawing/2014/main" val="20001"/>
                    </a:ext>
                  </a:extLst>
                </a:gridCol>
                <a:gridCol w="2728019">
                  <a:extLst>
                    <a:ext uri="{9D8B030D-6E8A-4147-A177-3AD203B41FA5}">
                      <a16:colId xmlns:a16="http://schemas.microsoft.com/office/drawing/2014/main" val="20002"/>
                    </a:ext>
                  </a:extLst>
                </a:gridCol>
              </a:tblGrid>
              <a:tr h="917448">
                <a:tc>
                  <a:txBody>
                    <a:bodyPr/>
                    <a:lstStyle/>
                    <a:p>
                      <a:pPr marL="0" indent="0" algn="r">
                        <a:lnSpc>
                          <a:spcPct val="150000"/>
                        </a:lnSpc>
                        <a:buNone/>
                      </a:pPr>
                      <a:r>
                        <a:rPr lang="en-US" sz="1600" b="1" dirty="0">
                          <a:solidFill>
                            <a:srgbClr val="FFFFFF"/>
                          </a:solidFill>
                          <a:latin typeface="Segoe UI" pitchFamily="34" charset="0"/>
                          <a:ea typeface="Segoe UI" pitchFamily="34" charset="-122"/>
                          <a:cs typeface="Segoe UI" pitchFamily="34" charset="-120"/>
                        </a:rPr>
                        <a:t>المجموعة</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D5DDD7"/>
                      </a:solidFill>
                      <a:prstDash val="solid"/>
                      <a:round/>
                      <a:headEnd type="none" w="med" len="med"/>
                      <a:tailEnd type="none" w="med" len="med"/>
                    </a:lnT>
                    <a:lnB w="0" cap="flat" cmpd="sng" algn="ctr">
                      <a:noFill/>
                    </a:lnB>
                    <a:solidFill>
                      <a:srgbClr val="16324F"/>
                    </a:solidFill>
                  </a:tcPr>
                </a:tc>
                <a:tc>
                  <a:txBody>
                    <a:bodyPr/>
                    <a:lstStyle/>
                    <a:p>
                      <a:pPr marL="0" indent="0" algn="r">
                        <a:lnSpc>
                          <a:spcPct val="150000"/>
                        </a:lnSpc>
                        <a:buNone/>
                      </a:pPr>
                      <a:r>
                        <a:rPr lang="en-US" sz="1600" b="1" dirty="0">
                          <a:solidFill>
                            <a:srgbClr val="FFFFFF"/>
                          </a:solidFill>
                          <a:latin typeface="Segoe UI" pitchFamily="34" charset="0"/>
                          <a:ea typeface="Segoe UI" pitchFamily="34" charset="-122"/>
                          <a:cs typeface="Segoe UI" pitchFamily="34" charset="-120"/>
                        </a:rPr>
                        <a:t>الترقيم</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D5DDD7"/>
                      </a:solidFill>
                      <a:prstDash val="solid"/>
                      <a:round/>
                      <a:headEnd type="none" w="med" len="med"/>
                      <a:tailEnd type="none" w="med" len="med"/>
                    </a:lnT>
                    <a:lnB w="0" cap="flat" cmpd="sng" algn="ctr">
                      <a:noFill/>
                    </a:lnB>
                    <a:solidFill>
                      <a:srgbClr val="16324F"/>
                    </a:solidFill>
                  </a:tcPr>
                </a:tc>
                <a:tc>
                  <a:txBody>
                    <a:bodyPr/>
                    <a:lstStyle/>
                    <a:p>
                      <a:pPr marL="0" indent="0" algn="r">
                        <a:lnSpc>
                          <a:spcPct val="150000"/>
                        </a:lnSpc>
                        <a:buNone/>
                      </a:pPr>
                      <a:r>
                        <a:rPr lang="en-US" sz="1600" b="1" dirty="0">
                          <a:solidFill>
                            <a:srgbClr val="FFFFFF"/>
                          </a:solidFill>
                          <a:latin typeface="Segoe UI" pitchFamily="34" charset="0"/>
                          <a:ea typeface="Segoe UI" pitchFamily="34" charset="-122"/>
                          <a:cs typeface="Segoe UI" pitchFamily="34" charset="-120"/>
                        </a:rPr>
                        <a:t>الوظيفة</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D5DDD7"/>
                      </a:solidFill>
                      <a:prstDash val="solid"/>
                      <a:round/>
                      <a:headEnd type="none" w="med" len="med"/>
                      <a:tailEnd type="none" w="med" len="med"/>
                    </a:lnT>
                    <a:lnB w="0" cap="flat" cmpd="sng" algn="ctr">
                      <a:noFill/>
                    </a:lnB>
                    <a:solidFill>
                      <a:srgbClr val="16324F"/>
                    </a:solidFill>
                  </a:tcPr>
                </a:tc>
                <a:extLst>
                  <a:ext uri="{0D108BD9-81ED-4DB2-BD59-A6C34878D82A}">
                    <a16:rowId xmlns:a16="http://schemas.microsoft.com/office/drawing/2014/main" val="10000"/>
                  </a:ext>
                </a:extLst>
              </a:tr>
              <a:tr h="917448">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تنكات الاستخلاص</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2001 – 2003</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استقبال زيت الاستخلاص وسحبه لتنكات التكرير</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917448">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تنكات خام</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1001 – 1002</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تغذية وحدة التكرير بالخام</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r h="917448">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تنكات مكرر</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1003 – </a:t>
                      </a:r>
                      <a:r>
                        <a:rPr lang="ar-EG" sz="1600" dirty="0">
                          <a:solidFill>
                            <a:srgbClr val="14201A"/>
                          </a:solidFill>
                          <a:latin typeface="Segoe UI" pitchFamily="34" charset="0"/>
                          <a:ea typeface="Segoe UI" pitchFamily="34" charset="-122"/>
                          <a:cs typeface="Segoe UI" pitchFamily="34" charset="-120"/>
                        </a:rPr>
                        <a:t>1005</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تخزين الزيت المكرر النهائي</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917448">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تنك وسيط خام</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102</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بداية المعادلة والغسيل</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4"/>
                  </a:ext>
                </a:extLst>
              </a:tr>
              <a:tr h="917448">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سعة التنك</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ar-EG" sz="1600" dirty="0">
                          <a:solidFill>
                            <a:srgbClr val="14201A"/>
                          </a:solidFill>
                          <a:latin typeface="Segoe UI" pitchFamily="34" charset="0"/>
                          <a:ea typeface="Segoe UI" pitchFamily="34" charset="-122"/>
                          <a:cs typeface="Segoe UI" pitchFamily="34" charset="-120"/>
                        </a:rPr>
                        <a:t>500</a:t>
                      </a:r>
                      <a:r>
                        <a:rPr lang="en-US" sz="1600" dirty="0">
                          <a:solidFill>
                            <a:srgbClr val="14201A"/>
                          </a:solidFill>
                          <a:latin typeface="Segoe UI" pitchFamily="34" charset="0"/>
                          <a:ea typeface="Segoe UI" pitchFamily="34" charset="-122"/>
                          <a:cs typeface="Segoe UI" pitchFamily="34" charset="-120"/>
                        </a:rPr>
                        <a:t> طن</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lnSpc>
                          <a:spcPct val="150000"/>
                        </a:lnSpc>
                        <a:buNone/>
                      </a:pPr>
                      <a:r>
                        <a:rPr lang="en-US" sz="1600" dirty="0">
                          <a:solidFill>
                            <a:srgbClr val="14201A"/>
                          </a:solidFill>
                          <a:latin typeface="Segoe UI" pitchFamily="34" charset="0"/>
                          <a:ea typeface="Segoe UI" pitchFamily="34" charset="-122"/>
                          <a:cs typeface="Segoe UI" pitchFamily="34" charset="-120"/>
                        </a:rPr>
                        <a:t>ضمان استمرارية التغذية</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bl>
          </a:graphicData>
        </a:graphic>
      </p:graphicFrame>
      <p:pic>
        <p:nvPicPr>
          <p:cNvPr id="8" name="Image 0" descr="D:\NewProject\docs\soybean_refinery_assets\scada_tanks_farm.png"/>
          <p:cNvPicPr>
            <a:picLocks noChangeAspect="1"/>
          </p:cNvPicPr>
          <p:nvPr/>
        </p:nvPicPr>
        <p:blipFill>
          <a:blip r:embed="rId3"/>
          <a:stretch>
            <a:fillRect/>
          </a:stretch>
        </p:blipFill>
        <p:spPr>
          <a:xfrm>
            <a:off x="6096000" y="932690"/>
            <a:ext cx="5941994" cy="5577837"/>
          </a:xfrm>
          <a:prstGeom prst="rect">
            <a:avLst/>
          </a:prstGeom>
        </p:spPr>
      </p:pic>
      <p:sp>
        <p:nvSpPr>
          <p:cNvPr id="11" name="Shape 7"/>
          <p:cNvSpPr/>
          <p:nvPr/>
        </p:nvSpPr>
        <p:spPr>
          <a:xfrm>
            <a:off x="0" y="6528816"/>
            <a:ext cx="12191695" cy="329184"/>
          </a:xfrm>
          <a:prstGeom prst="rect">
            <a:avLst/>
          </a:prstGeom>
          <a:solidFill>
            <a:srgbClr val="F3EFE4"/>
          </a:solidFill>
          <a:ln/>
        </p:spPr>
        <p:txBody>
          <a:bodyPr/>
          <a:lstStyle/>
          <a:p>
            <a:endParaRPr lang="en-US"/>
          </a:p>
        </p:txBody>
      </p:sp>
      <p:sp>
        <p:nvSpPr>
          <p:cNvPr id="12" name="Text 8"/>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3" name="Text 9"/>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dirty="0"/>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ar-EG" sz="2400" b="1" dirty="0">
                <a:solidFill>
                  <a:srgbClr val="16324F"/>
                </a:solidFill>
                <a:latin typeface="Segoe UI" pitchFamily="34" charset="0"/>
                <a:ea typeface="Segoe UI" pitchFamily="34" charset="-122"/>
                <a:cs typeface="Segoe UI" pitchFamily="34" charset="-120"/>
              </a:rPr>
              <a:t>تنكات</a:t>
            </a:r>
            <a:r>
              <a:rPr lang="en-US" sz="2400" b="1" dirty="0">
                <a:solidFill>
                  <a:srgbClr val="16324F"/>
                </a:solidFill>
                <a:latin typeface="Segoe UI" pitchFamily="34" charset="0"/>
                <a:ea typeface="Segoe UI" pitchFamily="34" charset="-122"/>
                <a:cs typeface="Segoe UI" pitchFamily="34" charset="-120"/>
              </a:rPr>
              <a:t> </a:t>
            </a:r>
            <a:r>
              <a:rPr lang="en-US" sz="2400" b="1" dirty="0" err="1">
                <a:solidFill>
                  <a:srgbClr val="16324F"/>
                </a:solidFill>
                <a:latin typeface="Segoe UI" pitchFamily="34" charset="0"/>
                <a:ea typeface="Segoe UI" pitchFamily="34" charset="-122"/>
                <a:cs typeface="Segoe UI" pitchFamily="34" charset="-120"/>
              </a:rPr>
              <a:t>التشغيل</a:t>
            </a:r>
            <a:r>
              <a:rPr lang="en-US" sz="2400" b="1" dirty="0">
                <a:solidFill>
                  <a:srgbClr val="16324F"/>
                </a:solidFill>
                <a:latin typeface="Segoe UI" pitchFamily="34" charset="0"/>
                <a:ea typeface="Segoe UI" pitchFamily="34" charset="-122"/>
                <a:cs typeface="Segoe UI" pitchFamily="34" charset="-120"/>
              </a:rPr>
              <a:t> والمنتجات الثانوية</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pic>
        <p:nvPicPr>
          <p:cNvPr id="6" name="Image 0" descr="D:\NewProject\docs\soybean_refinery_assets\scada_storage.png"/>
          <p:cNvPicPr>
            <a:picLocks noChangeAspect="1"/>
          </p:cNvPicPr>
          <p:nvPr/>
        </p:nvPicPr>
        <p:blipFill>
          <a:blip r:embed="rId3"/>
          <a:stretch>
            <a:fillRect/>
          </a:stretch>
        </p:blipFill>
        <p:spPr>
          <a:xfrm>
            <a:off x="384048" y="1051560"/>
            <a:ext cx="7068312" cy="4937760"/>
          </a:xfrm>
          <a:prstGeom prst="rect">
            <a:avLst/>
          </a:prstGeom>
        </p:spPr>
      </p:pic>
      <p:sp>
        <p:nvSpPr>
          <p:cNvPr id="7" name="Shape 4"/>
          <p:cNvSpPr/>
          <p:nvPr/>
        </p:nvSpPr>
        <p:spPr>
          <a:xfrm>
            <a:off x="7546206" y="1051560"/>
            <a:ext cx="4249554" cy="4937760"/>
          </a:xfrm>
          <a:prstGeom prst="roundRect">
            <a:avLst>
              <a:gd name="adj" fmla="val 1481"/>
            </a:avLst>
          </a:prstGeom>
          <a:solidFill>
            <a:srgbClr val="FFFFFF"/>
          </a:solidFill>
          <a:ln w="12700">
            <a:solidFill>
              <a:srgbClr val="D5DDD7"/>
            </a:solidFill>
            <a:prstDash val="solid"/>
          </a:ln>
        </p:spPr>
        <p:txBody>
          <a:bodyPr/>
          <a:lstStyle/>
          <a:p>
            <a:endParaRPr lang="en-US"/>
          </a:p>
        </p:txBody>
      </p:sp>
      <p:sp>
        <p:nvSpPr>
          <p:cNvPr id="8" name="Text 5"/>
          <p:cNvSpPr/>
          <p:nvPr/>
        </p:nvSpPr>
        <p:spPr>
          <a:xfrm>
            <a:off x="6995160" y="1234440"/>
            <a:ext cx="4572000" cy="365760"/>
          </a:xfrm>
          <a:prstGeom prst="rect">
            <a:avLst/>
          </a:prstGeom>
          <a:noFill/>
          <a:ln/>
        </p:spPr>
        <p:txBody>
          <a:bodyPr wrap="square" rtlCol="0" anchor="ctr"/>
          <a:lstStyle/>
          <a:p>
            <a:pPr marL="0" indent="0" algn="r" rtl="1">
              <a:buNone/>
            </a:pPr>
            <a:r>
              <a:rPr lang="en-US" sz="2000" b="1" dirty="0">
                <a:solidFill>
                  <a:srgbClr val="1F5C45"/>
                </a:solidFill>
                <a:latin typeface="Segoe UI" pitchFamily="34" charset="0"/>
                <a:ea typeface="Segoe UI" pitchFamily="34" charset="-122"/>
                <a:cs typeface="Segoe UI" pitchFamily="34" charset="-120"/>
              </a:rPr>
              <a:t>ما يظهر على الشاشة</a:t>
            </a:r>
            <a:endParaRPr lang="en-US" sz="2000" dirty="0"/>
          </a:p>
        </p:txBody>
      </p:sp>
      <p:sp>
        <p:nvSpPr>
          <p:cNvPr id="9" name="Text 6"/>
          <p:cNvSpPr/>
          <p:nvPr/>
        </p:nvSpPr>
        <p:spPr>
          <a:xfrm>
            <a:off x="7680960" y="1737360"/>
            <a:ext cx="3886200" cy="3840480"/>
          </a:xfrm>
          <a:prstGeom prst="rect">
            <a:avLst/>
          </a:prstGeom>
          <a:noFill/>
          <a:ln/>
        </p:spPr>
        <p:txBody>
          <a:bodyPr wrap="square" rtlCol="0" anchor="t"/>
          <a:lstStyle/>
          <a:p>
            <a:pPr algn="just" rtl="1">
              <a:lnSpc>
                <a:spcPct val="150000"/>
              </a:lnSpc>
              <a:spcAft>
                <a:spcPts val="600"/>
              </a:spcAft>
              <a:buSzPct val="100000"/>
            </a:pPr>
            <a:r>
              <a:rPr lang="ar-EG" sz="1400" dirty="0">
                <a:solidFill>
                  <a:srgbClr val="14201A"/>
                </a:solidFill>
                <a:latin typeface="Segoe UI" pitchFamily="34" charset="0"/>
                <a:ea typeface="Segoe UI" pitchFamily="34" charset="-122"/>
                <a:cs typeface="Segoe UI" pitchFamily="34" charset="-120"/>
              </a:rPr>
              <a:t> </a:t>
            </a:r>
            <a:r>
              <a:rPr lang="en-US" sz="2000" dirty="0">
                <a:solidFill>
                  <a:srgbClr val="14201A"/>
                </a:solidFill>
                <a:latin typeface="Segoe UI" pitchFamily="34" charset="0"/>
                <a:ea typeface="Segoe UI" pitchFamily="34" charset="-122"/>
              </a:rPr>
              <a:t>FK201</a:t>
            </a:r>
            <a:r>
              <a:rPr lang="ar-EG" sz="2000" dirty="0">
                <a:solidFill>
                  <a:srgbClr val="14201A"/>
                </a:solidFill>
                <a:latin typeface="Segoe UI" pitchFamily="34" charset="0"/>
                <a:ea typeface="Segoe UI" pitchFamily="34" charset="-122"/>
              </a:rPr>
              <a:t> : </a:t>
            </a:r>
            <a:r>
              <a:rPr lang="en-US" sz="2000" dirty="0">
                <a:solidFill>
                  <a:srgbClr val="14201A"/>
                </a:solidFill>
                <a:latin typeface="Segoe UI" pitchFamily="34" charset="0"/>
                <a:ea typeface="Segoe UI" pitchFamily="34" charset="-122"/>
              </a:rPr>
              <a:t>تنك زيت خام / تغذية</a:t>
            </a:r>
            <a:endParaRPr lang="en-US" sz="2000" dirty="0"/>
          </a:p>
          <a:p>
            <a:pPr marL="0" indent="0" algn="just" rtl="1">
              <a:lnSpc>
                <a:spcPct val="150000"/>
              </a:lnSpc>
              <a:spcAft>
                <a:spcPts val="600"/>
              </a:spcAft>
              <a:buNone/>
            </a:pPr>
            <a:r>
              <a:rPr lang="en-US" sz="2000" dirty="0">
                <a:solidFill>
                  <a:srgbClr val="14201A"/>
                </a:solidFill>
                <a:latin typeface="Segoe UI" pitchFamily="34" charset="0"/>
                <a:ea typeface="Segoe UI" pitchFamily="34" charset="-122"/>
              </a:rPr>
              <a:t>FK102-1/2</a:t>
            </a:r>
            <a:r>
              <a:rPr lang="ar-EG" sz="2000" dirty="0">
                <a:solidFill>
                  <a:srgbClr val="14201A"/>
                </a:solidFill>
                <a:latin typeface="Segoe UI" pitchFamily="34" charset="0"/>
                <a:ea typeface="Segoe UI" pitchFamily="34" charset="-122"/>
              </a:rPr>
              <a:t> :</a:t>
            </a:r>
            <a:r>
              <a:rPr lang="en-US" sz="2000" dirty="0">
                <a:solidFill>
                  <a:srgbClr val="14201A"/>
                </a:solidFill>
                <a:latin typeface="Segoe UI" pitchFamily="34" charset="0"/>
                <a:ea typeface="Segoe UI" pitchFamily="34" charset="-122"/>
              </a:rPr>
              <a:t> تنكات زيت مكرر</a:t>
            </a:r>
            <a:endParaRPr lang="en-US" sz="2000" dirty="0"/>
          </a:p>
          <a:p>
            <a:pPr marL="0" indent="0" algn="just" rtl="1">
              <a:lnSpc>
                <a:spcPct val="150000"/>
              </a:lnSpc>
              <a:spcAft>
                <a:spcPts val="600"/>
              </a:spcAft>
              <a:buNone/>
            </a:pPr>
            <a:r>
              <a:rPr lang="en-US" sz="2000" dirty="0">
                <a:solidFill>
                  <a:srgbClr val="14201A"/>
                </a:solidFill>
                <a:latin typeface="Segoe UI" pitchFamily="34" charset="0"/>
                <a:ea typeface="Segoe UI" pitchFamily="34" charset="-122"/>
              </a:rPr>
              <a:t>FK103/104</a:t>
            </a:r>
            <a:r>
              <a:rPr lang="ar-EG" sz="2000" dirty="0">
                <a:solidFill>
                  <a:srgbClr val="14201A"/>
                </a:solidFill>
                <a:latin typeface="Segoe UI" pitchFamily="34" charset="0"/>
                <a:ea typeface="Segoe UI" pitchFamily="34" charset="-122"/>
              </a:rPr>
              <a:t> : تنكات الصابون</a:t>
            </a:r>
          </a:p>
          <a:p>
            <a:pPr marL="0" indent="0" algn="just" rtl="1">
              <a:lnSpc>
                <a:spcPct val="150000"/>
              </a:lnSpc>
              <a:spcAft>
                <a:spcPts val="600"/>
              </a:spcAft>
              <a:buNone/>
            </a:pPr>
            <a:r>
              <a:rPr lang="en-US" sz="2000" dirty="0">
                <a:solidFill>
                  <a:srgbClr val="14201A"/>
                </a:solidFill>
                <a:latin typeface="Segoe UI" pitchFamily="34" charset="0"/>
                <a:ea typeface="Segoe UI" pitchFamily="34" charset="-122"/>
              </a:rPr>
              <a:t>FK106</a:t>
            </a:r>
            <a:r>
              <a:rPr lang="ar-EG" sz="2000" dirty="0">
                <a:solidFill>
                  <a:srgbClr val="14201A"/>
                </a:solidFill>
                <a:latin typeface="Segoe UI" pitchFamily="34" charset="0"/>
                <a:ea typeface="Segoe UI" pitchFamily="34" charset="-122"/>
              </a:rPr>
              <a:t> :</a:t>
            </a:r>
            <a:r>
              <a:rPr lang="en-US" sz="2000" dirty="0">
                <a:solidFill>
                  <a:srgbClr val="14201A"/>
                </a:solidFill>
                <a:latin typeface="Segoe UI" pitchFamily="34" charset="0"/>
                <a:ea typeface="Segoe UI" pitchFamily="34" charset="-122"/>
              </a:rPr>
              <a:t> أحماض دهنية</a:t>
            </a:r>
            <a:endParaRPr lang="en-US" sz="2000" dirty="0"/>
          </a:p>
          <a:p>
            <a:pPr marL="0" indent="0" algn="just" rtl="1">
              <a:lnSpc>
                <a:spcPct val="150000"/>
              </a:lnSpc>
              <a:spcAft>
                <a:spcPts val="600"/>
              </a:spcAft>
              <a:buNone/>
            </a:pPr>
            <a:r>
              <a:rPr lang="en-US" sz="2000" dirty="0">
                <a:solidFill>
                  <a:srgbClr val="14201A"/>
                </a:solidFill>
                <a:latin typeface="Segoe UI" pitchFamily="34" charset="0"/>
                <a:ea typeface="Segoe UI" pitchFamily="34" charset="-122"/>
              </a:rPr>
              <a:t>FK107</a:t>
            </a:r>
            <a:r>
              <a:rPr lang="ar-EG" sz="2000" dirty="0">
                <a:solidFill>
                  <a:srgbClr val="14201A"/>
                </a:solidFill>
                <a:latin typeface="Segoe UI" pitchFamily="34" charset="0"/>
                <a:ea typeface="Segoe UI" pitchFamily="34" charset="-122"/>
              </a:rPr>
              <a:t>: </a:t>
            </a:r>
            <a:r>
              <a:rPr lang="en-US" sz="2000" dirty="0">
                <a:solidFill>
                  <a:srgbClr val="14201A"/>
                </a:solidFill>
                <a:latin typeface="Segoe UI" pitchFamily="34" charset="0"/>
                <a:ea typeface="Segoe UI" pitchFamily="34" charset="-122"/>
              </a:rPr>
              <a:t>صودا كاوية سائلة</a:t>
            </a:r>
            <a:endParaRPr lang="en-US" sz="2000" dirty="0"/>
          </a:p>
          <a:p>
            <a:pPr marL="0" indent="0" algn="just" rtl="1">
              <a:lnSpc>
                <a:spcPct val="150000"/>
              </a:lnSpc>
              <a:spcAft>
                <a:spcPts val="600"/>
              </a:spcAft>
              <a:buNone/>
            </a:pPr>
            <a:r>
              <a:rPr lang="en-US" sz="2000" dirty="0">
                <a:solidFill>
                  <a:srgbClr val="14201A"/>
                </a:solidFill>
                <a:latin typeface="Segoe UI" pitchFamily="34" charset="0"/>
                <a:ea typeface="Segoe UI" pitchFamily="34" charset="-122"/>
              </a:rPr>
              <a:t>FK105</a:t>
            </a:r>
            <a:r>
              <a:rPr lang="ar-EG" sz="2000" dirty="0">
                <a:solidFill>
                  <a:srgbClr val="14201A"/>
                </a:solidFill>
                <a:latin typeface="Segoe UI" pitchFamily="34" charset="0"/>
                <a:ea typeface="Segoe UI" pitchFamily="34" charset="-122"/>
              </a:rPr>
              <a:t> :</a:t>
            </a:r>
            <a:r>
              <a:rPr lang="en-US" sz="2000" dirty="0">
                <a:solidFill>
                  <a:srgbClr val="14201A"/>
                </a:solidFill>
                <a:latin typeface="Segoe UI" pitchFamily="34" charset="0"/>
                <a:ea typeface="Segoe UI" pitchFamily="34" charset="-122"/>
              </a:rPr>
              <a:t>ديزل / سولار</a:t>
            </a:r>
            <a:endParaRPr lang="en-US" sz="2000" dirty="0"/>
          </a:p>
        </p:txBody>
      </p:sp>
      <p:sp>
        <p:nvSpPr>
          <p:cNvPr id="10" name="Shape 7"/>
          <p:cNvSpPr/>
          <p:nvPr/>
        </p:nvSpPr>
        <p:spPr>
          <a:xfrm>
            <a:off x="0" y="6528816"/>
            <a:ext cx="12191695" cy="329184"/>
          </a:xfrm>
          <a:prstGeom prst="rect">
            <a:avLst/>
          </a:prstGeom>
          <a:solidFill>
            <a:srgbClr val="F3EFE4"/>
          </a:solidFill>
          <a:ln/>
        </p:spPr>
        <p:txBody>
          <a:bodyPr/>
          <a:lstStyle/>
          <a:p>
            <a:endParaRPr lang="en-US"/>
          </a:p>
        </p:txBody>
      </p:sp>
      <p:sp>
        <p:nvSpPr>
          <p:cNvPr id="11" name="Text 8"/>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2" name="Text 9"/>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الوحدات المساعدة</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Shape 4"/>
          <p:cNvSpPr/>
          <p:nvPr/>
        </p:nvSpPr>
        <p:spPr>
          <a:xfrm>
            <a:off x="384048" y="109728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7" name="Text 5"/>
          <p:cNvSpPr/>
          <p:nvPr/>
        </p:nvSpPr>
        <p:spPr>
          <a:xfrm>
            <a:off x="566928" y="1325880"/>
            <a:ext cx="3291840" cy="411480"/>
          </a:xfrm>
          <a:prstGeom prst="rect">
            <a:avLst/>
          </a:prstGeom>
          <a:noFill/>
          <a:ln/>
        </p:spPr>
        <p:txBody>
          <a:bodyPr wrap="square" rtlCol="0" anchor="ctr"/>
          <a:lstStyle/>
          <a:p>
            <a:pPr marL="0" indent="0" algn="r" rtl="1">
              <a:buNone/>
            </a:pPr>
            <a:r>
              <a:rPr lang="en-US" sz="1600" b="1" dirty="0">
                <a:solidFill>
                  <a:srgbClr val="8A5410"/>
                </a:solidFill>
                <a:latin typeface="Segoe UI" pitchFamily="34" charset="0"/>
                <a:ea typeface="Segoe UI" pitchFamily="34" charset="-122"/>
                <a:cs typeface="Segoe UI" pitchFamily="34" charset="-120"/>
              </a:rPr>
              <a:t>فاكيوم</a:t>
            </a:r>
            <a:endParaRPr lang="en-US" sz="1600" dirty="0"/>
          </a:p>
        </p:txBody>
      </p:sp>
      <p:sp>
        <p:nvSpPr>
          <p:cNvPr id="8" name="Text 6"/>
          <p:cNvSpPr/>
          <p:nvPr/>
        </p:nvSpPr>
        <p:spPr>
          <a:xfrm>
            <a:off x="566928" y="1874520"/>
            <a:ext cx="3291840" cy="1188720"/>
          </a:xfrm>
          <a:prstGeom prst="rect">
            <a:avLst/>
          </a:prstGeom>
          <a:noFill/>
          <a:ln/>
        </p:spPr>
        <p:txBody>
          <a:bodyPr wrap="square" rtlCol="0" anchor="ctr"/>
          <a:lstStyle/>
          <a:p>
            <a:pPr marL="0" indent="0" algn="ctr" rtl="1">
              <a:buNone/>
            </a:pPr>
            <a:r>
              <a:rPr lang="en-US" sz="1600" dirty="0" err="1">
                <a:solidFill>
                  <a:srgbClr val="14201A"/>
                </a:solidFill>
                <a:latin typeface="Segoe UI" pitchFamily="34" charset="0"/>
                <a:ea typeface="Segoe UI" pitchFamily="34" charset="-122"/>
                <a:cs typeface="Segoe UI" pitchFamily="34" charset="-120"/>
              </a:rPr>
              <a:t>أساسي</a:t>
            </a:r>
            <a:r>
              <a:rPr lang="en-US" sz="1600" dirty="0">
                <a:solidFill>
                  <a:srgbClr val="14201A"/>
                </a:solidFill>
                <a:latin typeface="Segoe UI" pitchFamily="34" charset="0"/>
                <a:ea typeface="Segoe UI" pitchFamily="34" charset="-122"/>
                <a:cs typeface="Segoe UI" pitchFamily="34" charset="-120"/>
              </a:rPr>
              <a:t> </a:t>
            </a:r>
            <a:r>
              <a:rPr lang="ar-EG" sz="1600" dirty="0">
                <a:solidFill>
                  <a:srgbClr val="14201A"/>
                </a:solidFill>
                <a:latin typeface="Segoe UI" pitchFamily="34" charset="0"/>
                <a:ea typeface="Segoe UI" pitchFamily="34" charset="-122"/>
                <a:cs typeface="Segoe UI" pitchFamily="34" charset="-120"/>
              </a:rPr>
              <a:t>في مرحلة ا</a:t>
            </a:r>
            <a:r>
              <a:rPr lang="en-US" sz="1600" dirty="0" err="1">
                <a:solidFill>
                  <a:srgbClr val="14201A"/>
                </a:solidFill>
                <a:latin typeface="Segoe UI" pitchFamily="34" charset="0"/>
                <a:ea typeface="Segoe UI" pitchFamily="34" charset="-122"/>
                <a:cs typeface="Segoe UI" pitchFamily="34" charset="-120"/>
              </a:rPr>
              <a:t>لتبييض</a:t>
            </a:r>
            <a:r>
              <a:rPr lang="en-US" sz="1600" dirty="0">
                <a:solidFill>
                  <a:srgbClr val="14201A"/>
                </a:solidFill>
                <a:latin typeface="Segoe UI" pitchFamily="34" charset="0"/>
                <a:ea typeface="Segoe UI" pitchFamily="34" charset="-122"/>
                <a:cs typeface="Segoe UI" pitchFamily="34" charset="-120"/>
              </a:rPr>
              <a:t> و</a:t>
            </a:r>
            <a:r>
              <a:rPr lang="ar-EG" sz="1600" dirty="0">
                <a:solidFill>
                  <a:srgbClr val="14201A"/>
                </a:solidFill>
                <a:latin typeface="Segoe UI" pitchFamily="34" charset="0"/>
                <a:ea typeface="Segoe UI" pitchFamily="34" charset="-122"/>
                <a:cs typeface="Segoe UI" pitchFamily="34" charset="-120"/>
              </a:rPr>
              <a:t>إ</a:t>
            </a:r>
            <a:r>
              <a:rPr lang="en-US" sz="1600" dirty="0" err="1">
                <a:solidFill>
                  <a:srgbClr val="14201A"/>
                </a:solidFill>
                <a:latin typeface="Segoe UI" pitchFamily="34" charset="0"/>
                <a:ea typeface="Segoe UI" pitchFamily="34" charset="-122"/>
                <a:cs typeface="Segoe UI" pitchFamily="34" charset="-120"/>
              </a:rPr>
              <a:t>زالة</a:t>
            </a:r>
            <a:r>
              <a:rPr lang="ar-EG" sz="1600" dirty="0">
                <a:solidFill>
                  <a:srgbClr val="14201A"/>
                </a:solidFill>
                <a:latin typeface="Segoe UI" pitchFamily="34" charset="0"/>
                <a:ea typeface="Segoe UI" pitchFamily="34" charset="-122"/>
                <a:cs typeface="Segoe UI" pitchFamily="34" charset="-120"/>
              </a:rPr>
              <a:t>الرائحة</a:t>
            </a:r>
            <a:r>
              <a:rPr lang="en-US" sz="1600" dirty="0">
                <a:solidFill>
                  <a:srgbClr val="14201A"/>
                </a:solidFill>
                <a:latin typeface="Segoe UI" pitchFamily="34" charset="0"/>
                <a:ea typeface="Segoe UI" pitchFamily="34" charset="-122"/>
                <a:cs typeface="Segoe UI" pitchFamily="34" charset="-120"/>
              </a:rPr>
              <a:t> </a:t>
            </a:r>
            <a:r>
              <a:rPr lang="ar-EG" sz="1600" dirty="0">
                <a:solidFill>
                  <a:srgbClr val="14201A"/>
                </a:solidFill>
                <a:latin typeface="Segoe UI" pitchFamily="34" charset="0"/>
                <a:ea typeface="Segoe UI" pitchFamily="34" charset="-122"/>
                <a:cs typeface="Segoe UI" pitchFamily="34" charset="-120"/>
              </a:rPr>
              <a:t>ل</a:t>
            </a:r>
            <a:r>
              <a:rPr lang="en-US" sz="1600" dirty="0" err="1">
                <a:solidFill>
                  <a:srgbClr val="14201A"/>
                </a:solidFill>
                <a:latin typeface="Segoe UI" pitchFamily="34" charset="0"/>
                <a:ea typeface="Segoe UI" pitchFamily="34" charset="-122"/>
                <a:cs typeface="Segoe UI" pitchFamily="34" charset="-120"/>
              </a:rPr>
              <a:t>منع</a:t>
            </a:r>
            <a:r>
              <a:rPr lang="en-US" sz="1600" dirty="0">
                <a:solidFill>
                  <a:srgbClr val="14201A"/>
                </a:solidFill>
                <a:latin typeface="Segoe UI" pitchFamily="34" charset="0"/>
                <a:ea typeface="Segoe UI" pitchFamily="34" charset="-122"/>
                <a:cs typeface="Segoe UI" pitchFamily="34" charset="-120"/>
              </a:rPr>
              <a:t> </a:t>
            </a:r>
            <a:r>
              <a:rPr lang="en-US" sz="1600" dirty="0" err="1">
                <a:solidFill>
                  <a:srgbClr val="14201A"/>
                </a:solidFill>
                <a:latin typeface="Segoe UI" pitchFamily="34" charset="0"/>
                <a:ea typeface="Segoe UI" pitchFamily="34" charset="-122"/>
                <a:cs typeface="Segoe UI" pitchFamily="34" charset="-120"/>
              </a:rPr>
              <a:t>الأكسدة</a:t>
            </a:r>
            <a:r>
              <a:rPr lang="ar-EG" sz="1600" dirty="0">
                <a:solidFill>
                  <a:srgbClr val="14201A"/>
                </a:solidFill>
                <a:latin typeface="Segoe UI" pitchFamily="34" charset="0"/>
                <a:ea typeface="Segoe UI" pitchFamily="34" charset="-122"/>
                <a:cs typeface="Segoe UI" pitchFamily="34" charset="-120"/>
              </a:rPr>
              <a:t> وإزالة المواد الغير مرغوب فيها </a:t>
            </a:r>
            <a:endParaRPr lang="en-US" sz="1600" dirty="0"/>
          </a:p>
        </p:txBody>
      </p:sp>
      <p:sp>
        <p:nvSpPr>
          <p:cNvPr id="9" name="Shape 7"/>
          <p:cNvSpPr/>
          <p:nvPr/>
        </p:nvSpPr>
        <p:spPr>
          <a:xfrm>
            <a:off x="4224528" y="109728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10" name="Text 8"/>
          <p:cNvSpPr/>
          <p:nvPr/>
        </p:nvSpPr>
        <p:spPr>
          <a:xfrm>
            <a:off x="4407408" y="1325880"/>
            <a:ext cx="3291840" cy="411480"/>
          </a:xfrm>
          <a:prstGeom prst="rect">
            <a:avLst/>
          </a:prstGeom>
          <a:noFill/>
          <a:ln/>
        </p:spPr>
        <p:txBody>
          <a:bodyPr wrap="square" rtlCol="0" anchor="ctr"/>
          <a:lstStyle/>
          <a:p>
            <a:pPr marL="0" indent="0" algn="r" rtl="1">
              <a:buNone/>
            </a:pPr>
            <a:r>
              <a:rPr lang="en-US" sz="1600" b="1" dirty="0">
                <a:solidFill>
                  <a:srgbClr val="8A5410"/>
                </a:solidFill>
                <a:latin typeface="Segoe UI" pitchFamily="34" charset="0"/>
                <a:ea typeface="Segoe UI" pitchFamily="34" charset="-122"/>
                <a:cs typeface="Segoe UI" pitchFamily="34" charset="-120"/>
              </a:rPr>
              <a:t>بخار Steam</a:t>
            </a:r>
            <a:endParaRPr lang="en-US" sz="1600" dirty="0"/>
          </a:p>
        </p:txBody>
      </p:sp>
      <p:sp>
        <p:nvSpPr>
          <p:cNvPr id="11" name="Text 9"/>
          <p:cNvSpPr/>
          <p:nvPr/>
        </p:nvSpPr>
        <p:spPr>
          <a:xfrm>
            <a:off x="4407408" y="1874520"/>
            <a:ext cx="3291840" cy="1188720"/>
          </a:xfrm>
          <a:prstGeom prst="rect">
            <a:avLst/>
          </a:prstGeom>
          <a:noFill/>
          <a:ln/>
        </p:spPr>
        <p:txBody>
          <a:bodyPr wrap="square" rtlCol="0" anchor="ctr"/>
          <a:lstStyle/>
          <a:p>
            <a:pPr marL="0" indent="0" algn="r" rtl="1">
              <a:buNone/>
            </a:pPr>
            <a:r>
              <a:rPr lang="en-US" sz="1600" dirty="0">
                <a:solidFill>
                  <a:srgbClr val="14201A"/>
                </a:solidFill>
                <a:latin typeface="Segoe UI" pitchFamily="34" charset="0"/>
                <a:ea typeface="Segoe UI" pitchFamily="34" charset="-122"/>
                <a:cs typeface="Segoe UI" pitchFamily="34" charset="-120"/>
              </a:rPr>
              <a:t>تسخين الزيت</a:t>
            </a:r>
            <a:r>
              <a:rPr lang="ar-EG" sz="1600" dirty="0">
                <a:solidFill>
                  <a:srgbClr val="14201A"/>
                </a:solidFill>
                <a:latin typeface="Segoe UI" pitchFamily="34" charset="0"/>
                <a:ea typeface="Segoe UI" pitchFamily="34" charset="-122"/>
                <a:cs typeface="Segoe UI" pitchFamily="34" charset="-120"/>
              </a:rPr>
              <a:t> قبل المعادلة والتبييض</a:t>
            </a:r>
            <a:r>
              <a:rPr lang="en-US" sz="1600" dirty="0">
                <a:solidFill>
                  <a:srgbClr val="14201A"/>
                </a:solidFill>
                <a:latin typeface="Segoe UI" pitchFamily="34" charset="0"/>
                <a:ea typeface="Segoe UI" pitchFamily="34" charset="-122"/>
                <a:cs typeface="Segoe UI" pitchFamily="34" charset="-120"/>
              </a:rPr>
              <a:t>، stripping </a:t>
            </a:r>
            <a:r>
              <a:rPr lang="ar-EG" sz="1600" dirty="0">
                <a:solidFill>
                  <a:srgbClr val="14201A"/>
                </a:solidFill>
                <a:latin typeface="Segoe UI" pitchFamily="34" charset="0"/>
                <a:ea typeface="Segoe UI" pitchFamily="34" charset="-122"/>
                <a:cs typeface="Segoe UI" pitchFamily="34" charset="-120"/>
              </a:rPr>
              <a:t> </a:t>
            </a:r>
            <a:r>
              <a:rPr lang="en-US" sz="1600" dirty="0">
                <a:solidFill>
                  <a:srgbClr val="14201A"/>
                </a:solidFill>
                <a:latin typeface="Segoe UI" pitchFamily="34" charset="0"/>
                <a:ea typeface="Segoe UI" pitchFamily="34" charset="-122"/>
                <a:cs typeface="Segoe UI" pitchFamily="34" charset="-120"/>
              </a:rPr>
              <a:t>في الديودورايزر، وتشغيل Steam Ejectors.</a:t>
            </a:r>
            <a:endParaRPr lang="en-US" sz="1600" dirty="0"/>
          </a:p>
        </p:txBody>
      </p:sp>
      <p:sp>
        <p:nvSpPr>
          <p:cNvPr id="12" name="Shape 10"/>
          <p:cNvSpPr/>
          <p:nvPr/>
        </p:nvSpPr>
        <p:spPr>
          <a:xfrm>
            <a:off x="8065008" y="109728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13" name="Text 11"/>
          <p:cNvSpPr/>
          <p:nvPr/>
        </p:nvSpPr>
        <p:spPr>
          <a:xfrm>
            <a:off x="8247888" y="1325880"/>
            <a:ext cx="3291840" cy="411480"/>
          </a:xfrm>
          <a:prstGeom prst="rect">
            <a:avLst/>
          </a:prstGeom>
          <a:noFill/>
          <a:ln/>
        </p:spPr>
        <p:txBody>
          <a:bodyPr wrap="square" rtlCol="0" anchor="ctr"/>
          <a:lstStyle/>
          <a:p>
            <a:pPr marL="0" indent="0" algn="r" rtl="1">
              <a:buNone/>
            </a:pPr>
            <a:r>
              <a:rPr lang="en-US" sz="1600" b="1" dirty="0">
                <a:solidFill>
                  <a:srgbClr val="8A5410"/>
                </a:solidFill>
                <a:latin typeface="Segoe UI" pitchFamily="34" charset="0"/>
                <a:ea typeface="Segoe UI" pitchFamily="34" charset="-122"/>
                <a:cs typeface="Segoe UI" pitchFamily="34" charset="-120"/>
              </a:rPr>
              <a:t>مياه تبريد</a:t>
            </a:r>
            <a:endParaRPr lang="en-US" sz="1600" dirty="0"/>
          </a:p>
        </p:txBody>
      </p:sp>
      <p:sp>
        <p:nvSpPr>
          <p:cNvPr id="14" name="Text 12"/>
          <p:cNvSpPr/>
          <p:nvPr/>
        </p:nvSpPr>
        <p:spPr>
          <a:xfrm>
            <a:off x="8247888" y="1874520"/>
            <a:ext cx="3291840" cy="1188720"/>
          </a:xfrm>
          <a:prstGeom prst="rect">
            <a:avLst/>
          </a:prstGeom>
          <a:noFill/>
          <a:ln/>
        </p:spPr>
        <p:txBody>
          <a:bodyPr wrap="square" rtlCol="0" anchor="ctr"/>
          <a:lstStyle/>
          <a:p>
            <a:pPr marL="0" indent="0" algn="r" rtl="1">
              <a:buNone/>
            </a:pPr>
            <a:r>
              <a:rPr lang="ar-EG" sz="1600" dirty="0">
                <a:solidFill>
                  <a:srgbClr val="14201A"/>
                </a:solidFill>
                <a:latin typeface="Segoe UI" pitchFamily="34" charset="0"/>
                <a:ea typeface="Segoe UI" pitchFamily="34" charset="-122"/>
                <a:cs typeface="Segoe UI" pitchFamily="34" charset="-120"/>
              </a:rPr>
              <a:t> </a:t>
            </a:r>
            <a:r>
              <a:rPr lang="en-US" sz="1600" dirty="0">
                <a:solidFill>
                  <a:srgbClr val="14201A"/>
                </a:solidFill>
                <a:latin typeface="Segoe UI" pitchFamily="34" charset="0"/>
                <a:ea typeface="Segoe UI" pitchFamily="34" charset="-122"/>
                <a:cs typeface="Segoe UI" pitchFamily="34" charset="-120"/>
              </a:rPr>
              <a:t>condensers</a:t>
            </a:r>
            <a:r>
              <a:rPr lang="ar-EG" sz="1600" dirty="0">
                <a:solidFill>
                  <a:srgbClr val="14201A"/>
                </a:solidFill>
                <a:latin typeface="Segoe UI" pitchFamily="34" charset="0"/>
                <a:ea typeface="Segoe UI" pitchFamily="34" charset="-122"/>
                <a:cs typeface="Segoe UI" pitchFamily="34" charset="-120"/>
              </a:rPr>
              <a:t> +</a:t>
            </a:r>
            <a:r>
              <a:rPr lang="en-US" sz="1600" dirty="0">
                <a:solidFill>
                  <a:srgbClr val="14201A"/>
                </a:solidFill>
                <a:latin typeface="Segoe UI" pitchFamily="34" charset="0"/>
                <a:ea typeface="Segoe UI" pitchFamily="34" charset="-122"/>
                <a:cs typeface="Segoe UI" pitchFamily="34" charset="-120"/>
              </a:rPr>
              <a:t> chiller لتقوية الفاكيوم وتبريد المنتج.</a:t>
            </a:r>
            <a:endParaRPr lang="en-US" sz="1600" dirty="0"/>
          </a:p>
        </p:txBody>
      </p:sp>
      <p:sp>
        <p:nvSpPr>
          <p:cNvPr id="15" name="Shape 13"/>
          <p:cNvSpPr/>
          <p:nvPr/>
        </p:nvSpPr>
        <p:spPr>
          <a:xfrm>
            <a:off x="384048" y="356616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16" name="Text 14"/>
          <p:cNvSpPr/>
          <p:nvPr/>
        </p:nvSpPr>
        <p:spPr>
          <a:xfrm>
            <a:off x="566928" y="3794760"/>
            <a:ext cx="3291840" cy="411480"/>
          </a:xfrm>
          <a:prstGeom prst="rect">
            <a:avLst/>
          </a:prstGeom>
          <a:noFill/>
          <a:ln/>
        </p:spPr>
        <p:txBody>
          <a:bodyPr wrap="square" rtlCol="0" anchor="ctr"/>
          <a:lstStyle/>
          <a:p>
            <a:pPr marL="0" indent="0" algn="r" rtl="1">
              <a:buNone/>
            </a:pPr>
            <a:r>
              <a:rPr lang="en-US" sz="1600" b="1" dirty="0">
                <a:solidFill>
                  <a:srgbClr val="8A5410"/>
                </a:solidFill>
                <a:latin typeface="Segoe UI" pitchFamily="34" charset="0"/>
                <a:ea typeface="Segoe UI" pitchFamily="34" charset="-122"/>
                <a:cs typeface="Segoe UI" pitchFamily="34" charset="-120"/>
              </a:rPr>
              <a:t>هواء مضغوط</a:t>
            </a:r>
            <a:endParaRPr lang="en-US" sz="1600" dirty="0"/>
          </a:p>
        </p:txBody>
      </p:sp>
      <p:sp>
        <p:nvSpPr>
          <p:cNvPr id="17" name="Text 15"/>
          <p:cNvSpPr/>
          <p:nvPr/>
        </p:nvSpPr>
        <p:spPr>
          <a:xfrm>
            <a:off x="566928" y="4343400"/>
            <a:ext cx="3291840" cy="1188720"/>
          </a:xfrm>
          <a:prstGeom prst="rect">
            <a:avLst/>
          </a:prstGeom>
          <a:noFill/>
          <a:ln/>
        </p:spPr>
        <p:txBody>
          <a:bodyPr wrap="square" rtlCol="0" anchor="ctr"/>
          <a:lstStyle/>
          <a:p>
            <a:pPr marL="0" indent="0" algn="r" rtl="1">
              <a:buNone/>
            </a:pPr>
            <a:r>
              <a:rPr lang="en-US" sz="1600" dirty="0">
                <a:solidFill>
                  <a:srgbClr val="14201A"/>
                </a:solidFill>
                <a:latin typeface="Segoe UI" pitchFamily="34" charset="0"/>
                <a:ea typeface="Segoe UI" pitchFamily="34" charset="-122"/>
                <a:cs typeface="Segoe UI" pitchFamily="34" charset="-120"/>
              </a:rPr>
              <a:t>تشغيل صمامات وتحكم، ودعم دورات Blow/Empty في فلاتر التبييض.</a:t>
            </a:r>
            <a:endParaRPr lang="en-US" sz="1600" dirty="0"/>
          </a:p>
        </p:txBody>
      </p:sp>
      <p:sp>
        <p:nvSpPr>
          <p:cNvPr id="18" name="Shape 16"/>
          <p:cNvSpPr/>
          <p:nvPr/>
        </p:nvSpPr>
        <p:spPr>
          <a:xfrm>
            <a:off x="4224528" y="356616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19" name="Text 17"/>
          <p:cNvSpPr/>
          <p:nvPr/>
        </p:nvSpPr>
        <p:spPr>
          <a:xfrm>
            <a:off x="4407408" y="3794760"/>
            <a:ext cx="3291840" cy="411480"/>
          </a:xfrm>
          <a:prstGeom prst="rect">
            <a:avLst/>
          </a:prstGeom>
          <a:noFill/>
          <a:ln/>
        </p:spPr>
        <p:txBody>
          <a:bodyPr wrap="square" rtlCol="0" anchor="ctr"/>
          <a:lstStyle/>
          <a:p>
            <a:pPr marL="0" indent="0" algn="r" rtl="1">
              <a:buNone/>
            </a:pPr>
            <a:r>
              <a:rPr lang="en-US" sz="1600" b="1" dirty="0" err="1">
                <a:solidFill>
                  <a:srgbClr val="8A5410"/>
                </a:solidFill>
                <a:latin typeface="Segoe UI" pitchFamily="34" charset="0"/>
                <a:ea typeface="Segoe UI" pitchFamily="34" charset="-122"/>
                <a:cs typeface="Segoe UI" pitchFamily="34" charset="-120"/>
              </a:rPr>
              <a:t>ميا</a:t>
            </a:r>
            <a:r>
              <a:rPr lang="ar-EG" sz="1600" b="1" dirty="0">
                <a:solidFill>
                  <a:srgbClr val="8A5410"/>
                </a:solidFill>
                <a:latin typeface="Segoe UI" pitchFamily="34" charset="0"/>
                <a:ea typeface="Segoe UI" pitchFamily="34" charset="-122"/>
                <a:cs typeface="Segoe UI" pitchFamily="34" charset="-120"/>
              </a:rPr>
              <a:t>ة </a:t>
            </a:r>
            <a:r>
              <a:rPr lang="en-US" sz="1600" b="1" dirty="0">
                <a:solidFill>
                  <a:srgbClr val="8A5410"/>
                </a:solidFill>
                <a:latin typeface="Segoe UI" pitchFamily="34" charset="0"/>
                <a:ea typeface="Segoe UI" pitchFamily="34" charset="-122"/>
                <a:cs typeface="Segoe UI" pitchFamily="34" charset="-120"/>
              </a:rPr>
              <a:t> Soft</a:t>
            </a:r>
            <a:endParaRPr lang="en-US" sz="1600" dirty="0"/>
          </a:p>
        </p:txBody>
      </p:sp>
      <p:sp>
        <p:nvSpPr>
          <p:cNvPr id="20" name="Text 18"/>
          <p:cNvSpPr/>
          <p:nvPr/>
        </p:nvSpPr>
        <p:spPr>
          <a:xfrm>
            <a:off x="4407408" y="4343400"/>
            <a:ext cx="3291840" cy="1188720"/>
          </a:xfrm>
          <a:prstGeom prst="rect">
            <a:avLst/>
          </a:prstGeom>
          <a:noFill/>
          <a:ln/>
        </p:spPr>
        <p:txBody>
          <a:bodyPr wrap="square" rtlCol="0" anchor="ctr"/>
          <a:lstStyle/>
          <a:p>
            <a:pPr marL="0" indent="0" algn="r" rtl="1">
              <a:buNone/>
            </a:pPr>
            <a:r>
              <a:rPr lang="en-US" sz="1600" dirty="0" err="1">
                <a:solidFill>
                  <a:srgbClr val="14201A"/>
                </a:solidFill>
                <a:latin typeface="Segoe UI" pitchFamily="34" charset="0"/>
                <a:ea typeface="Segoe UI" pitchFamily="34" charset="-122"/>
                <a:cs typeface="Segoe UI" pitchFamily="34" charset="-120"/>
              </a:rPr>
              <a:t>غسيل</a:t>
            </a:r>
            <a:r>
              <a:rPr lang="en-US" sz="1600" dirty="0">
                <a:solidFill>
                  <a:srgbClr val="14201A"/>
                </a:solidFill>
                <a:latin typeface="Segoe UI" pitchFamily="34" charset="0"/>
                <a:ea typeface="Segoe UI" pitchFamily="34" charset="-122"/>
                <a:cs typeface="Segoe UI" pitchFamily="34" charset="-120"/>
              </a:rPr>
              <a:t> separators</a:t>
            </a:r>
            <a:endParaRPr lang="en-US" sz="1600" dirty="0"/>
          </a:p>
        </p:txBody>
      </p:sp>
      <p:sp>
        <p:nvSpPr>
          <p:cNvPr id="21" name="Shape 19"/>
          <p:cNvSpPr/>
          <p:nvPr/>
        </p:nvSpPr>
        <p:spPr>
          <a:xfrm>
            <a:off x="8065008" y="3566160"/>
            <a:ext cx="3657600" cy="2240280"/>
          </a:xfrm>
          <a:prstGeom prst="roundRect">
            <a:avLst>
              <a:gd name="adj" fmla="val 3265"/>
            </a:avLst>
          </a:prstGeom>
          <a:solidFill>
            <a:srgbClr val="FFFFFF"/>
          </a:solidFill>
          <a:ln w="12700">
            <a:solidFill>
              <a:srgbClr val="D5DDD7"/>
            </a:solidFill>
            <a:prstDash val="solid"/>
          </a:ln>
        </p:spPr>
        <p:txBody>
          <a:bodyPr/>
          <a:lstStyle/>
          <a:p>
            <a:endParaRPr lang="en-US"/>
          </a:p>
        </p:txBody>
      </p:sp>
      <p:sp>
        <p:nvSpPr>
          <p:cNvPr id="22" name="Text 20"/>
          <p:cNvSpPr/>
          <p:nvPr/>
        </p:nvSpPr>
        <p:spPr>
          <a:xfrm>
            <a:off x="8247888" y="3794760"/>
            <a:ext cx="3291840" cy="411480"/>
          </a:xfrm>
          <a:prstGeom prst="rect">
            <a:avLst/>
          </a:prstGeom>
          <a:noFill/>
          <a:ln/>
        </p:spPr>
        <p:txBody>
          <a:bodyPr wrap="square" rtlCol="0" anchor="ctr"/>
          <a:lstStyle/>
          <a:p>
            <a:pPr marL="0" indent="0" algn="r" rtl="1">
              <a:buNone/>
            </a:pPr>
            <a:r>
              <a:rPr lang="en-US" sz="1600" b="1" dirty="0">
                <a:solidFill>
                  <a:srgbClr val="8A5410"/>
                </a:solidFill>
                <a:latin typeface="Segoe UI" pitchFamily="34" charset="0"/>
                <a:ea typeface="Segoe UI" pitchFamily="34" charset="-122"/>
                <a:cs typeface="Segoe UI" pitchFamily="34" charset="-120"/>
              </a:rPr>
              <a:t>كيماويات</a:t>
            </a:r>
            <a:endParaRPr lang="en-US" sz="1600" dirty="0"/>
          </a:p>
        </p:txBody>
      </p:sp>
      <p:sp>
        <p:nvSpPr>
          <p:cNvPr id="23" name="Text 21"/>
          <p:cNvSpPr/>
          <p:nvPr/>
        </p:nvSpPr>
        <p:spPr>
          <a:xfrm>
            <a:off x="8247888" y="4343400"/>
            <a:ext cx="3291840" cy="1188720"/>
          </a:xfrm>
          <a:prstGeom prst="rect">
            <a:avLst/>
          </a:prstGeom>
          <a:noFill/>
          <a:ln/>
        </p:spPr>
        <p:txBody>
          <a:bodyPr wrap="square" rtlCol="0" anchor="ctr"/>
          <a:lstStyle/>
          <a:p>
            <a:pPr marL="0" indent="0" algn="r" rtl="1">
              <a:buNone/>
            </a:pPr>
            <a:r>
              <a:rPr lang="en-US" sz="1600" dirty="0">
                <a:solidFill>
                  <a:srgbClr val="14201A"/>
                </a:solidFill>
                <a:latin typeface="Segoe UI" pitchFamily="34" charset="0"/>
                <a:ea typeface="Segoe UI" pitchFamily="34" charset="-122"/>
                <a:cs typeface="Segoe UI" pitchFamily="34" charset="-120"/>
              </a:rPr>
              <a:t>فوسفوريك · صودا · ستريك · </a:t>
            </a:r>
            <a:r>
              <a:rPr lang="en-US" sz="1600" dirty="0" err="1">
                <a:solidFill>
                  <a:srgbClr val="14201A"/>
                </a:solidFill>
                <a:latin typeface="Segoe UI" pitchFamily="34" charset="0"/>
                <a:ea typeface="Segoe UI" pitchFamily="34" charset="-122"/>
                <a:cs typeface="Segoe UI" pitchFamily="34" charset="-120"/>
              </a:rPr>
              <a:t>تراب</a:t>
            </a:r>
            <a:r>
              <a:rPr lang="en-US" sz="1600" dirty="0">
                <a:solidFill>
                  <a:srgbClr val="14201A"/>
                </a:solidFill>
                <a:latin typeface="Segoe UI" pitchFamily="34" charset="0"/>
                <a:ea typeface="Segoe UI" pitchFamily="34" charset="-122"/>
                <a:cs typeface="Segoe UI" pitchFamily="34" charset="-120"/>
              </a:rPr>
              <a:t> </a:t>
            </a:r>
            <a:r>
              <a:rPr lang="ar-EG" sz="1600" dirty="0">
                <a:solidFill>
                  <a:srgbClr val="14201A"/>
                </a:solidFill>
                <a:latin typeface="Segoe UI" pitchFamily="34" charset="0"/>
                <a:ea typeface="Segoe UI" pitchFamily="34" charset="-122"/>
                <a:cs typeface="Segoe UI" pitchFamily="34" charset="-120"/>
              </a:rPr>
              <a:t>تبييض</a:t>
            </a:r>
            <a:endParaRPr lang="en-US" sz="1600" dirty="0"/>
          </a:p>
        </p:txBody>
      </p:sp>
      <p:sp>
        <p:nvSpPr>
          <p:cNvPr id="24" name="Shape 22"/>
          <p:cNvSpPr/>
          <p:nvPr/>
        </p:nvSpPr>
        <p:spPr>
          <a:xfrm>
            <a:off x="0" y="6528816"/>
            <a:ext cx="12191695" cy="329184"/>
          </a:xfrm>
          <a:prstGeom prst="rect">
            <a:avLst/>
          </a:prstGeom>
          <a:solidFill>
            <a:srgbClr val="F3EFE4"/>
          </a:solidFill>
          <a:ln/>
        </p:spPr>
        <p:txBody>
          <a:bodyPr/>
          <a:lstStyle/>
          <a:p>
            <a:endParaRPr lang="en-US"/>
          </a:p>
        </p:txBody>
      </p:sp>
      <p:sp>
        <p:nvSpPr>
          <p:cNvPr id="25" name="Text 23"/>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26" name="Text 24"/>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نظام الفاكيوم والتبريد</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Shape 4"/>
          <p:cNvSpPr/>
          <p:nvPr/>
        </p:nvSpPr>
        <p:spPr>
          <a:xfrm>
            <a:off x="384048" y="1051560"/>
            <a:ext cx="5943600" cy="5029200"/>
          </a:xfrm>
          <a:prstGeom prst="roundRect">
            <a:avLst>
              <a:gd name="adj" fmla="val 1455"/>
            </a:avLst>
          </a:prstGeom>
          <a:solidFill>
            <a:srgbClr val="FFFFFF"/>
          </a:solidFill>
          <a:ln w="12700">
            <a:solidFill>
              <a:srgbClr val="D5DDD7"/>
            </a:solidFill>
            <a:prstDash val="solid"/>
          </a:ln>
        </p:spPr>
        <p:txBody>
          <a:bodyPr/>
          <a:lstStyle/>
          <a:p>
            <a:endParaRPr lang="en-US"/>
          </a:p>
        </p:txBody>
      </p:sp>
      <p:sp>
        <p:nvSpPr>
          <p:cNvPr id="7" name="Text 5"/>
          <p:cNvSpPr/>
          <p:nvPr/>
        </p:nvSpPr>
        <p:spPr>
          <a:xfrm>
            <a:off x="612648" y="1280160"/>
            <a:ext cx="5486400" cy="4572000"/>
          </a:xfrm>
          <a:prstGeom prst="rect">
            <a:avLst/>
          </a:prstGeom>
          <a:noFill/>
          <a:ln/>
        </p:spPr>
        <p:txBody>
          <a:bodyPr wrap="square" rtlCol="0" anchor="t"/>
          <a:lstStyle/>
          <a:p>
            <a:pPr marL="342900" indent="-342900" algn="justLow" rtl="1">
              <a:lnSpc>
                <a:spcPct val="150000"/>
              </a:lnSpc>
              <a:spcAft>
                <a:spcPts val="600"/>
              </a:spcAft>
              <a:buSzPct val="100000"/>
              <a:buChar char="●"/>
            </a:pPr>
            <a:r>
              <a:rPr lang="en-US" sz="2000" dirty="0">
                <a:solidFill>
                  <a:srgbClr val="14201A"/>
                </a:solidFill>
                <a:latin typeface="Segoe UI" pitchFamily="34" charset="0"/>
                <a:ea typeface="Segoe UI" pitchFamily="34" charset="-122"/>
              </a:rPr>
              <a:t>Tower cold</a:t>
            </a:r>
            <a:r>
              <a:rPr lang="ar-EG" sz="2000" dirty="0">
                <a:solidFill>
                  <a:srgbClr val="14201A"/>
                </a:solidFill>
                <a:latin typeface="Segoe UI" pitchFamily="34" charset="0"/>
                <a:ea typeface="Segoe UI" pitchFamily="34" charset="-122"/>
              </a:rPr>
              <a:t> : </a:t>
            </a:r>
            <a:r>
              <a:rPr lang="en-US" sz="2000" dirty="0" err="1">
                <a:solidFill>
                  <a:srgbClr val="14201A"/>
                </a:solidFill>
                <a:latin typeface="Segoe UI" pitchFamily="34" charset="0"/>
                <a:ea typeface="Segoe UI" pitchFamily="34" charset="-122"/>
              </a:rPr>
              <a:t>يبرّد</a:t>
            </a:r>
            <a:r>
              <a:rPr lang="en-US" sz="2000" dirty="0">
                <a:solidFill>
                  <a:srgbClr val="14201A"/>
                </a:solidFill>
                <a:latin typeface="Segoe UI" pitchFamily="34" charset="0"/>
                <a:ea typeface="Segoe UI" pitchFamily="34" charset="-122"/>
              </a:rPr>
              <a:t> الشيلر والزيت الخارج ومكثفات الفاكيوم</a:t>
            </a:r>
            <a:endParaRPr lang="en-US" sz="2000" dirty="0"/>
          </a:p>
          <a:p>
            <a:pPr marL="0" indent="0" algn="justLow" rtl="1">
              <a:lnSpc>
                <a:spcPct val="150000"/>
              </a:lnSpc>
              <a:spcAft>
                <a:spcPts val="600"/>
              </a:spcAft>
              <a:buNone/>
            </a:pPr>
            <a:r>
              <a:rPr lang="en-US" sz="2000" dirty="0">
                <a:solidFill>
                  <a:srgbClr val="14201A"/>
                </a:solidFill>
                <a:latin typeface="Segoe UI" pitchFamily="34" charset="0"/>
                <a:ea typeface="Segoe UI" pitchFamily="34" charset="-122"/>
              </a:rPr>
              <a:t>Acid tower</a:t>
            </a:r>
            <a:r>
              <a:rPr lang="ar-EG" sz="2000" dirty="0">
                <a:solidFill>
                  <a:srgbClr val="14201A"/>
                </a:solidFill>
                <a:latin typeface="Segoe UI" pitchFamily="34" charset="0"/>
                <a:ea typeface="Segoe UI" pitchFamily="34" charset="-122"/>
              </a:rPr>
              <a:t> :</a:t>
            </a:r>
            <a:r>
              <a:rPr lang="en-US" sz="2000" dirty="0">
                <a:solidFill>
                  <a:srgbClr val="14201A"/>
                </a:solidFill>
                <a:latin typeface="Segoe UI" pitchFamily="34" charset="0"/>
                <a:ea typeface="Segoe UI" pitchFamily="34" charset="-122"/>
              </a:rPr>
              <a:t> يدفع ماء إلى condensers / barometric</a:t>
            </a:r>
            <a:endParaRPr lang="en-US" sz="2000" dirty="0"/>
          </a:p>
          <a:p>
            <a:pPr marL="0" indent="0" algn="justLow" rtl="1">
              <a:lnSpc>
                <a:spcPct val="150000"/>
              </a:lnSpc>
              <a:spcAft>
                <a:spcPts val="600"/>
              </a:spcAft>
              <a:buNone/>
            </a:pPr>
            <a:r>
              <a:rPr lang="en-US" sz="2000" dirty="0">
                <a:solidFill>
                  <a:srgbClr val="14201A"/>
                </a:solidFill>
                <a:latin typeface="Segoe UI" pitchFamily="34" charset="0"/>
                <a:ea typeface="Segoe UI" pitchFamily="34" charset="-122"/>
              </a:rPr>
              <a:t>Chiller</a:t>
            </a:r>
            <a:r>
              <a:rPr lang="ar-EG" sz="2000" dirty="0">
                <a:solidFill>
                  <a:srgbClr val="14201A"/>
                </a:solidFill>
                <a:latin typeface="Segoe UI" pitchFamily="34" charset="0"/>
                <a:ea typeface="Segoe UI" pitchFamily="34" charset="-122"/>
              </a:rPr>
              <a:t> : </a:t>
            </a:r>
            <a:r>
              <a:rPr lang="en-US" sz="2000" dirty="0" err="1">
                <a:solidFill>
                  <a:srgbClr val="14201A"/>
                </a:solidFill>
                <a:latin typeface="Segoe UI" pitchFamily="34" charset="0"/>
                <a:ea typeface="Segoe UI" pitchFamily="34" charset="-122"/>
              </a:rPr>
              <a:t>يبرّد</a:t>
            </a:r>
            <a:r>
              <a:rPr lang="en-US" sz="2000" dirty="0">
                <a:solidFill>
                  <a:srgbClr val="14201A"/>
                </a:solidFill>
                <a:latin typeface="Segoe UI" pitchFamily="34" charset="0"/>
                <a:ea typeface="Segoe UI" pitchFamily="34" charset="-122"/>
              </a:rPr>
              <a:t> المكثفات لتقوية الفاكيوم</a:t>
            </a:r>
            <a:endParaRPr lang="en-US" sz="2000" dirty="0"/>
          </a:p>
          <a:p>
            <a:pPr marL="0" indent="0" algn="justLow" rtl="1">
              <a:lnSpc>
                <a:spcPct val="150000"/>
              </a:lnSpc>
              <a:spcAft>
                <a:spcPts val="600"/>
              </a:spcAft>
              <a:buNone/>
            </a:pPr>
            <a:r>
              <a:rPr lang="en-US" sz="2000" dirty="0">
                <a:solidFill>
                  <a:srgbClr val="14201A"/>
                </a:solidFill>
                <a:latin typeface="Segoe UI" pitchFamily="34" charset="0"/>
                <a:ea typeface="Segoe UI" pitchFamily="34" charset="-122"/>
              </a:rPr>
              <a:t>Steam Ejector</a:t>
            </a:r>
            <a:r>
              <a:rPr lang="ar-EG" sz="2000" dirty="0">
                <a:solidFill>
                  <a:srgbClr val="14201A"/>
                </a:solidFill>
                <a:latin typeface="Segoe UI" pitchFamily="34" charset="0"/>
                <a:ea typeface="Segoe UI" pitchFamily="34" charset="-122"/>
              </a:rPr>
              <a:t> : </a:t>
            </a:r>
            <a:r>
              <a:rPr lang="en-US" sz="2000" dirty="0" err="1">
                <a:solidFill>
                  <a:srgbClr val="14201A"/>
                </a:solidFill>
                <a:latin typeface="Segoe UI" pitchFamily="34" charset="0"/>
                <a:ea typeface="Segoe UI" pitchFamily="34" charset="-122"/>
              </a:rPr>
              <a:t>يسحب</a:t>
            </a:r>
            <a:r>
              <a:rPr lang="en-US" sz="2000" dirty="0">
                <a:solidFill>
                  <a:srgbClr val="14201A"/>
                </a:solidFill>
                <a:latin typeface="Segoe UI" pitchFamily="34" charset="0"/>
                <a:ea typeface="Segoe UI" pitchFamily="34" charset="-122"/>
              </a:rPr>
              <a:t> الغازات غير </a:t>
            </a:r>
            <a:r>
              <a:rPr lang="en-US" sz="2000" dirty="0" err="1">
                <a:solidFill>
                  <a:srgbClr val="14201A"/>
                </a:solidFill>
                <a:latin typeface="Segoe UI" pitchFamily="34" charset="0"/>
                <a:ea typeface="Segoe UI" pitchFamily="34" charset="-122"/>
              </a:rPr>
              <a:t>القابلة</a:t>
            </a:r>
            <a:r>
              <a:rPr lang="en-US" sz="2000" dirty="0">
                <a:solidFill>
                  <a:srgbClr val="14201A"/>
                </a:solidFill>
                <a:latin typeface="Segoe UI" pitchFamily="34" charset="0"/>
                <a:ea typeface="Segoe UI" pitchFamily="34" charset="-122"/>
              </a:rPr>
              <a:t> </a:t>
            </a:r>
            <a:r>
              <a:rPr lang="en-US" sz="2000" dirty="0" err="1">
                <a:solidFill>
                  <a:srgbClr val="14201A"/>
                </a:solidFill>
                <a:latin typeface="Segoe UI" pitchFamily="34" charset="0"/>
                <a:ea typeface="Segoe UI" pitchFamily="34" charset="-122"/>
              </a:rPr>
              <a:t>للتكثف</a:t>
            </a:r>
            <a:endParaRPr lang="en-US" sz="2000" dirty="0"/>
          </a:p>
          <a:p>
            <a:pPr marL="0" indent="0" algn="justLow" rtl="1">
              <a:lnSpc>
                <a:spcPct val="150000"/>
              </a:lnSpc>
              <a:spcAft>
                <a:spcPts val="600"/>
              </a:spcAft>
              <a:buNone/>
            </a:pPr>
            <a:r>
              <a:rPr lang="en-US" sz="2000" dirty="0">
                <a:solidFill>
                  <a:srgbClr val="14201A"/>
                </a:solidFill>
                <a:latin typeface="Segoe UI" pitchFamily="34" charset="0"/>
                <a:ea typeface="Segoe UI" pitchFamily="34" charset="-122"/>
              </a:rPr>
              <a:t>Vacuum Booster</a:t>
            </a:r>
            <a:r>
              <a:rPr lang="ar-EG" sz="2000" dirty="0">
                <a:solidFill>
                  <a:srgbClr val="14201A"/>
                </a:solidFill>
                <a:latin typeface="Segoe UI" pitchFamily="34" charset="0"/>
                <a:ea typeface="Segoe UI" pitchFamily="34" charset="-122"/>
              </a:rPr>
              <a:t> : </a:t>
            </a:r>
            <a:r>
              <a:rPr lang="en-US" sz="2000" dirty="0">
                <a:solidFill>
                  <a:srgbClr val="14201A"/>
                </a:solidFill>
                <a:latin typeface="Segoe UI" pitchFamily="34" charset="0"/>
                <a:ea typeface="Segoe UI" pitchFamily="34" charset="-122"/>
              </a:rPr>
              <a:t> يزيد قدرة السحب عند الأحمال العالية</a:t>
            </a:r>
            <a:endParaRPr lang="en-US" sz="2000" dirty="0"/>
          </a:p>
          <a:p>
            <a:pPr marL="0" indent="0" algn="justLow" rtl="1">
              <a:lnSpc>
                <a:spcPct val="150000"/>
              </a:lnSpc>
              <a:spcAft>
                <a:spcPts val="600"/>
              </a:spcAft>
              <a:buNone/>
            </a:pPr>
            <a:r>
              <a:rPr lang="en-US" sz="2000" dirty="0">
                <a:solidFill>
                  <a:srgbClr val="14201A"/>
                </a:solidFill>
                <a:latin typeface="Segoe UI" pitchFamily="34" charset="0"/>
                <a:ea typeface="Segoe UI" pitchFamily="34" charset="-122"/>
              </a:rPr>
              <a:t>Condensers + Scrubber</a:t>
            </a:r>
            <a:r>
              <a:rPr lang="ar-EG" sz="2000" dirty="0">
                <a:solidFill>
                  <a:srgbClr val="14201A"/>
                </a:solidFill>
                <a:latin typeface="Segoe UI" pitchFamily="34" charset="0"/>
                <a:ea typeface="Segoe UI" pitchFamily="34" charset="-122"/>
              </a:rPr>
              <a:t> : </a:t>
            </a:r>
            <a:r>
              <a:rPr lang="en-US" sz="2000" dirty="0">
                <a:solidFill>
                  <a:srgbClr val="14201A"/>
                </a:solidFill>
                <a:latin typeface="Segoe UI" pitchFamily="34" charset="0"/>
                <a:ea typeface="Segoe UI" pitchFamily="34" charset="-122"/>
              </a:rPr>
              <a:t> تكثيف الأحماض وربط نواتج الإزالة</a:t>
            </a:r>
            <a:endParaRPr lang="en-US" sz="2000" dirty="0"/>
          </a:p>
        </p:txBody>
      </p:sp>
      <p:pic>
        <p:nvPicPr>
          <p:cNvPr id="8" name="Image 0" descr="D:\NewProject\docs\soybean_refinery_assets\scada_vacuum_cooling.png"/>
          <p:cNvPicPr>
            <a:picLocks noChangeAspect="1"/>
          </p:cNvPicPr>
          <p:nvPr/>
        </p:nvPicPr>
        <p:blipFill>
          <a:blip r:embed="rId3"/>
          <a:stretch>
            <a:fillRect/>
          </a:stretch>
        </p:blipFill>
        <p:spPr>
          <a:xfrm>
            <a:off x="6675120" y="1051560"/>
            <a:ext cx="5120640" cy="5029200"/>
          </a:xfrm>
          <a:prstGeom prst="rect">
            <a:avLst/>
          </a:prstGeom>
        </p:spPr>
      </p:pic>
      <p:sp>
        <p:nvSpPr>
          <p:cNvPr id="9" name="Shape 6"/>
          <p:cNvSpPr/>
          <p:nvPr/>
        </p:nvSpPr>
        <p:spPr>
          <a:xfrm>
            <a:off x="0" y="6528816"/>
            <a:ext cx="12191695" cy="329184"/>
          </a:xfrm>
          <a:prstGeom prst="rect">
            <a:avLst/>
          </a:prstGeom>
          <a:solidFill>
            <a:srgbClr val="F3EFE4"/>
          </a:solidFill>
          <a:ln/>
        </p:spPr>
        <p:txBody>
          <a:bodyPr/>
          <a:lstStyle/>
          <a:p>
            <a:endParaRPr lang="en-US"/>
          </a:p>
        </p:txBody>
      </p:sp>
      <p:sp>
        <p:nvSpPr>
          <p:cNvPr id="10" name="Text 7"/>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1" name="Text 8"/>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قبل تشغيل المعادلة — Checklist</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Shape 4"/>
          <p:cNvSpPr/>
          <p:nvPr/>
        </p:nvSpPr>
        <p:spPr>
          <a:xfrm>
            <a:off x="384048" y="1051560"/>
            <a:ext cx="5577840" cy="5029200"/>
          </a:xfrm>
          <a:prstGeom prst="roundRect">
            <a:avLst>
              <a:gd name="adj" fmla="val 1455"/>
            </a:avLst>
          </a:prstGeom>
          <a:solidFill>
            <a:srgbClr val="FFF7E8"/>
          </a:solidFill>
          <a:ln w="12700">
            <a:solidFill>
              <a:srgbClr val="EFD3A0"/>
            </a:solidFill>
            <a:prstDash val="solid"/>
          </a:ln>
        </p:spPr>
        <p:txBody>
          <a:bodyPr/>
          <a:lstStyle/>
          <a:p>
            <a:endParaRPr lang="en-US"/>
          </a:p>
        </p:txBody>
      </p:sp>
      <p:sp>
        <p:nvSpPr>
          <p:cNvPr id="7" name="Text 5"/>
          <p:cNvSpPr/>
          <p:nvPr/>
        </p:nvSpPr>
        <p:spPr>
          <a:xfrm>
            <a:off x="612648" y="1280160"/>
            <a:ext cx="5120640" cy="365760"/>
          </a:xfrm>
          <a:prstGeom prst="rect">
            <a:avLst/>
          </a:prstGeom>
          <a:noFill/>
          <a:ln/>
        </p:spPr>
        <p:txBody>
          <a:bodyPr wrap="square" rtlCol="0" anchor="ctr"/>
          <a:lstStyle/>
          <a:p>
            <a:pPr marL="0" indent="0" algn="r" rtl="1">
              <a:buNone/>
            </a:pPr>
            <a:r>
              <a:rPr lang="en-US" b="1" dirty="0" err="1">
                <a:solidFill>
                  <a:srgbClr val="8A5410"/>
                </a:solidFill>
                <a:latin typeface="Segoe UI" pitchFamily="34" charset="0"/>
                <a:ea typeface="Segoe UI" pitchFamily="34" charset="-122"/>
                <a:cs typeface="Segoe UI" pitchFamily="34" charset="-120"/>
              </a:rPr>
              <a:t>مواصفات</a:t>
            </a:r>
            <a:r>
              <a:rPr lang="en-US" b="1" dirty="0">
                <a:solidFill>
                  <a:srgbClr val="8A5410"/>
                </a:solidFill>
                <a:latin typeface="Segoe UI" pitchFamily="34" charset="0"/>
                <a:ea typeface="Segoe UI" pitchFamily="34" charset="-122"/>
                <a:cs typeface="Segoe UI" pitchFamily="34" charset="-120"/>
              </a:rPr>
              <a:t> </a:t>
            </a:r>
            <a:r>
              <a:rPr lang="ar-EG" b="1" dirty="0">
                <a:solidFill>
                  <a:srgbClr val="8A5410"/>
                </a:solidFill>
                <a:latin typeface="Segoe UI" pitchFamily="34" charset="0"/>
                <a:ea typeface="Segoe UI" pitchFamily="34" charset="-122"/>
                <a:cs typeface="Segoe UI" pitchFamily="34" charset="-120"/>
              </a:rPr>
              <a:t>زيت </a:t>
            </a:r>
            <a:r>
              <a:rPr lang="en-US" b="1" dirty="0" err="1">
                <a:solidFill>
                  <a:srgbClr val="8A5410"/>
                </a:solidFill>
                <a:latin typeface="Segoe UI" pitchFamily="34" charset="0"/>
                <a:ea typeface="Segoe UI" pitchFamily="34" charset="-122"/>
                <a:cs typeface="Segoe UI" pitchFamily="34" charset="-120"/>
              </a:rPr>
              <a:t>خام</a:t>
            </a:r>
            <a:r>
              <a:rPr lang="en-US" b="1" dirty="0">
                <a:solidFill>
                  <a:srgbClr val="8A5410"/>
                </a:solidFill>
                <a:latin typeface="Segoe UI" pitchFamily="34" charset="0"/>
                <a:ea typeface="Segoe UI" pitchFamily="34" charset="-122"/>
                <a:cs typeface="Segoe UI" pitchFamily="34" charset="-120"/>
              </a:rPr>
              <a:t> </a:t>
            </a:r>
            <a:r>
              <a:rPr lang="en-US" b="1" dirty="0" err="1">
                <a:solidFill>
                  <a:srgbClr val="8A5410"/>
                </a:solidFill>
                <a:latin typeface="Segoe UI" pitchFamily="34" charset="0"/>
                <a:ea typeface="Segoe UI" pitchFamily="34" charset="-122"/>
                <a:cs typeface="Segoe UI" pitchFamily="34" charset="-120"/>
              </a:rPr>
              <a:t>مثال</a:t>
            </a:r>
            <a:r>
              <a:rPr lang="ar-EG" b="1" dirty="0">
                <a:solidFill>
                  <a:srgbClr val="8A5410"/>
                </a:solidFill>
                <a:latin typeface="Segoe UI" pitchFamily="34" charset="0"/>
                <a:ea typeface="Segoe UI" pitchFamily="34" charset="-122"/>
                <a:cs typeface="Segoe UI" pitchFamily="34" charset="-120"/>
              </a:rPr>
              <a:t>ي</a:t>
            </a:r>
            <a:endParaRPr lang="en-US" dirty="0"/>
          </a:p>
        </p:txBody>
      </p:sp>
      <p:graphicFrame>
        <p:nvGraphicFramePr>
          <p:cNvPr id="11" name="Table 0"/>
          <p:cNvGraphicFramePr>
            <a:graphicFrameLocks noGrp="1"/>
          </p:cNvGraphicFramePr>
          <p:nvPr>
            <p:extLst>
              <p:ext uri="{D42A27DB-BD31-4B8C-83A1-F6EECF244321}">
                <p14:modId xmlns:p14="http://schemas.microsoft.com/office/powerpoint/2010/main" val="933167926"/>
              </p:ext>
            </p:extLst>
          </p:nvPr>
        </p:nvGraphicFramePr>
        <p:xfrm>
          <a:off x="658368" y="1828799"/>
          <a:ext cx="5029200" cy="3590225"/>
        </p:xfrm>
        <a:graphic>
          <a:graphicData uri="http://schemas.openxmlformats.org/drawingml/2006/table">
            <a:tbl>
              <a:tblPr/>
              <a:tblGrid>
                <a:gridCol w="24688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718045">
                <a:tc>
                  <a:txBody>
                    <a:bodyPr/>
                    <a:lstStyle/>
                    <a:p>
                      <a:pPr marL="0" indent="0" algn="r">
                        <a:buNone/>
                      </a:pPr>
                      <a:r>
                        <a:rPr lang="en-US" sz="1600" b="1" dirty="0">
                          <a:solidFill>
                            <a:srgbClr val="FFFFFF"/>
                          </a:solidFill>
                          <a:latin typeface="Segoe UI" pitchFamily="34" charset="0"/>
                          <a:ea typeface="Segoe UI" pitchFamily="34" charset="-122"/>
                          <a:cs typeface="Segoe UI" pitchFamily="34" charset="-120"/>
                        </a:rPr>
                        <a:t>البيان</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D5DDD7"/>
                      </a:solidFill>
                      <a:prstDash val="solid"/>
                      <a:round/>
                      <a:headEnd type="none" w="med" len="med"/>
                      <a:tailEnd type="none" w="med" len="med"/>
                    </a:lnT>
                    <a:lnB w="0" cap="flat" cmpd="sng" algn="ctr">
                      <a:noFill/>
                    </a:lnB>
                    <a:solidFill>
                      <a:srgbClr val="16324F"/>
                    </a:solidFill>
                  </a:tcPr>
                </a:tc>
                <a:tc>
                  <a:txBody>
                    <a:bodyPr/>
                    <a:lstStyle/>
                    <a:p>
                      <a:pPr marL="0" indent="0" algn="r">
                        <a:buNone/>
                      </a:pPr>
                      <a:r>
                        <a:rPr lang="en-US" sz="1600" b="1" dirty="0">
                          <a:solidFill>
                            <a:srgbClr val="FFFFFF"/>
                          </a:solidFill>
                          <a:latin typeface="Segoe UI" pitchFamily="34" charset="0"/>
                          <a:ea typeface="Segoe UI" pitchFamily="34" charset="-122"/>
                          <a:cs typeface="Segoe UI" pitchFamily="34" charset="-120"/>
                        </a:rPr>
                        <a:t>قيمة مثال</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solidFill>
                        <a:srgbClr val="D5DDD7"/>
                      </a:solidFill>
                      <a:prstDash val="solid"/>
                      <a:round/>
                      <a:headEnd type="none" w="med" len="med"/>
                      <a:tailEnd type="none" w="med" len="med"/>
                    </a:lnT>
                    <a:lnB w="0" cap="flat" cmpd="sng" algn="ctr">
                      <a:noFill/>
                    </a:lnB>
                    <a:solidFill>
                      <a:srgbClr val="16324F"/>
                    </a:solidFill>
                  </a:tcPr>
                </a:tc>
                <a:extLst>
                  <a:ext uri="{0D108BD9-81ED-4DB2-BD59-A6C34878D82A}">
                    <a16:rowId xmlns:a16="http://schemas.microsoft.com/office/drawing/2014/main" val="10000"/>
                  </a:ext>
                </a:extLst>
              </a:tr>
              <a:tr h="718045">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FFA</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0.4 %</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718045">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Moisture</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0.1 %</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r h="718045">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Phospholipids</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0.2 %</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718045">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Colour</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r">
                        <a:buNone/>
                      </a:pPr>
                      <a:r>
                        <a:rPr lang="en-US" sz="1600" dirty="0">
                          <a:solidFill>
                            <a:srgbClr val="14201A"/>
                          </a:solidFill>
                          <a:latin typeface="Segoe UI" pitchFamily="34" charset="0"/>
                          <a:ea typeface="Segoe UI" pitchFamily="34" charset="-122"/>
                          <a:cs typeface="Segoe UI" pitchFamily="34" charset="-120"/>
                        </a:rPr>
                        <a:t>10 / 60</a:t>
                      </a:r>
                      <a:endParaRPr lang="en-US" sz="1600" dirty="0">
                        <a:latin typeface="Segoe UI" charset="0"/>
                        <a:ea typeface="Segoe UI" charset="0"/>
                        <a:cs typeface="Segoe UI" charset="0"/>
                      </a:endParaRPr>
                    </a:p>
                  </a:txBody>
                  <a:tcPr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9" name="Shape 6"/>
          <p:cNvSpPr/>
          <p:nvPr/>
        </p:nvSpPr>
        <p:spPr>
          <a:xfrm>
            <a:off x="6263640" y="1051560"/>
            <a:ext cx="5532120" cy="5029200"/>
          </a:xfrm>
          <a:prstGeom prst="roundRect">
            <a:avLst>
              <a:gd name="adj" fmla="val 1455"/>
            </a:avLst>
          </a:prstGeom>
          <a:solidFill>
            <a:srgbClr val="FFFFFF"/>
          </a:solidFill>
          <a:ln w="12700">
            <a:solidFill>
              <a:srgbClr val="D5DDD7"/>
            </a:solidFill>
            <a:prstDash val="solid"/>
          </a:ln>
        </p:spPr>
        <p:txBody>
          <a:bodyPr/>
          <a:lstStyle/>
          <a:p>
            <a:endParaRPr lang="en-US"/>
          </a:p>
        </p:txBody>
      </p:sp>
      <p:sp>
        <p:nvSpPr>
          <p:cNvPr id="10" name="Text 7"/>
          <p:cNvSpPr/>
          <p:nvPr/>
        </p:nvSpPr>
        <p:spPr>
          <a:xfrm>
            <a:off x="6492240" y="1280160"/>
            <a:ext cx="5074920" cy="365760"/>
          </a:xfrm>
          <a:prstGeom prst="rect">
            <a:avLst/>
          </a:prstGeom>
          <a:noFill/>
          <a:ln/>
        </p:spPr>
        <p:txBody>
          <a:bodyPr wrap="square" rtlCol="0" anchor="ctr"/>
          <a:lstStyle/>
          <a:p>
            <a:pPr marL="0" indent="0" algn="r" rtl="1">
              <a:buNone/>
            </a:pPr>
            <a:r>
              <a:rPr lang="en-US" sz="1600" b="1" dirty="0">
                <a:solidFill>
                  <a:srgbClr val="1F5C45"/>
                </a:solidFill>
                <a:latin typeface="Segoe UI" pitchFamily="34" charset="0"/>
                <a:ea typeface="Segoe UI" pitchFamily="34" charset="-122"/>
                <a:cs typeface="Segoe UI" pitchFamily="34" charset="-120"/>
              </a:rPr>
              <a:t>تحضير قبل التشغيل</a:t>
            </a:r>
            <a:endParaRPr lang="en-US" sz="1600" dirty="0"/>
          </a:p>
        </p:txBody>
      </p:sp>
      <p:sp>
        <p:nvSpPr>
          <p:cNvPr id="8" name="Text 8"/>
          <p:cNvSpPr/>
          <p:nvPr/>
        </p:nvSpPr>
        <p:spPr>
          <a:xfrm>
            <a:off x="6492240" y="1828800"/>
            <a:ext cx="5074920" cy="3840480"/>
          </a:xfrm>
          <a:prstGeom prst="rect">
            <a:avLst/>
          </a:prstGeom>
          <a:noFill/>
          <a:ln/>
        </p:spPr>
        <p:txBody>
          <a:bodyPr wrap="square" rtlCol="0" anchor="t"/>
          <a:lstStyle/>
          <a:p>
            <a:pPr marL="342900" indent="-342900" algn="r" rtl="1">
              <a:lnSpc>
                <a:spcPct val="200000"/>
              </a:lnSpc>
              <a:spcAft>
                <a:spcPts val="600"/>
              </a:spcAft>
              <a:buSzPct val="100000"/>
              <a:buChar char="●"/>
            </a:pPr>
            <a:r>
              <a:rPr lang="en-US" dirty="0">
                <a:solidFill>
                  <a:srgbClr val="14201A"/>
                </a:solidFill>
                <a:latin typeface="Segoe UI" pitchFamily="34" charset="0"/>
                <a:ea typeface="Segoe UI" pitchFamily="34" charset="-122"/>
                <a:cs typeface="Segoe UI" pitchFamily="34" charset="-120"/>
              </a:rPr>
              <a:t>تحضير الكيماويات وعمل cycle على طلمبات الصودا والفوسفوريك وتنك الوسيط</a:t>
            </a:r>
            <a:endParaRPr lang="en-US" dirty="0"/>
          </a:p>
          <a:p>
            <a:pPr marL="285750" indent="-285750" algn="r" rtl="1">
              <a:lnSpc>
                <a:spcPct val="200000"/>
              </a:lnSpc>
              <a:spcAft>
                <a:spcPts val="600"/>
              </a:spcAft>
              <a:buFont typeface="Arial" panose="020B0604020202020204" pitchFamily="34" charset="0"/>
              <a:buChar char="•"/>
            </a:pPr>
            <a:r>
              <a:rPr lang="en-US" dirty="0">
                <a:solidFill>
                  <a:srgbClr val="14201A"/>
                </a:solidFill>
                <a:latin typeface="Segoe UI" pitchFamily="34" charset="0"/>
                <a:ea typeface="Segoe UI" pitchFamily="34" charset="-122"/>
                <a:cs typeface="Segoe UI" pitchFamily="34" charset="-120"/>
              </a:rPr>
              <a:t>غسيل الـ separators</a:t>
            </a:r>
            <a:endParaRPr lang="en-US" dirty="0"/>
          </a:p>
          <a:p>
            <a:pPr marL="285750" indent="-285750" algn="r" rtl="1">
              <a:lnSpc>
                <a:spcPct val="200000"/>
              </a:lnSpc>
              <a:spcAft>
                <a:spcPts val="600"/>
              </a:spcAft>
              <a:buFont typeface="Arial" panose="020B0604020202020204" pitchFamily="34" charset="0"/>
              <a:buChar char="•"/>
            </a:pPr>
            <a:r>
              <a:rPr lang="en-US" dirty="0">
                <a:solidFill>
                  <a:srgbClr val="14201A"/>
                </a:solidFill>
                <a:latin typeface="Segoe UI" pitchFamily="34" charset="0"/>
                <a:ea typeface="Segoe UI" pitchFamily="34" charset="-122"/>
                <a:cs typeface="Segoe UI" pitchFamily="34" charset="-120"/>
              </a:rPr>
              <a:t>التأكد أن الخطوط مفتوح عليها</a:t>
            </a:r>
            <a:endParaRPr lang="en-US" dirty="0"/>
          </a:p>
          <a:p>
            <a:pPr marL="285750" indent="-285750" algn="r" rtl="1">
              <a:lnSpc>
                <a:spcPct val="200000"/>
              </a:lnSpc>
              <a:spcAft>
                <a:spcPts val="600"/>
              </a:spcAft>
              <a:buFont typeface="Arial" panose="020B0604020202020204" pitchFamily="34" charset="0"/>
              <a:buChar char="•"/>
            </a:pPr>
            <a:r>
              <a:rPr lang="en-US" dirty="0">
                <a:solidFill>
                  <a:srgbClr val="14201A"/>
                </a:solidFill>
                <a:latin typeface="Segoe UI" pitchFamily="34" charset="0"/>
                <a:ea typeface="Segoe UI" pitchFamily="34" charset="-122"/>
                <a:cs typeface="Segoe UI" pitchFamily="34" charset="-120"/>
              </a:rPr>
              <a:t>التأكد أن الفاكيوم شغال</a:t>
            </a:r>
            <a:endParaRPr lang="en-US" dirty="0"/>
          </a:p>
          <a:p>
            <a:pPr marL="285750" indent="-285750" algn="r" rtl="1">
              <a:lnSpc>
                <a:spcPct val="200000"/>
              </a:lnSpc>
              <a:spcAft>
                <a:spcPts val="600"/>
              </a:spcAft>
              <a:buFont typeface="Arial" panose="020B0604020202020204" pitchFamily="34" charset="0"/>
              <a:buChar char="•"/>
            </a:pPr>
            <a:r>
              <a:rPr lang="en-US" dirty="0">
                <a:solidFill>
                  <a:srgbClr val="14201A"/>
                </a:solidFill>
                <a:latin typeface="Segoe UI" pitchFamily="34" charset="0"/>
                <a:ea typeface="Segoe UI" pitchFamily="34" charset="-122"/>
                <a:cs typeface="Segoe UI" pitchFamily="34" charset="-120"/>
              </a:rPr>
              <a:t>ثم التشغيل بعد الاستعداد الكامل</a:t>
            </a:r>
            <a:endParaRPr lang="en-US" dirty="0"/>
          </a:p>
        </p:txBody>
      </p:sp>
      <p:sp>
        <p:nvSpPr>
          <p:cNvPr id="12" name="Shape 9"/>
          <p:cNvSpPr/>
          <p:nvPr/>
        </p:nvSpPr>
        <p:spPr>
          <a:xfrm>
            <a:off x="0" y="6528816"/>
            <a:ext cx="12191695" cy="329184"/>
          </a:xfrm>
          <a:prstGeom prst="rect">
            <a:avLst/>
          </a:prstGeom>
          <a:solidFill>
            <a:srgbClr val="F3EFE4"/>
          </a:solidFill>
          <a:ln/>
        </p:spPr>
        <p:txBody>
          <a:bodyPr/>
          <a:lstStyle/>
          <a:p>
            <a:endParaRPr lang="en-US"/>
          </a:p>
        </p:txBody>
      </p:sp>
      <p:sp>
        <p:nvSpPr>
          <p:cNvPr id="13" name="Text 10"/>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4" name="Text 11"/>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1" y="-76039"/>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مرحلة المعادلة والغسيل (Neutralization)</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pic>
        <p:nvPicPr>
          <p:cNvPr id="8" name="Image 0" descr="D:\NewProject\docs\soybean_refinery_assets\scada_neutralization.png"/>
          <p:cNvPicPr>
            <a:picLocks noChangeAspect="1"/>
          </p:cNvPicPr>
          <p:nvPr/>
        </p:nvPicPr>
        <p:blipFill>
          <a:blip r:embed="rId3"/>
          <a:stretch>
            <a:fillRect/>
          </a:stretch>
        </p:blipFill>
        <p:spPr>
          <a:xfrm>
            <a:off x="5707781" y="877824"/>
            <a:ext cx="6352673" cy="5596128"/>
          </a:xfrm>
          <a:prstGeom prst="rect">
            <a:avLst/>
          </a:prstGeom>
        </p:spPr>
      </p:pic>
      <p:sp>
        <p:nvSpPr>
          <p:cNvPr id="9" name="Shape 6"/>
          <p:cNvSpPr/>
          <p:nvPr/>
        </p:nvSpPr>
        <p:spPr>
          <a:xfrm>
            <a:off x="305" y="6528816"/>
            <a:ext cx="12191695" cy="329184"/>
          </a:xfrm>
          <a:prstGeom prst="rect">
            <a:avLst/>
          </a:prstGeom>
          <a:solidFill>
            <a:srgbClr val="F3EFE4"/>
          </a:solidFill>
          <a:ln/>
        </p:spPr>
        <p:txBody>
          <a:bodyPr/>
          <a:lstStyle/>
          <a:p>
            <a:endParaRPr lang="en-US"/>
          </a:p>
        </p:txBody>
      </p:sp>
      <p:sp>
        <p:nvSpPr>
          <p:cNvPr id="10" name="Text 7"/>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1" name="Text 8"/>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9 / 12</a:t>
            </a:r>
            <a:endParaRPr lang="en-US" sz="1000" dirty="0"/>
          </a:p>
        </p:txBody>
      </p:sp>
      <p:sp>
        <p:nvSpPr>
          <p:cNvPr id="16" name="Shape 4">
            <a:extLst>
              <a:ext uri="{FF2B5EF4-FFF2-40B4-BE49-F238E27FC236}">
                <a16:creationId xmlns:a16="http://schemas.microsoft.com/office/drawing/2014/main" id="{038993F2-CD42-97CF-4F92-12388AF47123}"/>
              </a:ext>
            </a:extLst>
          </p:cNvPr>
          <p:cNvSpPr/>
          <p:nvPr/>
        </p:nvSpPr>
        <p:spPr>
          <a:xfrm>
            <a:off x="269506" y="905257"/>
            <a:ext cx="5351647" cy="5568696"/>
          </a:xfrm>
          <a:prstGeom prst="roundRect">
            <a:avLst>
              <a:gd name="adj" fmla="val 1441"/>
            </a:avLst>
          </a:prstGeom>
          <a:solidFill>
            <a:srgbClr val="FFFFFF"/>
          </a:solidFill>
          <a:ln w="12700">
            <a:solidFill>
              <a:srgbClr val="D5DDD7"/>
            </a:solidFill>
            <a:prstDash val="solid"/>
          </a:ln>
        </p:spPr>
        <p:txBody>
          <a:bodyPr/>
          <a:lstStyle/>
          <a:p>
            <a:pPr marL="285750" indent="-285750" algn="r" rtl="1">
              <a:lnSpc>
                <a:spcPct val="150000"/>
              </a:lnSpc>
              <a:buFont typeface="Arial" panose="020B0604020202020204" pitchFamily="34" charset="0"/>
              <a:buChar char="•"/>
            </a:pPr>
            <a:r>
              <a:rPr lang="ar-EG" sz="2000" dirty="0"/>
              <a:t>في هذه المرحلة يتم </a:t>
            </a:r>
            <a:r>
              <a:rPr lang="ar-SA" sz="2000" dirty="0"/>
              <a:t>حقن </a:t>
            </a:r>
            <a:r>
              <a:rPr lang="ar-EG" sz="2000" dirty="0"/>
              <a:t>حمض </a:t>
            </a:r>
            <a:r>
              <a:rPr lang="ar-SA" sz="2000" dirty="0"/>
              <a:t>الفوسفوريك</a:t>
            </a:r>
            <a:r>
              <a:rPr lang="ar-EG" sz="2000" dirty="0"/>
              <a:t> الى الزيت ثم</a:t>
            </a:r>
            <a:r>
              <a:rPr lang="ar-SA" sz="2000" dirty="0"/>
              <a:t> خلط الزيت المحمض في </a:t>
            </a:r>
            <a:r>
              <a:rPr lang="en-US" sz="2000" dirty="0"/>
              <a:t>Retention </a:t>
            </a:r>
            <a:r>
              <a:rPr lang="ar-EG" sz="2000" dirty="0"/>
              <a:t>    </a:t>
            </a:r>
            <a:r>
              <a:rPr lang="en-US" sz="2000" dirty="0"/>
              <a:t>Tank</a:t>
            </a:r>
            <a:r>
              <a:rPr lang="ar-EG" sz="2000" dirty="0"/>
              <a:t> </a:t>
            </a:r>
            <a:r>
              <a:rPr lang="en-US" sz="2000" dirty="0"/>
              <a:t> </a:t>
            </a:r>
            <a:r>
              <a:rPr lang="ar-SA" sz="2000" dirty="0"/>
              <a:t>لتحويل </a:t>
            </a:r>
            <a:r>
              <a:rPr lang="ar-EG" sz="2000" dirty="0"/>
              <a:t>الفسفولبيدات</a:t>
            </a:r>
            <a:r>
              <a:rPr lang="ar-SA" sz="2000" dirty="0"/>
              <a:t> </a:t>
            </a:r>
            <a:r>
              <a:rPr lang="ar-EG" sz="2000" dirty="0"/>
              <a:t>ال</a:t>
            </a:r>
            <a:r>
              <a:rPr lang="ar-SA" sz="2000" dirty="0"/>
              <a:t>غير القابلة للذوبان إلى صموغ قابلة للترسيب.</a:t>
            </a:r>
            <a:endParaRPr lang="ar-EG" sz="2000" dirty="0"/>
          </a:p>
          <a:p>
            <a:pPr marL="285750" indent="-285750" algn="r" rtl="1">
              <a:lnSpc>
                <a:spcPct val="150000"/>
              </a:lnSpc>
              <a:buFont typeface="Arial" panose="020B0604020202020204" pitchFamily="34" charset="0"/>
              <a:buChar char="•"/>
            </a:pPr>
            <a:r>
              <a:rPr lang="ar-EG" sz="2000" dirty="0"/>
              <a:t>حقن الصودا الكاوية </a:t>
            </a:r>
            <a:r>
              <a:rPr lang="en-US" sz="2000" dirty="0"/>
              <a:t>: </a:t>
            </a:r>
            <a:r>
              <a:rPr lang="ar-EG" sz="2000" dirty="0"/>
              <a:t>لمعادلة الأحماض الدهنية الحرة وتكوين الصابون   </a:t>
            </a:r>
            <a:r>
              <a:rPr lang="en-US" sz="2000" dirty="0"/>
              <a:t>(Soap stock)</a:t>
            </a:r>
            <a:r>
              <a:rPr lang="ar-EG" sz="2000" dirty="0"/>
              <a:t> </a:t>
            </a:r>
          </a:p>
          <a:p>
            <a:pPr marL="285750" indent="-285750" algn="r" rtl="1">
              <a:lnSpc>
                <a:spcPct val="150000"/>
              </a:lnSpc>
              <a:buFont typeface="Arial" panose="020B0604020202020204" pitchFamily="34" charset="0"/>
              <a:buChar char="•"/>
            </a:pPr>
            <a:r>
              <a:rPr lang="ar-EG" sz="2000" dirty="0"/>
              <a:t>الـ </a:t>
            </a:r>
            <a:r>
              <a:rPr lang="en-US" sz="2000" dirty="0"/>
              <a:t>Separator </a:t>
            </a:r>
            <a:r>
              <a:rPr lang="ar-EG" sz="2000" dirty="0"/>
              <a:t>الأول </a:t>
            </a:r>
            <a:r>
              <a:rPr lang="en-US" sz="2000" dirty="0"/>
              <a:t>: </a:t>
            </a:r>
            <a:r>
              <a:rPr lang="ar-EG" sz="2000" dirty="0"/>
              <a:t> فصل الصابون والشوائب الثقيلة عن الزيت بكفاءة عالية.</a:t>
            </a:r>
          </a:p>
          <a:p>
            <a:pPr marL="285750" indent="-285750" algn="r" rtl="1">
              <a:lnSpc>
                <a:spcPct val="150000"/>
              </a:lnSpc>
              <a:buFont typeface="Arial" panose="020B0604020202020204" pitchFamily="34" charset="0"/>
              <a:buChar char="•"/>
            </a:pPr>
            <a:r>
              <a:rPr lang="ar-EG" sz="2000" dirty="0"/>
              <a:t> الغسيل بالماء المقطر وحمض الستريك عبر الـ </a:t>
            </a:r>
            <a:r>
              <a:rPr lang="en-US" sz="2000" dirty="0"/>
              <a:t>Separator </a:t>
            </a:r>
            <a:r>
              <a:rPr lang="ar-EG" sz="2000" dirty="0"/>
              <a:t>الثاني</a:t>
            </a:r>
            <a:r>
              <a:rPr lang="en-US" sz="2000" dirty="0"/>
              <a:t> </a:t>
            </a:r>
            <a:r>
              <a:rPr lang="ar-EG" sz="2000" dirty="0"/>
              <a:t>للتخلص من بقايا الصابون</a:t>
            </a:r>
            <a:r>
              <a:rPr lang="en-US" sz="2000" dirty="0"/>
              <a:t> ,</a:t>
            </a:r>
            <a:r>
              <a:rPr lang="ar-EG" sz="2000" dirty="0"/>
              <a:t> والشوائب القابلة للذوبان</a:t>
            </a:r>
          </a:p>
          <a:p>
            <a:pPr marL="285750" indent="-285750" algn="r" rtl="1">
              <a:lnSpc>
                <a:spcPct val="150000"/>
              </a:lnSpc>
              <a:buFont typeface="Arial" panose="020B0604020202020204" pitchFamily="34" charset="0"/>
              <a:buChar char="•"/>
            </a:pPr>
            <a:r>
              <a:rPr lang="ar-EG" sz="2000" dirty="0"/>
              <a:t>التجفيف لإزالة المياه وخفض الرطوبة إلى أقل من 0.05%.</a:t>
            </a:r>
          </a:p>
          <a:p>
            <a:pPr algn="r" rtl="1"/>
            <a:endParaRPr lang="ar-SA"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مرحلة التبييض والترشيح (Bleaching)</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Shape 4"/>
          <p:cNvSpPr/>
          <p:nvPr/>
        </p:nvSpPr>
        <p:spPr>
          <a:xfrm>
            <a:off x="256032" y="786383"/>
            <a:ext cx="5852160" cy="5364160"/>
          </a:xfrm>
          <a:prstGeom prst="roundRect">
            <a:avLst>
              <a:gd name="adj" fmla="val 1441"/>
            </a:avLst>
          </a:prstGeom>
          <a:solidFill>
            <a:srgbClr val="FFFFFF"/>
          </a:solidFill>
          <a:ln w="12700">
            <a:solidFill>
              <a:srgbClr val="D5DDD7"/>
            </a:solidFill>
            <a:prstDash val="solid"/>
          </a:ln>
        </p:spPr>
        <p:txBody>
          <a:bodyPr/>
          <a:lstStyle/>
          <a:p>
            <a:endParaRPr lang="en-US" dirty="0"/>
          </a:p>
        </p:txBody>
      </p:sp>
      <p:sp>
        <p:nvSpPr>
          <p:cNvPr id="7" name="Text 5"/>
          <p:cNvSpPr/>
          <p:nvPr/>
        </p:nvSpPr>
        <p:spPr>
          <a:xfrm>
            <a:off x="612648" y="813816"/>
            <a:ext cx="5394960" cy="5266944"/>
          </a:xfrm>
          <a:prstGeom prst="rect">
            <a:avLst/>
          </a:prstGeom>
          <a:noFill/>
          <a:ln/>
        </p:spPr>
        <p:txBody>
          <a:bodyPr wrap="square" rtlCol="0" anchor="t"/>
          <a:lstStyle/>
          <a:p>
            <a:pPr marL="285750" indent="-285750" algn="r" rtl="1">
              <a:lnSpc>
                <a:spcPct val="150000"/>
              </a:lnSpc>
              <a:spcAft>
                <a:spcPts val="600"/>
              </a:spcAft>
              <a:buSzPct val="100000"/>
              <a:buFont typeface="Arial" panose="020B0604020202020204" pitchFamily="34" charset="0"/>
              <a:buChar char="•"/>
            </a:pPr>
            <a:r>
              <a:rPr lang="ar-EG" sz="1600" dirty="0"/>
              <a:t>الهدف من مرحلة التبيض هي إزالة الصبغات الموجودة بالزيت مثل الكلوروفيل والكاروتين وبقايا الصابون والرطوبة وبعض المعادن المتبقية</a:t>
            </a:r>
          </a:p>
          <a:p>
            <a:pPr marL="285750" indent="-285750" algn="r" rtl="1">
              <a:lnSpc>
                <a:spcPct val="150000"/>
              </a:lnSpc>
              <a:spcAft>
                <a:spcPts val="600"/>
              </a:spcAft>
              <a:buSzPct val="100000"/>
              <a:buFont typeface="Arial" panose="020B0604020202020204" pitchFamily="34" charset="0"/>
              <a:buChar char="•"/>
            </a:pPr>
            <a:r>
              <a:rPr lang="ar-EG" sz="1600" dirty="0"/>
              <a:t>يتم استخدام تراب التبييض كمادة ممتزة لهذه الصبغات وتكون نسبة الإضافة من 5- 7 كيلوجرام / طن من الزيت طبقا لدرجة اللون المطلوبة في المواصفة</a:t>
            </a:r>
          </a:p>
          <a:p>
            <a:pPr marL="285750" indent="-285750" algn="r" rtl="1">
              <a:lnSpc>
                <a:spcPct val="150000"/>
              </a:lnSpc>
              <a:spcAft>
                <a:spcPts val="600"/>
              </a:spcAft>
              <a:buSzPct val="100000"/>
              <a:buFont typeface="Arial" panose="020B0604020202020204" pitchFamily="34" charset="0"/>
              <a:buChar char="•"/>
            </a:pPr>
            <a:r>
              <a:rPr lang="ar-EG" sz="1600" dirty="0"/>
              <a:t>يتم استخدام الفاكيوم في هذه المرحلة لتقليل الاكسدة وإزالة الرطوبة وتحسين كفاءة التبييض</a:t>
            </a:r>
          </a:p>
          <a:p>
            <a:pPr marL="285750" indent="-285750" algn="r" rtl="1">
              <a:lnSpc>
                <a:spcPct val="150000"/>
              </a:lnSpc>
              <a:spcAft>
                <a:spcPts val="600"/>
              </a:spcAft>
              <a:buSzPct val="100000"/>
              <a:buFont typeface="Arial" panose="020B0604020202020204" pitchFamily="34" charset="0"/>
              <a:buChar char="•"/>
            </a:pPr>
            <a:r>
              <a:rPr lang="ar-EG" sz="1600" dirty="0"/>
              <a:t>بعد ذلك يتم فصل تراب التبييض المستهلك تماماً عن الزيت عبر صفائح الترشيح الدقيقة.</a:t>
            </a:r>
          </a:p>
          <a:p>
            <a:pPr marL="285750" indent="-285750" algn="r" rtl="1">
              <a:lnSpc>
                <a:spcPct val="150000"/>
              </a:lnSpc>
              <a:spcAft>
                <a:spcPts val="600"/>
              </a:spcAft>
              <a:buSzPct val="100000"/>
              <a:buFont typeface="Arial" panose="020B0604020202020204" pitchFamily="34" charset="0"/>
              <a:buChar char="•"/>
            </a:pPr>
            <a:r>
              <a:rPr lang="ar-EG" sz="1600" dirty="0"/>
              <a:t>ثم يمر الزيت عبر</a:t>
            </a:r>
            <a:r>
              <a:rPr lang="en-US" sz="1600" dirty="0"/>
              <a:t>Polishing Filters</a:t>
            </a:r>
            <a:r>
              <a:rPr lang="ar-EG" sz="1600" dirty="0"/>
              <a:t> لتصفية نهائية لإزالة أي بقايا ميكرونية دقيقة من خلال فلاتر 5 ميكرون.</a:t>
            </a:r>
          </a:p>
          <a:p>
            <a:pPr marL="285750" indent="-285750" algn="r" rtl="1">
              <a:lnSpc>
                <a:spcPct val="150000"/>
              </a:lnSpc>
              <a:spcAft>
                <a:spcPts val="600"/>
              </a:spcAft>
              <a:buSzPct val="100000"/>
              <a:buFont typeface="Arial" panose="020B0604020202020204" pitchFamily="34" charset="0"/>
              <a:buChar char="•"/>
            </a:pPr>
            <a:r>
              <a:rPr lang="ar-EG" sz="1600" dirty="0"/>
              <a:t>يمر الزيت بعد ذلك الى </a:t>
            </a:r>
            <a:r>
              <a:rPr lang="en-US" sz="1600" dirty="0"/>
              <a:t>Deaerator</a:t>
            </a:r>
            <a:r>
              <a:rPr lang="ar-EG" sz="1600" dirty="0"/>
              <a:t> لسحب الهواء والأكسجين الذائب تماماً لضمان نقاء كامل قبل مرحلة نزع الروائح.</a:t>
            </a:r>
          </a:p>
          <a:p>
            <a:pPr marL="285750" indent="-285750" algn="r" rtl="1">
              <a:spcAft>
                <a:spcPts val="600"/>
              </a:spcAft>
              <a:buSzPct val="100000"/>
              <a:buFont typeface="Arial" panose="020B0604020202020204" pitchFamily="34" charset="0"/>
              <a:buChar char="•"/>
            </a:pPr>
            <a:endParaRPr lang="ar-EG" sz="1400" dirty="0"/>
          </a:p>
          <a:p>
            <a:pPr marL="285750" indent="-285750" algn="r" rtl="1">
              <a:spcAft>
                <a:spcPts val="600"/>
              </a:spcAft>
              <a:buSzPct val="100000"/>
              <a:buFont typeface="Arial" panose="020B0604020202020204" pitchFamily="34" charset="0"/>
              <a:buChar char="•"/>
            </a:pPr>
            <a:endParaRPr lang="ar-EG" sz="1400" dirty="0"/>
          </a:p>
          <a:p>
            <a:pPr marL="285750" indent="-285750" algn="r" rtl="1">
              <a:spcAft>
                <a:spcPts val="600"/>
              </a:spcAft>
              <a:buSzPct val="100000"/>
              <a:buFont typeface="Arial" panose="020B0604020202020204" pitchFamily="34" charset="0"/>
              <a:buChar char="•"/>
            </a:pPr>
            <a:endParaRPr lang="ar-EG" sz="1300" dirty="0"/>
          </a:p>
          <a:p>
            <a:pPr algn="r">
              <a:spcAft>
                <a:spcPts val="600"/>
              </a:spcAft>
              <a:buSzPct val="100000"/>
            </a:pPr>
            <a:r>
              <a:rPr lang="ar-EG" sz="1300" dirty="0"/>
              <a:t> </a:t>
            </a:r>
          </a:p>
          <a:p>
            <a:pPr algn="r">
              <a:spcAft>
                <a:spcPts val="600"/>
              </a:spcAft>
              <a:buSzPct val="100000"/>
            </a:pPr>
            <a:endParaRPr lang="en-US" sz="1300" dirty="0"/>
          </a:p>
        </p:txBody>
      </p:sp>
      <p:pic>
        <p:nvPicPr>
          <p:cNvPr id="8" name="Image 0" descr="D:\NewProject\docs\soybean_refinery_assets\scada_bleaching.png"/>
          <p:cNvPicPr>
            <a:picLocks noChangeAspect="1"/>
          </p:cNvPicPr>
          <p:nvPr/>
        </p:nvPicPr>
        <p:blipFill>
          <a:blip r:embed="rId3"/>
          <a:stretch>
            <a:fillRect/>
          </a:stretch>
        </p:blipFill>
        <p:spPr>
          <a:xfrm>
            <a:off x="6492240" y="1005840"/>
            <a:ext cx="5303520" cy="5074920"/>
          </a:xfrm>
          <a:prstGeom prst="rect">
            <a:avLst/>
          </a:prstGeom>
        </p:spPr>
      </p:pic>
      <p:sp>
        <p:nvSpPr>
          <p:cNvPr id="9" name="Shape 6"/>
          <p:cNvSpPr/>
          <p:nvPr/>
        </p:nvSpPr>
        <p:spPr>
          <a:xfrm>
            <a:off x="0" y="6528816"/>
            <a:ext cx="12191695" cy="329184"/>
          </a:xfrm>
          <a:prstGeom prst="rect">
            <a:avLst/>
          </a:prstGeom>
          <a:solidFill>
            <a:srgbClr val="F3EFE4"/>
          </a:solidFill>
          <a:ln/>
        </p:spPr>
        <p:txBody>
          <a:bodyPr/>
          <a:lstStyle/>
          <a:p>
            <a:endParaRPr lang="en-US"/>
          </a:p>
        </p:txBody>
      </p:sp>
      <p:sp>
        <p:nvSpPr>
          <p:cNvPr id="10" name="Text 7"/>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1" name="Text 8"/>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8F2"/>
          </a:solidFill>
          <a:ln/>
        </p:spPr>
        <p:txBody>
          <a:bodyPr/>
          <a:lstStyle/>
          <a:p>
            <a:endParaRPr lang="en-US"/>
          </a:p>
        </p:txBody>
      </p:sp>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4" name="Text 2"/>
          <p:cNvSpPr/>
          <p:nvPr/>
        </p:nvSpPr>
        <p:spPr>
          <a:xfrm>
            <a:off x="566928" y="182880"/>
            <a:ext cx="11240719" cy="512064"/>
          </a:xfrm>
          <a:prstGeom prst="rect">
            <a:avLst/>
          </a:prstGeom>
          <a:noFill/>
          <a:ln/>
        </p:spPr>
        <p:txBody>
          <a:bodyPr wrap="square" rtlCol="0" anchor="ctr"/>
          <a:lstStyle/>
          <a:p>
            <a:pPr marL="0" indent="0" algn="r" rtl="1">
              <a:buNone/>
            </a:pPr>
            <a:r>
              <a:rPr lang="en-US" sz="2400" b="1" dirty="0">
                <a:solidFill>
                  <a:srgbClr val="16324F"/>
                </a:solidFill>
                <a:latin typeface="Segoe UI" pitchFamily="34" charset="0"/>
                <a:ea typeface="Segoe UI" pitchFamily="34" charset="-122"/>
                <a:cs typeface="Segoe UI" pitchFamily="34" charset="-120"/>
              </a:rPr>
              <a:t>مرحلة إزالة الروائح (Deodorization)</a:t>
            </a:r>
            <a:endParaRPr lang="en-US" sz="2400" dirty="0"/>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6" name="Shape 4"/>
          <p:cNvSpPr/>
          <p:nvPr/>
        </p:nvSpPr>
        <p:spPr>
          <a:xfrm>
            <a:off x="124647" y="981296"/>
            <a:ext cx="5575114" cy="5074920"/>
          </a:xfrm>
          <a:prstGeom prst="roundRect">
            <a:avLst>
              <a:gd name="adj" fmla="val 1441"/>
            </a:avLst>
          </a:prstGeom>
          <a:solidFill>
            <a:srgbClr val="FFFFFF"/>
          </a:solidFill>
          <a:ln w="12700">
            <a:solidFill>
              <a:srgbClr val="D5DDD7"/>
            </a:solidFill>
            <a:prstDash val="solid"/>
          </a:ln>
        </p:spPr>
        <p:txBody>
          <a:bodyPr/>
          <a:lstStyle/>
          <a:p>
            <a:endParaRPr lang="en-US"/>
          </a:p>
        </p:txBody>
      </p:sp>
      <p:sp>
        <p:nvSpPr>
          <p:cNvPr id="7" name="Text 5"/>
          <p:cNvSpPr/>
          <p:nvPr/>
        </p:nvSpPr>
        <p:spPr>
          <a:xfrm>
            <a:off x="155448" y="1188720"/>
            <a:ext cx="5417579" cy="4663440"/>
          </a:xfrm>
          <a:prstGeom prst="rect">
            <a:avLst/>
          </a:prstGeom>
          <a:noFill/>
          <a:ln/>
        </p:spPr>
        <p:txBody>
          <a:bodyPr wrap="square" rtlCol="0" anchor="t"/>
          <a:lstStyle/>
          <a:p>
            <a:pPr marL="285750" indent="-285750" algn="r" rtl="1">
              <a:spcAft>
                <a:spcPts val="600"/>
              </a:spcAft>
              <a:buSzPct val="100000"/>
              <a:buFont typeface="Arial" panose="020B0604020202020204" pitchFamily="34" charset="0"/>
              <a:buChar char="•"/>
            </a:pPr>
            <a:r>
              <a:rPr lang="ar-EG" sz="1600" dirty="0"/>
              <a:t>الهدف من هذه المرحلة إزالة </a:t>
            </a:r>
            <a:r>
              <a:rPr lang="en-US" sz="1600" dirty="0"/>
              <a:t>volatile compounds </a:t>
            </a:r>
            <a:r>
              <a:rPr lang="ar-EG" sz="1600" dirty="0"/>
              <a:t> التي تسبب الرائحة والطعم الغير مرغوب فيه وأيضا إزالة بعض الاحماض الدهنية المتبقية .</a:t>
            </a:r>
          </a:p>
          <a:p>
            <a:pPr marL="285750" indent="-285750" algn="r" rtl="1">
              <a:spcAft>
                <a:spcPts val="600"/>
              </a:spcAft>
              <a:buSzPct val="100000"/>
              <a:buFont typeface="Arial" panose="020B0604020202020204" pitchFamily="34" charset="0"/>
              <a:buChar char="•"/>
            </a:pPr>
            <a:r>
              <a:rPr lang="ar-EG" sz="1600" dirty="0"/>
              <a:t>يتم إزالة الريحة من خلال بخار التقليب ودرجة الحرارة العالية التي تصل الى 250 درجة مئوية وأيضا من خلال ضغط الفاكيوم العالي.</a:t>
            </a:r>
          </a:p>
          <a:p>
            <a:pPr marL="285750" indent="-285750" algn="r" rtl="1">
              <a:spcAft>
                <a:spcPts val="600"/>
              </a:spcAft>
              <a:buSzPct val="100000"/>
              <a:buFont typeface="Arial" panose="020B0604020202020204" pitchFamily="34" charset="0"/>
              <a:buChar char="•"/>
            </a:pPr>
            <a:r>
              <a:rPr lang="ar-SA" sz="1600" dirty="0"/>
              <a:t>تسخين الزيت تدريجياً عبر نظام الـ </a:t>
            </a:r>
            <a:r>
              <a:rPr lang="en-US" sz="1600" dirty="0"/>
              <a:t>Economizer </a:t>
            </a:r>
            <a:r>
              <a:rPr lang="ar-SA" sz="1600" dirty="0"/>
              <a:t>ثم </a:t>
            </a:r>
            <a:r>
              <a:rPr lang="ar-SA" sz="1600" dirty="0" err="1"/>
              <a:t>الهيتر</a:t>
            </a:r>
            <a:r>
              <a:rPr lang="ar-SA" sz="1600" dirty="0"/>
              <a:t> العالي لدرجات حرارة التقطير المطلوبة.</a:t>
            </a:r>
            <a:endParaRPr lang="ar-EG" sz="1600" dirty="0"/>
          </a:p>
          <a:p>
            <a:pPr marL="285750" indent="-285750" algn="r" rtl="1">
              <a:spcAft>
                <a:spcPts val="600"/>
              </a:spcAft>
              <a:buSzPct val="100000"/>
              <a:buFont typeface="Arial" panose="020B0604020202020204" pitchFamily="34" charset="0"/>
              <a:buChar char="•"/>
            </a:pPr>
            <a:r>
              <a:rPr lang="ar-SA" sz="1600" dirty="0"/>
              <a:t>حقن البخار الحي </a:t>
            </a:r>
            <a:r>
              <a:rPr lang="en-US" sz="1600" dirty="0"/>
              <a:t>Stripping Steam</a:t>
            </a:r>
            <a:r>
              <a:rPr lang="ar-EG" sz="1600" dirty="0"/>
              <a:t> </a:t>
            </a:r>
            <a:r>
              <a:rPr lang="en-US" sz="1600" dirty="0"/>
              <a:t> </a:t>
            </a:r>
            <a:r>
              <a:rPr lang="ar-SA" sz="1600" dirty="0"/>
              <a:t>تحت </a:t>
            </a:r>
            <a:r>
              <a:rPr lang="ar-SA" sz="1600" dirty="0" err="1"/>
              <a:t>فاكيوم</a:t>
            </a:r>
            <a:r>
              <a:rPr lang="ar-SA" sz="1600" dirty="0"/>
              <a:t> قوي لنزع المركبات المتطايرة المسببة للرائحة والأحماض المتبقية.</a:t>
            </a:r>
            <a:endParaRPr lang="ar-EG" sz="1600" dirty="0"/>
          </a:p>
          <a:p>
            <a:pPr marL="285750" indent="-285750" algn="r" rtl="1">
              <a:spcAft>
                <a:spcPts val="600"/>
              </a:spcAft>
              <a:buSzPct val="100000"/>
              <a:buFont typeface="Arial" panose="020B0604020202020204" pitchFamily="34" charset="0"/>
              <a:buChar char="•"/>
            </a:pPr>
            <a:r>
              <a:rPr lang="ar-SA" sz="1600" dirty="0"/>
              <a:t>تشغيل منظومة الغسيل </a:t>
            </a:r>
            <a:r>
              <a:rPr lang="en-US" sz="1600" dirty="0"/>
              <a:t>Scrubber</a:t>
            </a:r>
            <a:r>
              <a:rPr lang="ar-EG" sz="1600" dirty="0"/>
              <a:t> </a:t>
            </a:r>
            <a:r>
              <a:rPr lang="en-US" sz="1600" dirty="0"/>
              <a:t> </a:t>
            </a:r>
            <a:r>
              <a:rPr lang="ar-SA" sz="1600" dirty="0"/>
              <a:t>لالتقاط النواتج المتطايرة بسلامة تامة.</a:t>
            </a:r>
            <a:endParaRPr lang="ar-EG" sz="1600" dirty="0"/>
          </a:p>
          <a:p>
            <a:pPr marL="285750" indent="-285750" algn="r" rtl="1">
              <a:spcAft>
                <a:spcPts val="600"/>
              </a:spcAft>
              <a:buSzPct val="100000"/>
              <a:buFont typeface="Arial" panose="020B0604020202020204" pitchFamily="34" charset="0"/>
              <a:buChar char="•"/>
            </a:pPr>
            <a:r>
              <a:rPr lang="ar-SA" sz="2400" b="1" dirty="0"/>
              <a:t>التبريد والتلميع والتخزين النهائي</a:t>
            </a:r>
          </a:p>
          <a:p>
            <a:pPr marL="285750" indent="-285750" algn="r" rtl="1">
              <a:spcAft>
                <a:spcPts val="600"/>
              </a:spcAft>
              <a:buSzPct val="100000"/>
              <a:buFont typeface="Arial" panose="020B0604020202020204" pitchFamily="34" charset="0"/>
              <a:buChar char="•"/>
            </a:pPr>
            <a:r>
              <a:rPr lang="ar-SA" sz="1600" dirty="0"/>
              <a:t>التبريد التدريجي للزيت المكرر عبر مبادلات حرارية متقدمة (زيت/زيت وزيت/ماء).</a:t>
            </a:r>
          </a:p>
          <a:p>
            <a:pPr marL="285750" indent="-285750" algn="r" rtl="1">
              <a:spcAft>
                <a:spcPts val="600"/>
              </a:spcAft>
              <a:buSzPct val="100000"/>
              <a:buFont typeface="Arial" panose="020B0604020202020204" pitchFamily="34" charset="0"/>
              <a:buChar char="•"/>
            </a:pPr>
            <a:r>
              <a:rPr lang="ar-SA" sz="1600" dirty="0"/>
              <a:t>مرور الزيت على فلاتر تلميع أخيرة لضمان أعلى لمعان ونقاء بصري.</a:t>
            </a:r>
          </a:p>
          <a:p>
            <a:pPr marL="285750" indent="-285750" algn="r" rtl="1">
              <a:spcAft>
                <a:spcPts val="600"/>
              </a:spcAft>
              <a:buSzPct val="100000"/>
              <a:buFont typeface="Arial" panose="020B0604020202020204" pitchFamily="34" charset="0"/>
              <a:buChar char="•"/>
            </a:pPr>
            <a:r>
              <a:rPr lang="ar-SA" sz="1600" dirty="0"/>
              <a:t>الضخ الآمن والمستمر إلى </a:t>
            </a:r>
            <a:r>
              <a:rPr lang="ar-EG" sz="1600" dirty="0"/>
              <a:t>التنكات </a:t>
            </a:r>
            <a:r>
              <a:rPr lang="ar-SA" sz="1600" dirty="0"/>
              <a:t>النهائية</a:t>
            </a:r>
            <a:r>
              <a:rPr lang="ar-EG" sz="1600" dirty="0"/>
              <a:t> </a:t>
            </a:r>
            <a:r>
              <a:rPr lang="ar-SA" sz="1600" dirty="0"/>
              <a:t>(</a:t>
            </a:r>
            <a:r>
              <a:rPr lang="en-US" sz="1600" dirty="0"/>
              <a:t>Tanks 1003-1005</a:t>
            </a:r>
            <a:r>
              <a:rPr lang="ar-EG" sz="1600" dirty="0"/>
              <a:t>)</a:t>
            </a:r>
            <a:endParaRPr lang="ar-SA" sz="1600" dirty="0"/>
          </a:p>
          <a:p>
            <a:pPr marL="285750" indent="-285750" algn="r" rtl="1">
              <a:spcAft>
                <a:spcPts val="600"/>
              </a:spcAft>
              <a:buSzPct val="100000"/>
              <a:buFont typeface="Arial" panose="020B0604020202020204" pitchFamily="34" charset="0"/>
              <a:buChar char="•"/>
            </a:pPr>
            <a:endParaRPr lang="en-US" sz="1300" dirty="0"/>
          </a:p>
        </p:txBody>
      </p:sp>
      <p:pic>
        <p:nvPicPr>
          <p:cNvPr id="8" name="Image 0" descr="D:\NewProject\docs\soybean_refinery_assets\scada_deodorization.png"/>
          <p:cNvPicPr>
            <a:picLocks noChangeAspect="1"/>
          </p:cNvPicPr>
          <p:nvPr/>
        </p:nvPicPr>
        <p:blipFill>
          <a:blip r:embed="rId3"/>
          <a:stretch>
            <a:fillRect/>
          </a:stretch>
        </p:blipFill>
        <p:spPr>
          <a:xfrm>
            <a:off x="5730562" y="1005840"/>
            <a:ext cx="6065198" cy="5074920"/>
          </a:xfrm>
          <a:prstGeom prst="rect">
            <a:avLst/>
          </a:prstGeom>
        </p:spPr>
      </p:pic>
      <p:sp>
        <p:nvSpPr>
          <p:cNvPr id="9" name="Shape 6"/>
          <p:cNvSpPr/>
          <p:nvPr/>
        </p:nvSpPr>
        <p:spPr>
          <a:xfrm>
            <a:off x="0" y="6528816"/>
            <a:ext cx="12191695" cy="329184"/>
          </a:xfrm>
          <a:prstGeom prst="rect">
            <a:avLst/>
          </a:prstGeom>
          <a:solidFill>
            <a:srgbClr val="F3EFE4"/>
          </a:solidFill>
          <a:ln/>
        </p:spPr>
        <p:txBody>
          <a:bodyPr/>
          <a:lstStyle/>
          <a:p>
            <a:endParaRPr lang="en-US"/>
          </a:p>
        </p:txBody>
      </p:sp>
      <p:sp>
        <p:nvSpPr>
          <p:cNvPr id="10" name="Text 7"/>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1" name="Text 8"/>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Shape 1"/>
          <p:cNvSpPr/>
          <p:nvPr/>
        </p:nvSpPr>
        <p:spPr>
          <a:xfrm>
            <a:off x="384048" y="237744"/>
            <a:ext cx="100584" cy="457200"/>
          </a:xfrm>
          <a:prstGeom prst="rect">
            <a:avLst/>
          </a:prstGeom>
          <a:solidFill>
            <a:srgbClr val="C47A1A"/>
          </a:solidFill>
          <a:ln/>
        </p:spPr>
        <p:txBody>
          <a:bodyPr/>
          <a:lstStyle/>
          <a:p>
            <a:endParaRPr lang="en-US"/>
          </a:p>
        </p:txBody>
      </p:sp>
      <p:sp>
        <p:nvSpPr>
          <p:cNvPr id="5" name="Shape 3"/>
          <p:cNvSpPr/>
          <p:nvPr/>
        </p:nvSpPr>
        <p:spPr>
          <a:xfrm>
            <a:off x="384048" y="786384"/>
            <a:ext cx="11423599" cy="27432"/>
          </a:xfrm>
          <a:prstGeom prst="rect">
            <a:avLst/>
          </a:prstGeom>
          <a:solidFill>
            <a:srgbClr val="1F5C45"/>
          </a:solidFill>
          <a:ln/>
        </p:spPr>
        <p:txBody>
          <a:bodyPr/>
          <a:lstStyle/>
          <a:p>
            <a:endParaRPr lang="en-US"/>
          </a:p>
        </p:txBody>
      </p:sp>
      <p:sp>
        <p:nvSpPr>
          <p:cNvPr id="15" name="Shape 13"/>
          <p:cNvSpPr/>
          <p:nvPr/>
        </p:nvSpPr>
        <p:spPr>
          <a:xfrm>
            <a:off x="384048" y="800100"/>
            <a:ext cx="11423599" cy="5641848"/>
          </a:xfrm>
          <a:prstGeom prst="roundRect">
            <a:avLst>
              <a:gd name="adj" fmla="val 5714"/>
            </a:avLst>
          </a:prstGeom>
          <a:solidFill>
            <a:srgbClr val="16324F"/>
          </a:solidFill>
          <a:ln w="12700">
            <a:solidFill>
              <a:srgbClr val="16324F"/>
            </a:solidFill>
            <a:prstDash val="solid"/>
          </a:ln>
        </p:spPr>
        <p:txBody>
          <a:bodyPr/>
          <a:lstStyle/>
          <a:p>
            <a:endParaRPr lang="en-US"/>
          </a:p>
        </p:txBody>
      </p:sp>
      <p:sp>
        <p:nvSpPr>
          <p:cNvPr id="16" name="Text 14"/>
          <p:cNvSpPr/>
          <p:nvPr/>
        </p:nvSpPr>
        <p:spPr>
          <a:xfrm>
            <a:off x="3570973" y="2310063"/>
            <a:ext cx="5496025" cy="2723949"/>
          </a:xfrm>
          <a:prstGeom prst="rect">
            <a:avLst/>
          </a:prstGeom>
          <a:noFill/>
          <a:ln/>
        </p:spPr>
        <p:txBody>
          <a:bodyPr wrap="square" rtlCol="0" anchor="ctr"/>
          <a:lstStyle/>
          <a:p>
            <a:pPr marL="0" indent="0" algn="ctr" rtl="1">
              <a:buNone/>
            </a:pPr>
            <a:r>
              <a:rPr lang="ar-EG" sz="8000" b="1" dirty="0">
                <a:solidFill>
                  <a:srgbClr val="FFFFFF"/>
                </a:solidFill>
                <a:latin typeface="Segoe UI" pitchFamily="34" charset="0"/>
                <a:ea typeface="Segoe UI" pitchFamily="34" charset="-122"/>
              </a:rPr>
              <a:t>أي أسئلة </a:t>
            </a:r>
            <a:endParaRPr lang="en-US" sz="8000" dirty="0"/>
          </a:p>
        </p:txBody>
      </p:sp>
      <p:sp>
        <p:nvSpPr>
          <p:cNvPr id="17" name="Shape 15"/>
          <p:cNvSpPr/>
          <p:nvPr/>
        </p:nvSpPr>
        <p:spPr>
          <a:xfrm>
            <a:off x="0" y="6528816"/>
            <a:ext cx="12191695" cy="329184"/>
          </a:xfrm>
          <a:prstGeom prst="rect">
            <a:avLst/>
          </a:prstGeom>
          <a:solidFill>
            <a:srgbClr val="F3EFE4"/>
          </a:solidFill>
          <a:ln/>
        </p:spPr>
        <p:txBody>
          <a:bodyPr/>
          <a:lstStyle/>
          <a:p>
            <a:endParaRPr lang="en-US"/>
          </a:p>
        </p:txBody>
      </p:sp>
      <p:sp>
        <p:nvSpPr>
          <p:cNvPr id="18" name="Text 16"/>
          <p:cNvSpPr/>
          <p:nvPr/>
        </p:nvSpPr>
        <p:spPr>
          <a:xfrm>
            <a:off x="384048" y="6565392"/>
            <a:ext cx="8686800" cy="237744"/>
          </a:xfrm>
          <a:prstGeom prst="rect">
            <a:avLst/>
          </a:prstGeom>
          <a:noFill/>
          <a:ln/>
        </p:spPr>
        <p:txBody>
          <a:bodyPr wrap="square" rtlCol="0" anchor="ctr"/>
          <a:lstStyle/>
          <a:p>
            <a:pPr marL="0" indent="0" algn="r" rtl="1">
              <a:buNone/>
            </a:pPr>
            <a:r>
              <a:rPr lang="en-US" sz="1000" dirty="0">
                <a:solidFill>
                  <a:srgbClr val="4D5C54"/>
                </a:solidFill>
                <a:latin typeface="Segoe UI" pitchFamily="34" charset="0"/>
                <a:ea typeface="Segoe UI" pitchFamily="34" charset="-122"/>
                <a:cs typeface="Segoe UI" pitchFamily="34" charset="-120"/>
              </a:rPr>
              <a:t>تكرير زيت الصويا · UCCMA · إعداد: أحمد سلاوي</a:t>
            </a:r>
            <a:endParaRPr lang="en-US" sz="1000" dirty="0"/>
          </a:p>
        </p:txBody>
      </p:sp>
      <p:sp>
        <p:nvSpPr>
          <p:cNvPr id="19" name="Text 17"/>
          <p:cNvSpPr/>
          <p:nvPr/>
        </p:nvSpPr>
        <p:spPr>
          <a:xfrm>
            <a:off x="10710367" y="6565392"/>
            <a:ext cx="1097280" cy="237744"/>
          </a:xfrm>
          <a:prstGeom prst="rect">
            <a:avLst/>
          </a:prstGeom>
          <a:noFill/>
          <a:ln/>
        </p:spPr>
        <p:txBody>
          <a:bodyPr wrap="square" rtlCol="0" anchor="ctr"/>
          <a:lstStyle/>
          <a:p>
            <a:pPr marL="0" indent="0" algn="l">
              <a:buNone/>
            </a:pPr>
            <a:r>
              <a:rPr lang="en-US" sz="1000" dirty="0">
                <a:solidFill>
                  <a:srgbClr val="4D5C54"/>
                </a:solidFill>
                <a:latin typeface="Segoe UI" pitchFamily="34" charset="0"/>
                <a:ea typeface="Segoe UI" pitchFamily="34" charset="-122"/>
                <a:cs typeface="Segoe U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TM03457510[[fn=Savon]]</Template>
  <TotalTime>1765</TotalTime>
  <Words>931</Words>
  <Application>Microsoft Office PowerPoint</Application>
  <PresentationFormat>Widescreen</PresentationFormat>
  <Paragraphs>145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تكرير زيت الصويا — UCCMA</dc:title>
  <dc:subject>عرض تشغيلي · 200 طن/يوم · إعداد أحمد سلاوي</dc:subject>
  <dc:creator>أحمد سلاوي</dc:creator>
  <cp:lastModifiedBy>ahmed salawy</cp:lastModifiedBy>
  <cp:revision>27</cp:revision>
  <cp:lastPrinted>2026-08-08T21:28:56Z</cp:lastPrinted>
  <dcterms:created xsi:type="dcterms:W3CDTF">2026-08-08T14:55:03Z</dcterms:created>
  <dcterms:modified xsi:type="dcterms:W3CDTF">2026-08-09T20:22:57Z</dcterms:modified>
</cp:coreProperties>
</file>