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33"/>
          </a:solidFill>
          <a:ln/>
        </p:spPr>
      </p:sp>
      <p:sp>
        <p:nvSpPr>
          <p:cNvPr id="3" name="Shape 1"/>
          <p:cNvSpPr/>
          <p:nvPr/>
        </p:nvSpPr>
        <p:spPr>
          <a:xfrm>
            <a:off x="-1371600" y="-1097280"/>
            <a:ext cx="5486400" cy="5486400"/>
          </a:xfrm>
          <a:prstGeom prst="ellipse">
            <a:avLst/>
          </a:prstGeom>
          <a:solidFill>
            <a:srgbClr val="0F766E">
              <a:alpha val="30000"/>
            </a:srgbClr>
          </a:solidFill>
          <a:ln/>
        </p:spPr>
      </p:sp>
      <p:sp>
        <p:nvSpPr>
          <p:cNvPr id="4" name="Shape 2"/>
          <p:cNvSpPr/>
          <p:nvPr/>
        </p:nvSpPr>
        <p:spPr>
          <a:xfrm>
            <a:off x="8229600" y="-731520"/>
            <a:ext cx="4572000" cy="3657600"/>
          </a:xfrm>
          <a:prstGeom prst="ellipse">
            <a:avLst/>
          </a:prstGeom>
          <a:solidFill>
            <a:srgbClr val="B45309">
              <a:alpha val="22000"/>
            </a:srgbClr>
          </a:solidFill>
          <a:ln/>
        </p:spPr>
      </p:sp>
      <p:sp>
        <p:nvSpPr>
          <p:cNvPr id="5" name="Shape 3"/>
          <p:cNvSpPr/>
          <p:nvPr/>
        </p:nvSpPr>
        <p:spPr>
          <a:xfrm>
            <a:off x="0" y="0"/>
            <a:ext cx="12191695" cy="6858000"/>
          </a:xfrm>
          <a:prstGeom prst="rect">
            <a:avLst/>
          </a:prstGeom>
          <a:solidFill>
            <a:srgbClr val="0B1F4D">
              <a:alpha val="65000"/>
            </a:srgbClr>
          </a:solidFill>
          <a:ln/>
        </p:spPr>
      </p:sp>
      <p:pic>
        <p:nvPicPr>
          <p:cNvPr id="6" name="Image 0" descr="D:\NewProject\Assets\images\acadegate_logo_2x.png">    </p:cNvPr>
          <p:cNvPicPr>
            <a:picLocks noChangeAspect="1"/>
          </p:cNvPicPr>
          <p:nvPr/>
        </p:nvPicPr>
        <p:blipFill>
          <a:blip r:embed="rId1"/>
          <a:stretch>
            <a:fillRect/>
          </a:stretch>
        </p:blipFill>
        <p:spPr>
          <a:xfrm>
            <a:off x="10545775" y="365760"/>
            <a:ext cx="1097280" cy="1097280"/>
          </a:xfrm>
          <a:prstGeom prst="rect">
            <a:avLst/>
          </a:prstGeom>
        </p:spPr>
      </p:pic>
      <p:sp>
        <p:nvSpPr>
          <p:cNvPr id="7" name="Text 4"/>
          <p:cNvSpPr/>
          <p:nvPr/>
        </p:nvSpPr>
        <p:spPr>
          <a:xfrm>
            <a:off x="411480" y="1371600"/>
            <a:ext cx="9997135" cy="320040"/>
          </a:xfrm>
          <a:prstGeom prst="rect">
            <a:avLst/>
          </a:prstGeom>
          <a:noFill/>
          <a:ln/>
        </p:spPr>
        <p:txBody>
          <a:bodyPr wrap="square" rtlCol="0" anchor="ctr"/>
          <a:lstStyle/>
          <a:p>
            <a:pPr rtl="1" algn="r" indent="0" marL="0">
              <a:buNone/>
            </a:pPr>
            <a:r>
              <a:rPr lang="en-US" sz="1300" dirty="0">
                <a:solidFill>
                  <a:srgbClr val="CBD5E1"/>
                </a:solidFill>
                <a:latin typeface="Segoe UI" pitchFamily="34" charset="0"/>
                <a:ea typeface="Segoe UI" pitchFamily="34" charset="-122"/>
                <a:cs typeface="Segoe UI" pitchFamily="34" charset="-120"/>
              </a:rPr>
              <a:t>عرض شراكة مخصص · فئة الموردين والتجار · محدّث آب 2026</a:t>
            </a:r>
            <a:endParaRPr lang="en-US" sz="1300" dirty="0"/>
          </a:p>
        </p:txBody>
      </p:sp>
      <p:sp>
        <p:nvSpPr>
          <p:cNvPr id="8" name="Text 5"/>
          <p:cNvSpPr/>
          <p:nvPr/>
        </p:nvSpPr>
        <p:spPr>
          <a:xfrm>
            <a:off x="411480" y="1783080"/>
            <a:ext cx="9997135" cy="777240"/>
          </a:xfrm>
          <a:prstGeom prst="rect">
            <a:avLst/>
          </a:prstGeom>
          <a:noFill/>
          <a:ln/>
        </p:spPr>
        <p:txBody>
          <a:bodyPr wrap="square" rtlCol="0" anchor="ctr"/>
          <a:lstStyle/>
          <a:p>
            <a:pPr rtl="1" algn="r" indent="0" marL="0">
              <a:buNone/>
            </a:pPr>
            <a:r>
              <a:rPr lang="en-US" sz="5200" b="1" dirty="0">
                <a:solidFill>
                  <a:srgbClr val="FFFFFF"/>
                </a:solidFill>
                <a:latin typeface="Segoe UI" pitchFamily="34" charset="0"/>
                <a:ea typeface="Segoe UI" pitchFamily="34" charset="-122"/>
                <a:cs typeface="Segoe UI" pitchFamily="34" charset="-120"/>
              </a:rPr>
              <a:t>AcadeGate</a:t>
            </a:r>
            <a:endParaRPr lang="en-US" sz="5200" dirty="0"/>
          </a:p>
        </p:txBody>
      </p:sp>
      <p:sp>
        <p:nvSpPr>
          <p:cNvPr id="9" name="Text 6"/>
          <p:cNvSpPr/>
          <p:nvPr/>
        </p:nvSpPr>
        <p:spPr>
          <a:xfrm>
            <a:off x="411480" y="2606040"/>
            <a:ext cx="9144000" cy="457200"/>
          </a:xfrm>
          <a:prstGeom prst="rect">
            <a:avLst/>
          </a:prstGeom>
          <a:noFill/>
          <a:ln/>
        </p:spPr>
        <p:txBody>
          <a:bodyPr wrap="square" rtlCol="0" anchor="ctr"/>
          <a:lstStyle/>
          <a:p>
            <a:pPr rtl="1" algn="r" indent="0" marL="0">
              <a:buNone/>
            </a:pPr>
            <a:r>
              <a:rPr lang="en-US" sz="1700" dirty="0">
                <a:solidFill>
                  <a:srgbClr val="E2E8F0"/>
                </a:solidFill>
                <a:latin typeface="Segoe UI" pitchFamily="34" charset="0"/>
                <a:ea typeface="Segoe UI" pitchFamily="34" charset="-122"/>
                <a:cs typeface="Segoe UI" pitchFamily="34" charset="-120"/>
              </a:rPr>
              <a:t>منصة أكاديمية متكاملة — والمتجر هو نقطة التنفيذ المادي لرحلة الباحث</a:t>
            </a:r>
            <a:endParaRPr lang="en-US" sz="1700" dirty="0"/>
          </a:p>
        </p:txBody>
      </p:sp>
      <p:sp>
        <p:nvSpPr>
          <p:cNvPr id="10" name="Shape 7"/>
          <p:cNvSpPr/>
          <p:nvPr/>
        </p:nvSpPr>
        <p:spPr>
          <a:xfrm>
            <a:off x="9144000" y="3200400"/>
            <a:ext cx="73152" cy="1097280"/>
          </a:xfrm>
          <a:prstGeom prst="rect">
            <a:avLst/>
          </a:prstGeom>
          <a:solidFill>
            <a:srgbClr val="FBBF24"/>
          </a:solidFill>
          <a:ln/>
        </p:spPr>
      </p:sp>
      <p:sp>
        <p:nvSpPr>
          <p:cNvPr id="11" name="Text 8"/>
          <p:cNvSpPr/>
          <p:nvPr/>
        </p:nvSpPr>
        <p:spPr>
          <a:xfrm>
            <a:off x="411480" y="3154680"/>
            <a:ext cx="8595360" cy="1188720"/>
          </a:xfrm>
          <a:prstGeom prst="rect">
            <a:avLst/>
          </a:prstGeom>
          <a:noFill/>
          <a:ln/>
        </p:spPr>
        <p:txBody>
          <a:bodyPr wrap="square" rtlCol="0" anchor="ctr"/>
          <a:lstStyle/>
          <a:p>
            <a:pPr rtl="1" algn="r" indent="0" marL="0">
              <a:buNone/>
            </a:pPr>
            <a:r>
              <a:rPr lang="en-US" sz="1400" dirty="0">
                <a:solidFill>
                  <a:srgbClr val="F1F5F9"/>
                </a:solidFill>
                <a:latin typeface="Segoe UI" pitchFamily="34" charset="0"/>
                <a:ea typeface="Segoe UI" pitchFamily="34" charset="-122"/>
                <a:cs typeface="Segoe UI" pitchFamily="34" charset="-120"/>
              </a:rPr>
              <a:t>فكرة التطبيق: نجمع رحلة الدراسات العليا في مكان واحد — من الفكرة والمشرف والمختبر إلى المعدات والكتابة والمجتمع والذكاء الاصطناعي — مع ضمان Escrow يحمي البائع والمشتري.</a:t>
            </a:r>
            <a:endParaRPr lang="en-US" sz="1400" dirty="0"/>
          </a:p>
        </p:txBody>
      </p:sp>
      <p:sp>
        <p:nvSpPr>
          <p:cNvPr id="12" name="Shape 9"/>
          <p:cNvSpPr/>
          <p:nvPr/>
        </p:nvSpPr>
        <p:spPr>
          <a:xfrm>
            <a:off x="8396935" y="4709160"/>
            <a:ext cx="3383280" cy="384048"/>
          </a:xfrm>
          <a:prstGeom prst="roundRect">
            <a:avLst>
              <a:gd name="adj" fmla="val 47619"/>
            </a:avLst>
          </a:prstGeom>
          <a:solidFill>
            <a:srgbClr val="FFFFFF">
              <a:alpha val="12000"/>
            </a:srgbClr>
          </a:solidFill>
          <a:ln w="12700">
            <a:solidFill>
              <a:srgbClr val="FFFFFF">
                <a:alpha val="50000"/>
              </a:srgbClr>
            </a:solidFill>
            <a:prstDash val="solid"/>
          </a:ln>
        </p:spPr>
      </p:sp>
      <p:sp>
        <p:nvSpPr>
          <p:cNvPr id="13" name="Text 10"/>
          <p:cNvSpPr/>
          <p:nvPr/>
        </p:nvSpPr>
        <p:spPr>
          <a:xfrm>
            <a:off x="8396935" y="4727448"/>
            <a:ext cx="3383280" cy="347472"/>
          </a:xfrm>
          <a:prstGeom prst="rect">
            <a:avLst/>
          </a:prstGeom>
          <a:noFill/>
          <a:ln/>
        </p:spPr>
        <p:txBody>
          <a:bodyPr wrap="square" rtlCol="0" anchor="ctr"/>
          <a:lstStyle/>
          <a:p>
            <a:pPr rtl="1" algn="ctr" indent="0" marL="0">
              <a:buNone/>
            </a:pPr>
            <a:r>
              <a:rPr lang="en-US" sz="1100" dirty="0">
                <a:solidFill>
                  <a:srgbClr val="FFFFFF"/>
                </a:solidFill>
                <a:latin typeface="Segoe UI" pitchFamily="34" charset="0"/>
                <a:ea typeface="Segoe UI" pitchFamily="34" charset="-122"/>
                <a:cs typeface="Segoe UI" pitchFamily="34" charset="-120"/>
              </a:rPr>
              <a:t>فكرة المنصة أولاً · ثم عرض المورد</a:t>
            </a:r>
            <a:endParaRPr lang="en-US" sz="1100" dirty="0"/>
          </a:p>
        </p:txBody>
      </p:sp>
      <p:sp>
        <p:nvSpPr>
          <p:cNvPr id="14" name="Shape 11"/>
          <p:cNvSpPr/>
          <p:nvPr/>
        </p:nvSpPr>
        <p:spPr>
          <a:xfrm>
            <a:off x="4903927" y="4709160"/>
            <a:ext cx="3383280" cy="384048"/>
          </a:xfrm>
          <a:prstGeom prst="roundRect">
            <a:avLst>
              <a:gd name="adj" fmla="val 47619"/>
            </a:avLst>
          </a:prstGeom>
          <a:solidFill>
            <a:srgbClr val="FFFFFF">
              <a:alpha val="12000"/>
            </a:srgbClr>
          </a:solidFill>
          <a:ln w="12700">
            <a:solidFill>
              <a:srgbClr val="FFFFFF">
                <a:alpha val="50000"/>
              </a:srgbClr>
            </a:solidFill>
            <a:prstDash val="solid"/>
          </a:ln>
        </p:spPr>
      </p:sp>
      <p:sp>
        <p:nvSpPr>
          <p:cNvPr id="15" name="Text 12"/>
          <p:cNvSpPr/>
          <p:nvPr/>
        </p:nvSpPr>
        <p:spPr>
          <a:xfrm>
            <a:off x="4903927" y="4727448"/>
            <a:ext cx="3383280" cy="347472"/>
          </a:xfrm>
          <a:prstGeom prst="rect">
            <a:avLst/>
          </a:prstGeom>
          <a:noFill/>
          <a:ln/>
        </p:spPr>
        <p:txBody>
          <a:bodyPr wrap="square" rtlCol="0" anchor="ctr"/>
          <a:lstStyle/>
          <a:p>
            <a:pPr rtl="1" algn="ctr" indent="0" marL="0">
              <a:buNone/>
            </a:pPr>
            <a:r>
              <a:rPr lang="en-US" sz="1100" dirty="0">
                <a:solidFill>
                  <a:srgbClr val="FFFFFF"/>
                </a:solidFill>
                <a:latin typeface="Segoe UI" pitchFamily="34" charset="0"/>
                <a:ea typeface="Segoe UI" pitchFamily="34" charset="-122"/>
                <a:cs typeface="Segoe UI" pitchFamily="34" charset="-120"/>
              </a:rPr>
              <a:t>مستجدات المتجر: Hub · عربة · RFQ</a:t>
            </a:r>
            <a:endParaRPr lang="en-US" sz="1100" dirty="0"/>
          </a:p>
        </p:txBody>
      </p:sp>
      <p:sp>
        <p:nvSpPr>
          <p:cNvPr id="16" name="Shape 13"/>
          <p:cNvSpPr/>
          <p:nvPr/>
        </p:nvSpPr>
        <p:spPr>
          <a:xfrm>
            <a:off x="1410919" y="4709160"/>
            <a:ext cx="3383280" cy="384048"/>
          </a:xfrm>
          <a:prstGeom prst="roundRect">
            <a:avLst>
              <a:gd name="adj" fmla="val 47619"/>
            </a:avLst>
          </a:prstGeom>
          <a:solidFill>
            <a:srgbClr val="FFFFFF">
              <a:alpha val="12000"/>
            </a:srgbClr>
          </a:solidFill>
          <a:ln w="12700">
            <a:solidFill>
              <a:srgbClr val="FFFFFF">
                <a:alpha val="50000"/>
              </a:srgbClr>
            </a:solidFill>
            <a:prstDash val="solid"/>
          </a:ln>
        </p:spPr>
      </p:sp>
      <p:sp>
        <p:nvSpPr>
          <p:cNvPr id="17" name="Text 14"/>
          <p:cNvSpPr/>
          <p:nvPr/>
        </p:nvSpPr>
        <p:spPr>
          <a:xfrm>
            <a:off x="1410919" y="4727448"/>
            <a:ext cx="3383280" cy="347472"/>
          </a:xfrm>
          <a:prstGeom prst="rect">
            <a:avLst/>
          </a:prstGeom>
          <a:noFill/>
          <a:ln/>
        </p:spPr>
        <p:txBody>
          <a:bodyPr wrap="square" rtlCol="0" anchor="ctr"/>
          <a:lstStyle/>
          <a:p>
            <a:pPr rtl="1" algn="ctr" indent="0" marL="0">
              <a:buNone/>
            </a:pPr>
            <a:r>
              <a:rPr lang="en-US" sz="1100" dirty="0">
                <a:solidFill>
                  <a:srgbClr val="FFFFFF"/>
                </a:solidFill>
                <a:latin typeface="Segoe UI" pitchFamily="34" charset="0"/>
                <a:ea typeface="Segoe UI" pitchFamily="34" charset="-122"/>
                <a:cs typeface="Segoe UI" pitchFamily="34" charset="-120"/>
              </a:rPr>
              <a:t>نموذج إيرادات متعدد القنوات</a:t>
            </a:r>
            <a:endParaRPr lang="en-US" sz="1100" dirty="0"/>
          </a:p>
        </p:txBody>
      </p:sp>
      <p:pic>
        <p:nvPicPr>
          <p:cNvPr id="18" name="Image 1" descr="D:\NewProject\Assets\images\weekly\services\svc_store_w1.png">    </p:cNvPr>
          <p:cNvPicPr>
            <a:picLocks noChangeAspect="1"/>
          </p:cNvPicPr>
          <p:nvPr/>
        </p:nvPicPr>
        <p:blipFill>
          <a:blip r:embed="rId2"/>
          <a:stretch>
            <a:fillRect/>
          </a:stretch>
        </p:blipFill>
        <p:spPr>
          <a:xfrm>
            <a:off x="411480" y="5303520"/>
            <a:ext cx="1645920" cy="960120"/>
          </a:xfrm>
          <a:prstGeom prst="rect">
            <a:avLst/>
          </a:prstGeom>
        </p:spPr>
      </p:pic>
      <p:pic>
        <p:nvPicPr>
          <p:cNvPr id="19" name="Image 2" descr="D:\NewProject\Assets\images\weekly\features\feat_escrow_w1.png">    </p:cNvPr>
          <p:cNvPicPr>
            <a:picLocks noChangeAspect="1"/>
          </p:cNvPicPr>
          <p:nvPr/>
        </p:nvPicPr>
        <p:blipFill>
          <a:blip r:embed="rId3"/>
          <a:stretch>
            <a:fillRect/>
          </a:stretch>
        </p:blipFill>
        <p:spPr>
          <a:xfrm>
            <a:off x="2240280" y="5303520"/>
            <a:ext cx="1645920" cy="960120"/>
          </a:xfrm>
          <a:prstGeom prst="rect">
            <a:avLst/>
          </a:prstGeom>
        </p:spPr>
      </p:pic>
      <p:sp>
        <p:nvSpPr>
          <p:cNvPr id="20" name="Text 15"/>
          <p:cNvSpPr/>
          <p:nvPr/>
        </p:nvSpPr>
        <p:spPr>
          <a:xfrm>
            <a:off x="4069080" y="5943600"/>
            <a:ext cx="7772400" cy="274320"/>
          </a:xfrm>
          <a:prstGeom prst="rect">
            <a:avLst/>
          </a:prstGeom>
          <a:noFill/>
          <a:ln/>
        </p:spPr>
        <p:txBody>
          <a:bodyPr wrap="square" rtlCol="0" anchor="ctr"/>
          <a:lstStyle/>
          <a:p>
            <a:pPr rtl="1" algn="r" indent="0" marL="0">
              <a:buNone/>
            </a:pPr>
            <a:r>
              <a:rPr lang="en-US" sz="1100" dirty="0">
                <a:solidFill>
                  <a:srgbClr val="94A3B8"/>
                </a:solidFill>
                <a:latin typeface="Segoe UI" pitchFamily="34" charset="0"/>
                <a:ea typeface="Segoe UI" pitchFamily="34" charset="-122"/>
                <a:cs typeface="Segoe UI" pitchFamily="34" charset="-120"/>
              </a:rPr>
              <a:t>وثيقة عرض شراكة · قابلة للمشاركة مع فريق المبيعات</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ماذا ستجد في هذا العرض؟</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نبدأ بفكرة التطبيق والجمهور — ثم المتجر والمستجدات — ثم الشراكة والإيرادات.</a:t>
            </a:r>
            <a:endParaRPr lang="en-US" sz="1300" dirty="0"/>
          </a:p>
        </p:txBody>
      </p:sp>
      <p:sp>
        <p:nvSpPr>
          <p:cNvPr id="7" name="Shape 5"/>
          <p:cNvSpPr/>
          <p:nvPr/>
        </p:nvSpPr>
        <p:spPr>
          <a:xfrm>
            <a:off x="411480" y="1508760"/>
            <a:ext cx="5394960" cy="713232"/>
          </a:xfrm>
          <a:prstGeom prst="roundRect">
            <a:avLst>
              <a:gd name="adj" fmla="val 12821"/>
            </a:avLst>
          </a:prstGeom>
          <a:solidFill>
            <a:srgbClr val="EEF6F5"/>
          </a:solidFill>
          <a:ln w="12700">
            <a:solidFill>
              <a:srgbClr val="CCFBF1"/>
            </a:solidFill>
            <a:prstDash val="solid"/>
          </a:ln>
        </p:spPr>
      </p:sp>
      <p:sp>
        <p:nvSpPr>
          <p:cNvPr id="8" name="Shape 6"/>
          <p:cNvSpPr/>
          <p:nvPr/>
        </p:nvSpPr>
        <p:spPr>
          <a:xfrm>
            <a:off x="5212080" y="1664208"/>
            <a:ext cx="402336" cy="402336"/>
          </a:xfrm>
          <a:prstGeom prst="ellipse">
            <a:avLst/>
          </a:prstGeom>
          <a:solidFill>
            <a:srgbClr val="0B1F4D"/>
          </a:solidFill>
          <a:ln/>
        </p:spPr>
      </p:sp>
      <p:sp>
        <p:nvSpPr>
          <p:cNvPr id="9" name="Text 7"/>
          <p:cNvSpPr/>
          <p:nvPr/>
        </p:nvSpPr>
        <p:spPr>
          <a:xfrm>
            <a:off x="5212080" y="166420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0" name="Text 8"/>
          <p:cNvSpPr/>
          <p:nvPr/>
        </p:nvSpPr>
        <p:spPr>
          <a:xfrm>
            <a:off x="594360" y="163677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فكرة AcadeGate ورحلة الباحث (لماذا يوجد متجر أصلاً؟)</a:t>
            </a:r>
            <a:endParaRPr lang="en-US" sz="1250" dirty="0"/>
          </a:p>
        </p:txBody>
      </p:sp>
      <p:sp>
        <p:nvSpPr>
          <p:cNvPr id="11" name="Shape 9"/>
          <p:cNvSpPr/>
          <p:nvPr/>
        </p:nvSpPr>
        <p:spPr>
          <a:xfrm>
            <a:off x="411480" y="2331720"/>
            <a:ext cx="5394960" cy="713232"/>
          </a:xfrm>
          <a:prstGeom prst="roundRect">
            <a:avLst>
              <a:gd name="adj" fmla="val 12821"/>
            </a:avLst>
          </a:prstGeom>
          <a:solidFill>
            <a:srgbClr val="EEF6F5"/>
          </a:solidFill>
          <a:ln w="12700">
            <a:solidFill>
              <a:srgbClr val="CCFBF1"/>
            </a:solidFill>
            <a:prstDash val="solid"/>
          </a:ln>
        </p:spPr>
      </p:sp>
      <p:sp>
        <p:nvSpPr>
          <p:cNvPr id="12" name="Shape 10"/>
          <p:cNvSpPr/>
          <p:nvPr/>
        </p:nvSpPr>
        <p:spPr>
          <a:xfrm>
            <a:off x="5212080" y="2487168"/>
            <a:ext cx="402336" cy="402336"/>
          </a:xfrm>
          <a:prstGeom prst="ellipse">
            <a:avLst/>
          </a:prstGeom>
          <a:solidFill>
            <a:srgbClr val="0B1F4D"/>
          </a:solidFill>
          <a:ln/>
        </p:spPr>
      </p:sp>
      <p:sp>
        <p:nvSpPr>
          <p:cNvPr id="13" name="Text 11"/>
          <p:cNvSpPr/>
          <p:nvPr/>
        </p:nvSpPr>
        <p:spPr>
          <a:xfrm>
            <a:off x="5212080" y="248716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4" name="Text 12"/>
          <p:cNvSpPr/>
          <p:nvPr/>
        </p:nvSpPr>
        <p:spPr>
          <a:xfrm>
            <a:off x="594360" y="245973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لماذا هذه فرصة للمورد؟</a:t>
            </a:r>
            <a:endParaRPr lang="en-US" sz="1250" dirty="0"/>
          </a:p>
        </p:txBody>
      </p:sp>
      <p:sp>
        <p:nvSpPr>
          <p:cNvPr id="15" name="Shape 13"/>
          <p:cNvSpPr/>
          <p:nvPr/>
        </p:nvSpPr>
        <p:spPr>
          <a:xfrm>
            <a:off x="411480" y="3154680"/>
            <a:ext cx="5394960" cy="713232"/>
          </a:xfrm>
          <a:prstGeom prst="roundRect">
            <a:avLst>
              <a:gd name="adj" fmla="val 12821"/>
            </a:avLst>
          </a:prstGeom>
          <a:solidFill>
            <a:srgbClr val="EEF6F5"/>
          </a:solidFill>
          <a:ln w="12700">
            <a:solidFill>
              <a:srgbClr val="CCFBF1"/>
            </a:solidFill>
            <a:prstDash val="solid"/>
          </a:ln>
        </p:spPr>
      </p:sp>
      <p:sp>
        <p:nvSpPr>
          <p:cNvPr id="16" name="Shape 14"/>
          <p:cNvSpPr/>
          <p:nvPr/>
        </p:nvSpPr>
        <p:spPr>
          <a:xfrm>
            <a:off x="5212080" y="3310128"/>
            <a:ext cx="402336" cy="402336"/>
          </a:xfrm>
          <a:prstGeom prst="ellipse">
            <a:avLst/>
          </a:prstGeom>
          <a:solidFill>
            <a:srgbClr val="0B1F4D"/>
          </a:solidFill>
          <a:ln/>
        </p:spPr>
      </p:sp>
      <p:sp>
        <p:nvSpPr>
          <p:cNvPr id="17" name="Text 15"/>
          <p:cNvSpPr/>
          <p:nvPr/>
        </p:nvSpPr>
        <p:spPr>
          <a:xfrm>
            <a:off x="5212080" y="331012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8" name="Text 16"/>
          <p:cNvSpPr/>
          <p:nvPr/>
        </p:nvSpPr>
        <p:spPr>
          <a:xfrm>
            <a:off x="594360" y="328269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ماذا تقدّم المنصة ككل (البوابتان والخدمات)</a:t>
            </a:r>
            <a:endParaRPr lang="en-US" sz="1250" dirty="0"/>
          </a:p>
        </p:txBody>
      </p:sp>
      <p:sp>
        <p:nvSpPr>
          <p:cNvPr id="19" name="Shape 17"/>
          <p:cNvSpPr/>
          <p:nvPr/>
        </p:nvSpPr>
        <p:spPr>
          <a:xfrm>
            <a:off x="411480" y="3977640"/>
            <a:ext cx="5394960" cy="713232"/>
          </a:xfrm>
          <a:prstGeom prst="roundRect">
            <a:avLst>
              <a:gd name="adj" fmla="val 12821"/>
            </a:avLst>
          </a:prstGeom>
          <a:solidFill>
            <a:srgbClr val="EEF6F5"/>
          </a:solidFill>
          <a:ln w="12700">
            <a:solidFill>
              <a:srgbClr val="CCFBF1"/>
            </a:solidFill>
            <a:prstDash val="solid"/>
          </a:ln>
        </p:spPr>
      </p:sp>
      <p:sp>
        <p:nvSpPr>
          <p:cNvPr id="20" name="Shape 18"/>
          <p:cNvSpPr/>
          <p:nvPr/>
        </p:nvSpPr>
        <p:spPr>
          <a:xfrm>
            <a:off x="5212080" y="4133088"/>
            <a:ext cx="402336" cy="402336"/>
          </a:xfrm>
          <a:prstGeom prst="ellipse">
            <a:avLst/>
          </a:prstGeom>
          <a:solidFill>
            <a:srgbClr val="0B1F4D"/>
          </a:solidFill>
          <a:ln/>
        </p:spPr>
      </p:sp>
      <p:sp>
        <p:nvSpPr>
          <p:cNvPr id="21" name="Text 19"/>
          <p:cNvSpPr/>
          <p:nvPr/>
        </p:nvSpPr>
        <p:spPr>
          <a:xfrm>
            <a:off x="5212080" y="413308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2" name="Text 20"/>
          <p:cNvSpPr/>
          <p:nvPr/>
        </p:nvSpPr>
        <p:spPr>
          <a:xfrm>
            <a:off x="594360" y="410565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مستجدات المتجر (Hub · عربة · RFQ · متاجر موردين…)</a:t>
            </a:r>
            <a:endParaRPr lang="en-US" sz="1250" dirty="0"/>
          </a:p>
        </p:txBody>
      </p:sp>
      <p:sp>
        <p:nvSpPr>
          <p:cNvPr id="23" name="Shape 21"/>
          <p:cNvSpPr/>
          <p:nvPr/>
        </p:nvSpPr>
        <p:spPr>
          <a:xfrm>
            <a:off x="411480" y="4800600"/>
            <a:ext cx="5394960" cy="713232"/>
          </a:xfrm>
          <a:prstGeom prst="roundRect">
            <a:avLst>
              <a:gd name="adj" fmla="val 12821"/>
            </a:avLst>
          </a:prstGeom>
          <a:solidFill>
            <a:srgbClr val="EEF6F5"/>
          </a:solidFill>
          <a:ln w="12700">
            <a:solidFill>
              <a:srgbClr val="CCFBF1"/>
            </a:solidFill>
            <a:prstDash val="solid"/>
          </a:ln>
        </p:spPr>
      </p:sp>
      <p:sp>
        <p:nvSpPr>
          <p:cNvPr id="24" name="Shape 22"/>
          <p:cNvSpPr/>
          <p:nvPr/>
        </p:nvSpPr>
        <p:spPr>
          <a:xfrm>
            <a:off x="5212080" y="4956048"/>
            <a:ext cx="402336" cy="402336"/>
          </a:xfrm>
          <a:prstGeom prst="ellipse">
            <a:avLst/>
          </a:prstGeom>
          <a:solidFill>
            <a:srgbClr val="0B1F4D"/>
          </a:solidFill>
          <a:ln/>
        </p:spPr>
      </p:sp>
      <p:sp>
        <p:nvSpPr>
          <p:cNvPr id="25" name="Text 23"/>
          <p:cNvSpPr/>
          <p:nvPr/>
        </p:nvSpPr>
        <p:spPr>
          <a:xfrm>
            <a:off x="5212080" y="495604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26" name="Text 24"/>
          <p:cNvSpPr/>
          <p:nvPr/>
        </p:nvSpPr>
        <p:spPr>
          <a:xfrm>
            <a:off x="594360" y="492861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١٥ قسماً + ماذا تنشر كمنتج؟</a:t>
            </a:r>
            <a:endParaRPr lang="en-US" sz="1250" dirty="0"/>
          </a:p>
        </p:txBody>
      </p:sp>
      <p:sp>
        <p:nvSpPr>
          <p:cNvPr id="27" name="Shape 25"/>
          <p:cNvSpPr/>
          <p:nvPr/>
        </p:nvSpPr>
        <p:spPr>
          <a:xfrm>
            <a:off x="6080760" y="1508760"/>
            <a:ext cx="5394960" cy="713232"/>
          </a:xfrm>
          <a:prstGeom prst="roundRect">
            <a:avLst>
              <a:gd name="adj" fmla="val 12821"/>
            </a:avLst>
          </a:prstGeom>
          <a:solidFill>
            <a:srgbClr val="EEF6F5"/>
          </a:solidFill>
          <a:ln w="12700">
            <a:solidFill>
              <a:srgbClr val="CCFBF1"/>
            </a:solidFill>
            <a:prstDash val="solid"/>
          </a:ln>
        </p:spPr>
      </p:sp>
      <p:sp>
        <p:nvSpPr>
          <p:cNvPr id="28" name="Shape 26"/>
          <p:cNvSpPr/>
          <p:nvPr/>
        </p:nvSpPr>
        <p:spPr>
          <a:xfrm>
            <a:off x="10881360" y="1664208"/>
            <a:ext cx="402336" cy="402336"/>
          </a:xfrm>
          <a:prstGeom prst="ellipse">
            <a:avLst/>
          </a:prstGeom>
          <a:solidFill>
            <a:srgbClr val="0B1F4D"/>
          </a:solidFill>
          <a:ln/>
        </p:spPr>
      </p:sp>
      <p:sp>
        <p:nvSpPr>
          <p:cNvPr id="29" name="Text 27"/>
          <p:cNvSpPr/>
          <p:nvPr/>
        </p:nvSpPr>
        <p:spPr>
          <a:xfrm>
            <a:off x="10881360" y="166420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30" name="Text 28"/>
          <p:cNvSpPr/>
          <p:nvPr/>
        </p:nvSpPr>
        <p:spPr>
          <a:xfrm>
            <a:off x="6263640" y="163677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دورة الطلب والضمان Escrow</a:t>
            </a:r>
            <a:endParaRPr lang="en-US" sz="1250" dirty="0"/>
          </a:p>
        </p:txBody>
      </p:sp>
      <p:sp>
        <p:nvSpPr>
          <p:cNvPr id="31" name="Shape 29"/>
          <p:cNvSpPr/>
          <p:nvPr/>
        </p:nvSpPr>
        <p:spPr>
          <a:xfrm>
            <a:off x="6080760" y="2331720"/>
            <a:ext cx="5394960" cy="713232"/>
          </a:xfrm>
          <a:prstGeom prst="roundRect">
            <a:avLst>
              <a:gd name="adj" fmla="val 12821"/>
            </a:avLst>
          </a:prstGeom>
          <a:solidFill>
            <a:srgbClr val="EEF6F5"/>
          </a:solidFill>
          <a:ln w="12700">
            <a:solidFill>
              <a:srgbClr val="CCFBF1"/>
            </a:solidFill>
            <a:prstDash val="solid"/>
          </a:ln>
        </p:spPr>
      </p:sp>
      <p:sp>
        <p:nvSpPr>
          <p:cNvPr id="32" name="Shape 30"/>
          <p:cNvSpPr/>
          <p:nvPr/>
        </p:nvSpPr>
        <p:spPr>
          <a:xfrm>
            <a:off x="10881360" y="2487168"/>
            <a:ext cx="402336" cy="402336"/>
          </a:xfrm>
          <a:prstGeom prst="ellipse">
            <a:avLst/>
          </a:prstGeom>
          <a:solidFill>
            <a:srgbClr val="0B1F4D"/>
          </a:solidFill>
          <a:ln/>
        </p:spPr>
      </p:sp>
      <p:sp>
        <p:nvSpPr>
          <p:cNvPr id="33" name="Text 31"/>
          <p:cNvSpPr/>
          <p:nvPr/>
        </p:nvSpPr>
        <p:spPr>
          <a:xfrm>
            <a:off x="10881360" y="248716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7</a:t>
            </a:r>
            <a:endParaRPr lang="en-US" sz="1400" dirty="0"/>
          </a:p>
        </p:txBody>
      </p:sp>
      <p:sp>
        <p:nvSpPr>
          <p:cNvPr id="34" name="Text 32"/>
          <p:cNvSpPr/>
          <p:nvPr/>
        </p:nvSpPr>
        <p:spPr>
          <a:xfrm>
            <a:off x="6263640" y="245973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آلية الشراكة: ماذا نقدّم / ماذا تقدّم</a:t>
            </a:r>
            <a:endParaRPr lang="en-US" sz="1250" dirty="0"/>
          </a:p>
        </p:txBody>
      </p:sp>
      <p:sp>
        <p:nvSpPr>
          <p:cNvPr id="35" name="Shape 33"/>
          <p:cNvSpPr/>
          <p:nvPr/>
        </p:nvSpPr>
        <p:spPr>
          <a:xfrm>
            <a:off x="6080760" y="3154680"/>
            <a:ext cx="5394960" cy="713232"/>
          </a:xfrm>
          <a:prstGeom prst="roundRect">
            <a:avLst>
              <a:gd name="adj" fmla="val 12821"/>
            </a:avLst>
          </a:prstGeom>
          <a:solidFill>
            <a:srgbClr val="EEF6F5"/>
          </a:solidFill>
          <a:ln w="12700">
            <a:solidFill>
              <a:srgbClr val="CCFBF1"/>
            </a:solidFill>
            <a:prstDash val="solid"/>
          </a:ln>
        </p:spPr>
      </p:sp>
      <p:sp>
        <p:nvSpPr>
          <p:cNvPr id="36" name="Shape 34"/>
          <p:cNvSpPr/>
          <p:nvPr/>
        </p:nvSpPr>
        <p:spPr>
          <a:xfrm>
            <a:off x="10881360" y="3310128"/>
            <a:ext cx="402336" cy="402336"/>
          </a:xfrm>
          <a:prstGeom prst="ellipse">
            <a:avLst/>
          </a:prstGeom>
          <a:solidFill>
            <a:srgbClr val="0B1F4D"/>
          </a:solidFill>
          <a:ln/>
        </p:spPr>
      </p:sp>
      <p:sp>
        <p:nvSpPr>
          <p:cNvPr id="37" name="Text 35"/>
          <p:cNvSpPr/>
          <p:nvPr/>
        </p:nvSpPr>
        <p:spPr>
          <a:xfrm>
            <a:off x="10881360" y="331012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8</a:t>
            </a:r>
            <a:endParaRPr lang="en-US" sz="1400" dirty="0"/>
          </a:p>
        </p:txBody>
      </p:sp>
      <p:sp>
        <p:nvSpPr>
          <p:cNvPr id="38" name="Text 36"/>
          <p:cNvSpPr/>
          <p:nvPr/>
        </p:nvSpPr>
        <p:spPr>
          <a:xfrm>
            <a:off x="6263640" y="328269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ماذا تفعل داخل التطبيق عملياً؟</a:t>
            </a:r>
            <a:endParaRPr lang="en-US" sz="1250" dirty="0"/>
          </a:p>
        </p:txBody>
      </p:sp>
      <p:sp>
        <p:nvSpPr>
          <p:cNvPr id="39" name="Shape 37"/>
          <p:cNvSpPr/>
          <p:nvPr/>
        </p:nvSpPr>
        <p:spPr>
          <a:xfrm>
            <a:off x="6080760" y="3977640"/>
            <a:ext cx="5394960" cy="713232"/>
          </a:xfrm>
          <a:prstGeom prst="roundRect">
            <a:avLst>
              <a:gd name="adj" fmla="val 12821"/>
            </a:avLst>
          </a:prstGeom>
          <a:solidFill>
            <a:srgbClr val="EEF6F5"/>
          </a:solidFill>
          <a:ln w="12700">
            <a:solidFill>
              <a:srgbClr val="CCFBF1"/>
            </a:solidFill>
            <a:prstDash val="solid"/>
          </a:ln>
        </p:spPr>
      </p:sp>
      <p:sp>
        <p:nvSpPr>
          <p:cNvPr id="40" name="Shape 38"/>
          <p:cNvSpPr/>
          <p:nvPr/>
        </p:nvSpPr>
        <p:spPr>
          <a:xfrm>
            <a:off x="10881360" y="4133088"/>
            <a:ext cx="402336" cy="402336"/>
          </a:xfrm>
          <a:prstGeom prst="ellipse">
            <a:avLst/>
          </a:prstGeom>
          <a:solidFill>
            <a:srgbClr val="0B1F4D"/>
          </a:solidFill>
          <a:ln/>
        </p:spPr>
      </p:sp>
      <p:sp>
        <p:nvSpPr>
          <p:cNvPr id="41" name="Text 39"/>
          <p:cNvSpPr/>
          <p:nvPr/>
        </p:nvSpPr>
        <p:spPr>
          <a:xfrm>
            <a:off x="10881360" y="413308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9</a:t>
            </a:r>
            <a:endParaRPr lang="en-US" sz="1400" dirty="0"/>
          </a:p>
        </p:txBody>
      </p:sp>
      <p:sp>
        <p:nvSpPr>
          <p:cNvPr id="42" name="Text 40"/>
          <p:cNvSpPr/>
          <p:nvPr/>
        </p:nvSpPr>
        <p:spPr>
          <a:xfrm>
            <a:off x="6263640" y="410565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نموذج الإيرادات + بدائل ومقترحات</a:t>
            </a:r>
            <a:endParaRPr lang="en-US" sz="1250" dirty="0"/>
          </a:p>
        </p:txBody>
      </p:sp>
      <p:sp>
        <p:nvSpPr>
          <p:cNvPr id="43" name="Shape 41"/>
          <p:cNvSpPr/>
          <p:nvPr/>
        </p:nvSpPr>
        <p:spPr>
          <a:xfrm>
            <a:off x="6080760" y="4800600"/>
            <a:ext cx="5394960" cy="713232"/>
          </a:xfrm>
          <a:prstGeom prst="roundRect">
            <a:avLst>
              <a:gd name="adj" fmla="val 12821"/>
            </a:avLst>
          </a:prstGeom>
          <a:solidFill>
            <a:srgbClr val="EEF6F5"/>
          </a:solidFill>
          <a:ln w="12700">
            <a:solidFill>
              <a:srgbClr val="CCFBF1"/>
            </a:solidFill>
            <a:prstDash val="solid"/>
          </a:ln>
        </p:spPr>
      </p:sp>
      <p:sp>
        <p:nvSpPr>
          <p:cNvPr id="44" name="Shape 42"/>
          <p:cNvSpPr/>
          <p:nvPr/>
        </p:nvSpPr>
        <p:spPr>
          <a:xfrm>
            <a:off x="10881360" y="4956048"/>
            <a:ext cx="402336" cy="402336"/>
          </a:xfrm>
          <a:prstGeom prst="ellipse">
            <a:avLst/>
          </a:prstGeom>
          <a:solidFill>
            <a:srgbClr val="0B1F4D"/>
          </a:solidFill>
          <a:ln/>
        </p:spPr>
      </p:sp>
      <p:sp>
        <p:nvSpPr>
          <p:cNvPr id="45" name="Text 43"/>
          <p:cNvSpPr/>
          <p:nvPr/>
        </p:nvSpPr>
        <p:spPr>
          <a:xfrm>
            <a:off x="10881360" y="495604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10</a:t>
            </a:r>
            <a:endParaRPr lang="en-US" sz="1400" dirty="0"/>
          </a:p>
        </p:txBody>
      </p:sp>
      <p:sp>
        <p:nvSpPr>
          <p:cNvPr id="46" name="Text 44"/>
          <p:cNvSpPr/>
          <p:nvPr/>
        </p:nvSpPr>
        <p:spPr>
          <a:xfrm>
            <a:off x="6263640" y="492861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أمور يجب معرفتها · لماذا الآن · ابدأ الشراكة</a:t>
            </a:r>
            <a:endParaRPr lang="en-US" sz="1250" dirty="0"/>
          </a:p>
        </p:txBody>
      </p:sp>
      <p:sp>
        <p:nvSpPr>
          <p:cNvPr id="47" name="Shape 45"/>
          <p:cNvSpPr/>
          <p:nvPr/>
        </p:nvSpPr>
        <p:spPr>
          <a:xfrm>
            <a:off x="0" y="6510528"/>
            <a:ext cx="12191695" cy="347472"/>
          </a:xfrm>
          <a:prstGeom prst="rect">
            <a:avLst/>
          </a:prstGeom>
          <a:solidFill>
            <a:srgbClr val="F8F5F0"/>
          </a:solidFill>
          <a:ln/>
        </p:spPr>
      </p:sp>
      <p:sp>
        <p:nvSpPr>
          <p:cNvPr id="48" name="Text 46"/>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49" name="Text 47"/>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2 /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١ — فكرة التطبيق: لماذا AcadeGate؟</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قبل أن نتحدث عن عمولتك: هذه هي المشكلة التي نحلّها — ومنها يأتي عميلك إلى متجرك.</a:t>
            </a:r>
            <a:endParaRPr lang="en-US" sz="1300" dirty="0"/>
          </a:p>
        </p:txBody>
      </p:sp>
      <p:sp>
        <p:nvSpPr>
          <p:cNvPr id="7" name="Shape 5"/>
          <p:cNvSpPr/>
          <p:nvPr/>
        </p:nvSpPr>
        <p:spPr>
          <a:xfrm>
            <a:off x="411480" y="1508760"/>
            <a:ext cx="11368735" cy="1234440"/>
          </a:xfrm>
          <a:prstGeom prst="roundRect">
            <a:avLst>
              <a:gd name="adj" fmla="val 7407"/>
            </a:avLst>
          </a:prstGeom>
          <a:solidFill>
            <a:srgbClr val="EEF6F5"/>
          </a:solidFill>
          <a:ln w="12700">
            <a:solidFill>
              <a:srgbClr val="0F766E"/>
            </a:solidFill>
            <a:prstDash val="solid"/>
          </a:ln>
        </p:spPr>
      </p:sp>
      <p:sp>
        <p:nvSpPr>
          <p:cNvPr id="8" name="Text 6"/>
          <p:cNvSpPr/>
          <p:nvPr/>
        </p:nvSpPr>
        <p:spPr>
          <a:xfrm>
            <a:off x="640080" y="1645920"/>
            <a:ext cx="10911535" cy="96012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المشكلة: طالب الدراسات العليا والباحث العربي يحتاج مشرفاً، فكرة، مختبراً، معدات، كتابة، ومجتمعاً — لكنه يبحث عنها في قنوات متفرقة (واتساب، مجموعات، مواقع عامة) بلا ضمان ولا مسار واحد.</a:t>
            </a:r>
            <a:endParaRPr lang="en-US" sz="1400" dirty="0"/>
          </a:p>
        </p:txBody>
      </p:sp>
      <p:sp>
        <p:nvSpPr>
          <p:cNvPr id="9" name="Text 7"/>
          <p:cNvSpPr/>
          <p:nvPr/>
        </p:nvSpPr>
        <p:spPr>
          <a:xfrm>
            <a:off x="411480" y="2926080"/>
            <a:ext cx="11368735" cy="32004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الحل: رحلة واحدة مترابطة داخل المنصة</a:t>
            </a:r>
            <a:endParaRPr lang="en-US" sz="1500" dirty="0"/>
          </a:p>
        </p:txBody>
      </p:sp>
      <p:sp>
        <p:nvSpPr>
          <p:cNvPr id="10" name="Shape 8"/>
          <p:cNvSpPr/>
          <p:nvPr/>
        </p:nvSpPr>
        <p:spPr>
          <a:xfrm>
            <a:off x="411480" y="3337560"/>
            <a:ext cx="1783080" cy="960120"/>
          </a:xfrm>
          <a:prstGeom prst="roundRect">
            <a:avLst>
              <a:gd name="adj" fmla="val 9524"/>
            </a:avLst>
          </a:prstGeom>
          <a:solidFill>
            <a:srgbClr val="EEF6F5"/>
          </a:solidFill>
          <a:ln w="12700">
            <a:solidFill>
              <a:srgbClr val="CCFBF1"/>
            </a:solidFill>
            <a:prstDash val="solid"/>
          </a:ln>
        </p:spPr>
      </p:sp>
      <p:sp>
        <p:nvSpPr>
          <p:cNvPr id="11" name="Text 9"/>
          <p:cNvSpPr/>
          <p:nvPr/>
        </p:nvSpPr>
        <p:spPr>
          <a:xfrm>
            <a:off x="41148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1</a:t>
            </a:r>
            <a:endParaRPr lang="en-US" sz="1100" dirty="0"/>
          </a:p>
        </p:txBody>
      </p:sp>
      <p:sp>
        <p:nvSpPr>
          <p:cNvPr id="12" name="Text 10"/>
          <p:cNvSpPr/>
          <p:nvPr/>
        </p:nvSpPr>
        <p:spPr>
          <a:xfrm>
            <a:off x="45720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فكرة بحثية</a:t>
            </a:r>
            <a:endParaRPr lang="en-US" sz="1200" dirty="0"/>
          </a:p>
        </p:txBody>
      </p:sp>
      <p:sp>
        <p:nvSpPr>
          <p:cNvPr id="13" name="Shape 11"/>
          <p:cNvSpPr/>
          <p:nvPr/>
        </p:nvSpPr>
        <p:spPr>
          <a:xfrm>
            <a:off x="2331720" y="3337560"/>
            <a:ext cx="1783080" cy="960120"/>
          </a:xfrm>
          <a:prstGeom prst="roundRect">
            <a:avLst>
              <a:gd name="adj" fmla="val 9524"/>
            </a:avLst>
          </a:prstGeom>
          <a:solidFill>
            <a:srgbClr val="EEF6F5"/>
          </a:solidFill>
          <a:ln w="12700">
            <a:solidFill>
              <a:srgbClr val="CCFBF1"/>
            </a:solidFill>
            <a:prstDash val="solid"/>
          </a:ln>
        </p:spPr>
      </p:sp>
      <p:sp>
        <p:nvSpPr>
          <p:cNvPr id="14" name="Text 12"/>
          <p:cNvSpPr/>
          <p:nvPr/>
        </p:nvSpPr>
        <p:spPr>
          <a:xfrm>
            <a:off x="233172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2</a:t>
            </a:r>
            <a:endParaRPr lang="en-US" sz="1100" dirty="0"/>
          </a:p>
        </p:txBody>
      </p:sp>
      <p:sp>
        <p:nvSpPr>
          <p:cNvPr id="15" name="Text 13"/>
          <p:cNvSpPr/>
          <p:nvPr/>
        </p:nvSpPr>
        <p:spPr>
          <a:xfrm>
            <a:off x="237744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مشرف</a:t>
            </a:r>
            <a:endParaRPr lang="en-US" sz="1200" dirty="0"/>
          </a:p>
        </p:txBody>
      </p:sp>
      <p:sp>
        <p:nvSpPr>
          <p:cNvPr id="16" name="Shape 14"/>
          <p:cNvSpPr/>
          <p:nvPr/>
        </p:nvSpPr>
        <p:spPr>
          <a:xfrm>
            <a:off x="4251960" y="3337560"/>
            <a:ext cx="1783080" cy="960120"/>
          </a:xfrm>
          <a:prstGeom prst="roundRect">
            <a:avLst>
              <a:gd name="adj" fmla="val 9524"/>
            </a:avLst>
          </a:prstGeom>
          <a:solidFill>
            <a:srgbClr val="EEF6F5"/>
          </a:solidFill>
          <a:ln w="12700">
            <a:solidFill>
              <a:srgbClr val="CCFBF1"/>
            </a:solidFill>
            <a:prstDash val="solid"/>
          </a:ln>
        </p:spPr>
      </p:sp>
      <p:sp>
        <p:nvSpPr>
          <p:cNvPr id="17" name="Text 15"/>
          <p:cNvSpPr/>
          <p:nvPr/>
        </p:nvSpPr>
        <p:spPr>
          <a:xfrm>
            <a:off x="425196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3</a:t>
            </a:r>
            <a:endParaRPr lang="en-US" sz="1100" dirty="0"/>
          </a:p>
        </p:txBody>
      </p:sp>
      <p:sp>
        <p:nvSpPr>
          <p:cNvPr id="18" name="Text 16"/>
          <p:cNvSpPr/>
          <p:nvPr/>
        </p:nvSpPr>
        <p:spPr>
          <a:xfrm>
            <a:off x="429768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مختبر</a:t>
            </a:r>
            <a:endParaRPr lang="en-US" sz="1200" dirty="0"/>
          </a:p>
        </p:txBody>
      </p:sp>
      <p:sp>
        <p:nvSpPr>
          <p:cNvPr id="19" name="Shape 17"/>
          <p:cNvSpPr/>
          <p:nvPr/>
        </p:nvSpPr>
        <p:spPr>
          <a:xfrm>
            <a:off x="6172200" y="3337560"/>
            <a:ext cx="1783080" cy="960120"/>
          </a:xfrm>
          <a:prstGeom prst="roundRect">
            <a:avLst>
              <a:gd name="adj" fmla="val 9524"/>
            </a:avLst>
          </a:prstGeom>
          <a:solidFill>
            <a:srgbClr val="FFFBEB"/>
          </a:solidFill>
          <a:ln w="12700">
            <a:solidFill>
              <a:srgbClr val="B45309"/>
            </a:solidFill>
            <a:prstDash val="solid"/>
          </a:ln>
        </p:spPr>
      </p:sp>
      <p:sp>
        <p:nvSpPr>
          <p:cNvPr id="20" name="Text 18"/>
          <p:cNvSpPr/>
          <p:nvPr/>
        </p:nvSpPr>
        <p:spPr>
          <a:xfrm>
            <a:off x="617220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4</a:t>
            </a:r>
            <a:endParaRPr lang="en-US" sz="1100" dirty="0"/>
          </a:p>
        </p:txBody>
      </p:sp>
      <p:sp>
        <p:nvSpPr>
          <p:cNvPr id="21" name="Text 19"/>
          <p:cNvSpPr/>
          <p:nvPr/>
        </p:nvSpPr>
        <p:spPr>
          <a:xfrm>
            <a:off x="621792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معدات (متجرك)</a:t>
            </a:r>
            <a:endParaRPr lang="en-US" sz="1200" dirty="0"/>
          </a:p>
        </p:txBody>
      </p:sp>
      <p:sp>
        <p:nvSpPr>
          <p:cNvPr id="22" name="Shape 20"/>
          <p:cNvSpPr/>
          <p:nvPr/>
        </p:nvSpPr>
        <p:spPr>
          <a:xfrm>
            <a:off x="8092440" y="3337560"/>
            <a:ext cx="1783080" cy="960120"/>
          </a:xfrm>
          <a:prstGeom prst="roundRect">
            <a:avLst>
              <a:gd name="adj" fmla="val 9524"/>
            </a:avLst>
          </a:prstGeom>
          <a:solidFill>
            <a:srgbClr val="EEF6F5"/>
          </a:solidFill>
          <a:ln w="12700">
            <a:solidFill>
              <a:srgbClr val="CCFBF1"/>
            </a:solidFill>
            <a:prstDash val="solid"/>
          </a:ln>
        </p:spPr>
      </p:sp>
      <p:sp>
        <p:nvSpPr>
          <p:cNvPr id="23" name="Text 21"/>
          <p:cNvSpPr/>
          <p:nvPr/>
        </p:nvSpPr>
        <p:spPr>
          <a:xfrm>
            <a:off x="809244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5</a:t>
            </a:r>
            <a:endParaRPr lang="en-US" sz="1100" dirty="0"/>
          </a:p>
        </p:txBody>
      </p:sp>
      <p:sp>
        <p:nvSpPr>
          <p:cNvPr id="24" name="Text 22"/>
          <p:cNvSpPr/>
          <p:nvPr/>
        </p:nvSpPr>
        <p:spPr>
          <a:xfrm>
            <a:off x="813816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كتابة</a:t>
            </a:r>
            <a:endParaRPr lang="en-US" sz="1200" dirty="0"/>
          </a:p>
        </p:txBody>
      </p:sp>
      <p:sp>
        <p:nvSpPr>
          <p:cNvPr id="25" name="Shape 23"/>
          <p:cNvSpPr/>
          <p:nvPr/>
        </p:nvSpPr>
        <p:spPr>
          <a:xfrm>
            <a:off x="10012680" y="3337560"/>
            <a:ext cx="1783080" cy="960120"/>
          </a:xfrm>
          <a:prstGeom prst="roundRect">
            <a:avLst>
              <a:gd name="adj" fmla="val 9524"/>
            </a:avLst>
          </a:prstGeom>
          <a:solidFill>
            <a:srgbClr val="EEF6F5"/>
          </a:solidFill>
          <a:ln w="12700">
            <a:solidFill>
              <a:srgbClr val="CCFBF1"/>
            </a:solidFill>
            <a:prstDash val="solid"/>
          </a:ln>
        </p:spPr>
      </p:sp>
      <p:sp>
        <p:nvSpPr>
          <p:cNvPr id="26" name="Text 24"/>
          <p:cNvSpPr/>
          <p:nvPr/>
        </p:nvSpPr>
        <p:spPr>
          <a:xfrm>
            <a:off x="1001268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6</a:t>
            </a:r>
            <a:endParaRPr lang="en-US" sz="1100" dirty="0"/>
          </a:p>
        </p:txBody>
      </p:sp>
      <p:sp>
        <p:nvSpPr>
          <p:cNvPr id="27" name="Text 25"/>
          <p:cNvSpPr/>
          <p:nvPr/>
        </p:nvSpPr>
        <p:spPr>
          <a:xfrm>
            <a:off x="1005840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مجتمع + AI</a:t>
            </a:r>
            <a:endParaRPr lang="en-US" sz="1200" dirty="0"/>
          </a:p>
        </p:txBody>
      </p:sp>
      <p:sp>
        <p:nvSpPr>
          <p:cNvPr id="28" name="Shape 26"/>
          <p:cNvSpPr/>
          <p:nvPr/>
        </p:nvSpPr>
        <p:spPr>
          <a:xfrm>
            <a:off x="411480" y="4572000"/>
            <a:ext cx="11368735" cy="1417320"/>
          </a:xfrm>
          <a:prstGeom prst="roundRect">
            <a:avLst>
              <a:gd name="adj" fmla="val 6452"/>
            </a:avLst>
          </a:prstGeom>
          <a:solidFill>
            <a:srgbClr val="FFFBEB"/>
          </a:solidFill>
          <a:ln w="12700">
            <a:solidFill>
              <a:srgbClr val="B45309"/>
            </a:solidFill>
            <a:prstDash val="solid"/>
          </a:ln>
        </p:spPr>
      </p:sp>
      <p:sp>
        <p:nvSpPr>
          <p:cNvPr id="29" name="Text 27"/>
          <p:cNvSpPr/>
          <p:nvPr/>
        </p:nvSpPr>
        <p:spPr>
          <a:xfrm>
            <a:off x="640080" y="4709160"/>
            <a:ext cx="10911535" cy="320040"/>
          </a:xfrm>
          <a:prstGeom prst="rect">
            <a:avLst/>
          </a:prstGeom>
          <a:noFill/>
          <a:ln/>
        </p:spPr>
        <p:txBody>
          <a:bodyPr wrap="square" rtlCol="0" anchor="ctr"/>
          <a:lstStyle/>
          <a:p>
            <a:pPr rtl="1" algn="r" indent="0" marL="0">
              <a:buNone/>
            </a:pPr>
            <a:r>
              <a:rPr lang="en-US" sz="1400" b="1" dirty="0">
                <a:solidFill>
                  <a:srgbClr val="B45309"/>
                </a:solidFill>
                <a:latin typeface="Segoe UI" pitchFamily="34" charset="0"/>
                <a:ea typeface="Segoe UI" pitchFamily="34" charset="-122"/>
                <a:cs typeface="Segoe UI" pitchFamily="34" charset="-120"/>
              </a:rPr>
              <a:t>ماذا يعني ذلك للمورد؟</a:t>
            </a:r>
            <a:endParaRPr lang="en-US" sz="1400" dirty="0"/>
          </a:p>
        </p:txBody>
      </p:sp>
      <p:sp>
        <p:nvSpPr>
          <p:cNvPr id="30" name="Text 28"/>
          <p:cNvSpPr/>
          <p:nvPr/>
        </p:nvSpPr>
        <p:spPr>
          <a:xfrm>
            <a:off x="640080" y="5074920"/>
            <a:ext cx="10911535" cy="77724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المتجر ليس «إعلاناً منفصلاً». الباحث يعيش أسابيع داخل المنصة (ملف أكاديمي · مسار بحث · مختبرات · AI) — وعندما يحتاج كواشف أو أجهزة يصل إليك داخل نفس الرحلة، مع ثقة Escrow.</a:t>
            </a:r>
            <a:endParaRPr lang="en-US" sz="1300" dirty="0"/>
          </a:p>
        </p:txBody>
      </p:sp>
      <p:sp>
        <p:nvSpPr>
          <p:cNvPr id="31" name="Shape 29"/>
          <p:cNvSpPr/>
          <p:nvPr/>
        </p:nvSpPr>
        <p:spPr>
          <a:xfrm>
            <a:off x="0" y="6510528"/>
            <a:ext cx="12191695" cy="347472"/>
          </a:xfrm>
          <a:prstGeom prst="rect">
            <a:avLst/>
          </a:prstGeom>
          <a:solidFill>
            <a:srgbClr val="F8F5F0"/>
          </a:solidFill>
          <a:ln/>
        </p:spPr>
      </p:sp>
      <p:sp>
        <p:nvSpPr>
          <p:cNvPr id="32" name="Text 30"/>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3" name="Text 31"/>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3 /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٢ — لماذا AcadeGate فرصة للمورد؟</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المشتري الأكاديمي يشتري بشكل متكرر لكنه مشتت بين واتساب ومجموعات ومواقع لا تفهم احتياجاته.</a:t>
            </a:r>
            <a:endParaRPr lang="en-US" sz="1300" dirty="0"/>
          </a:p>
        </p:txBody>
      </p:sp>
      <p:sp>
        <p:nvSpPr>
          <p:cNvPr id="7" name="Shape 5"/>
          <p:cNvSpPr/>
          <p:nvPr/>
        </p:nvSpPr>
        <p:spPr>
          <a:xfrm>
            <a:off x="411480" y="1554480"/>
            <a:ext cx="3611880" cy="1371600"/>
          </a:xfrm>
          <a:prstGeom prst="roundRect">
            <a:avLst>
              <a:gd name="adj" fmla="val 6667"/>
            </a:avLst>
          </a:prstGeom>
          <a:solidFill>
            <a:srgbClr val="EEF6F5"/>
          </a:solidFill>
          <a:ln w="12700">
            <a:solidFill>
              <a:srgbClr val="CCFBF1"/>
            </a:solidFill>
            <a:prstDash val="solid"/>
          </a:ln>
        </p:spPr>
      </p:sp>
      <p:sp>
        <p:nvSpPr>
          <p:cNvPr id="8" name="Text 6"/>
          <p:cNvSpPr/>
          <p:nvPr/>
        </p:nvSpPr>
        <p:spPr>
          <a:xfrm>
            <a:off x="548640" y="1691640"/>
            <a:ext cx="3337560" cy="411480"/>
          </a:xfrm>
          <a:prstGeom prst="rect">
            <a:avLst/>
          </a:prstGeom>
          <a:noFill/>
          <a:ln/>
        </p:spPr>
        <p:txBody>
          <a:bodyPr wrap="square" rtlCol="0" anchor="ctr"/>
          <a:lstStyle/>
          <a:p>
            <a:pPr rtl="1" algn="ctr" indent="0" marL="0">
              <a:buNone/>
            </a:pPr>
            <a:r>
              <a:rPr lang="en-US" sz="1800" b="1" dirty="0">
                <a:solidFill>
                  <a:srgbClr val="0B1F4D"/>
                </a:solidFill>
                <a:latin typeface="Segoe UI" pitchFamily="34" charset="0"/>
                <a:ea typeface="Segoe UI" pitchFamily="34" charset="-122"/>
                <a:cs typeface="Segoe UI" pitchFamily="34" charset="-120"/>
              </a:rPr>
              <a:t>عميل مقصود</a:t>
            </a:r>
            <a:endParaRPr lang="en-US" sz="1800" dirty="0"/>
          </a:p>
        </p:txBody>
      </p:sp>
      <p:sp>
        <p:nvSpPr>
          <p:cNvPr id="9" name="Text 7"/>
          <p:cNvSpPr/>
          <p:nvPr/>
        </p:nvSpPr>
        <p:spPr>
          <a:xfrm>
            <a:off x="548640" y="2194560"/>
            <a:ext cx="3337560" cy="502920"/>
          </a:xfrm>
          <a:prstGeom prst="rect">
            <a:avLst/>
          </a:prstGeom>
          <a:noFill/>
          <a:ln/>
        </p:spPr>
        <p:txBody>
          <a:bodyPr wrap="square" rtlCol="0" anchor="ctr"/>
          <a:lstStyle/>
          <a:p>
            <a:pPr rtl="1" algn="ctr" indent="0" marL="0">
              <a:buNone/>
            </a:pPr>
            <a:r>
              <a:rPr lang="en-US" sz="1200" dirty="0">
                <a:solidFill>
                  <a:srgbClr val="475569"/>
                </a:solidFill>
                <a:latin typeface="Segoe UI" pitchFamily="34" charset="0"/>
                <a:ea typeface="Segoe UI" pitchFamily="34" charset="-122"/>
                <a:cs typeface="Segoe UI" pitchFamily="34" charset="-120"/>
              </a:rPr>
              <a:t>باحث يبحث عن منتج محدد، لا متصفح عشوائي</a:t>
            </a:r>
            <a:endParaRPr lang="en-US" sz="1200" dirty="0"/>
          </a:p>
        </p:txBody>
      </p:sp>
      <p:sp>
        <p:nvSpPr>
          <p:cNvPr id="10" name="Shape 8"/>
          <p:cNvSpPr/>
          <p:nvPr/>
        </p:nvSpPr>
        <p:spPr>
          <a:xfrm>
            <a:off x="4206240" y="1554480"/>
            <a:ext cx="3611880" cy="1371600"/>
          </a:xfrm>
          <a:prstGeom prst="roundRect">
            <a:avLst>
              <a:gd name="adj" fmla="val 6667"/>
            </a:avLst>
          </a:prstGeom>
          <a:solidFill>
            <a:srgbClr val="EEF6F5"/>
          </a:solidFill>
          <a:ln w="12700">
            <a:solidFill>
              <a:srgbClr val="CCFBF1"/>
            </a:solidFill>
            <a:prstDash val="solid"/>
          </a:ln>
        </p:spPr>
      </p:sp>
      <p:sp>
        <p:nvSpPr>
          <p:cNvPr id="11" name="Text 9"/>
          <p:cNvSpPr/>
          <p:nvPr/>
        </p:nvSpPr>
        <p:spPr>
          <a:xfrm>
            <a:off x="4343400" y="1691640"/>
            <a:ext cx="3337560" cy="411480"/>
          </a:xfrm>
          <a:prstGeom prst="rect">
            <a:avLst/>
          </a:prstGeom>
          <a:noFill/>
          <a:ln/>
        </p:spPr>
        <p:txBody>
          <a:bodyPr wrap="square" rtlCol="0" anchor="ctr"/>
          <a:lstStyle/>
          <a:p>
            <a:pPr rtl="1" algn="ctr" indent="0" marL="0">
              <a:buNone/>
            </a:pPr>
            <a:r>
              <a:rPr lang="en-US" sz="1800" b="1" dirty="0">
                <a:solidFill>
                  <a:srgbClr val="0B1F4D"/>
                </a:solidFill>
                <a:latin typeface="Segoe UI" pitchFamily="34" charset="0"/>
                <a:ea typeface="Segoe UI" pitchFamily="34" charset="-122"/>
                <a:cs typeface="Segoe UI" pitchFamily="34" charset="-120"/>
              </a:rPr>
              <a:t>ثقة أعلى</a:t>
            </a:r>
            <a:endParaRPr lang="en-US" sz="1800" dirty="0"/>
          </a:p>
        </p:txBody>
      </p:sp>
      <p:sp>
        <p:nvSpPr>
          <p:cNvPr id="12" name="Text 10"/>
          <p:cNvSpPr/>
          <p:nvPr/>
        </p:nvSpPr>
        <p:spPr>
          <a:xfrm>
            <a:off x="4343400" y="2194560"/>
            <a:ext cx="3337560" cy="502920"/>
          </a:xfrm>
          <a:prstGeom prst="rect">
            <a:avLst/>
          </a:prstGeom>
          <a:noFill/>
          <a:ln/>
        </p:spPr>
        <p:txBody>
          <a:bodyPr wrap="square" rtlCol="0" anchor="ctr"/>
          <a:lstStyle/>
          <a:p>
            <a:pPr rtl="1" algn="ctr" indent="0" marL="0">
              <a:buNone/>
            </a:pPr>
            <a:r>
              <a:rPr lang="en-US" sz="1200" dirty="0">
                <a:solidFill>
                  <a:srgbClr val="475569"/>
                </a:solidFill>
                <a:latin typeface="Segoe UI" pitchFamily="34" charset="0"/>
                <a:ea typeface="Segoe UI" pitchFamily="34" charset="-122"/>
                <a:cs typeface="Segoe UI" pitchFamily="34" charset="-120"/>
              </a:rPr>
              <a:t>ضمان حجز المبلغ حتى تأكيد الاستلام</a:t>
            </a:r>
            <a:endParaRPr lang="en-US" sz="1200" dirty="0"/>
          </a:p>
        </p:txBody>
      </p:sp>
      <p:sp>
        <p:nvSpPr>
          <p:cNvPr id="13" name="Shape 11"/>
          <p:cNvSpPr/>
          <p:nvPr/>
        </p:nvSpPr>
        <p:spPr>
          <a:xfrm>
            <a:off x="8001000" y="1554480"/>
            <a:ext cx="3611880" cy="1371600"/>
          </a:xfrm>
          <a:prstGeom prst="roundRect">
            <a:avLst>
              <a:gd name="adj" fmla="val 6667"/>
            </a:avLst>
          </a:prstGeom>
          <a:solidFill>
            <a:srgbClr val="EEF6F5"/>
          </a:solidFill>
          <a:ln w="12700">
            <a:solidFill>
              <a:srgbClr val="CCFBF1"/>
            </a:solidFill>
            <a:prstDash val="solid"/>
          </a:ln>
        </p:spPr>
      </p:sp>
      <p:sp>
        <p:nvSpPr>
          <p:cNvPr id="14" name="Text 12"/>
          <p:cNvSpPr/>
          <p:nvPr/>
        </p:nvSpPr>
        <p:spPr>
          <a:xfrm>
            <a:off x="8138160" y="1691640"/>
            <a:ext cx="3337560" cy="411480"/>
          </a:xfrm>
          <a:prstGeom prst="rect">
            <a:avLst/>
          </a:prstGeom>
          <a:noFill/>
          <a:ln/>
        </p:spPr>
        <p:txBody>
          <a:bodyPr wrap="square" rtlCol="0" anchor="ctr"/>
          <a:lstStyle/>
          <a:p>
            <a:pPr rtl="1" algn="ctr" indent="0" marL="0">
              <a:buNone/>
            </a:pPr>
            <a:r>
              <a:rPr lang="en-US" sz="1800" b="1" dirty="0">
                <a:solidFill>
                  <a:srgbClr val="0B1F4D"/>
                </a:solidFill>
                <a:latin typeface="Segoe UI" pitchFamily="34" charset="0"/>
                <a:ea typeface="Segoe UI" pitchFamily="34" charset="-122"/>
                <a:cs typeface="Segoe UI" pitchFamily="34" charset="-120"/>
              </a:rPr>
              <a:t>ظهور متخصص</a:t>
            </a:r>
            <a:endParaRPr lang="en-US" sz="1800" dirty="0"/>
          </a:p>
        </p:txBody>
      </p:sp>
      <p:sp>
        <p:nvSpPr>
          <p:cNvPr id="15" name="Text 13"/>
          <p:cNvSpPr/>
          <p:nvPr/>
        </p:nvSpPr>
        <p:spPr>
          <a:xfrm>
            <a:off x="8138160" y="2194560"/>
            <a:ext cx="3337560" cy="502920"/>
          </a:xfrm>
          <a:prstGeom prst="rect">
            <a:avLst/>
          </a:prstGeom>
          <a:noFill/>
          <a:ln/>
        </p:spPr>
        <p:txBody>
          <a:bodyPr wrap="square" rtlCol="0" anchor="ctr"/>
          <a:lstStyle/>
          <a:p>
            <a:pPr rtl="1" algn="ctr" indent="0" marL="0">
              <a:buNone/>
            </a:pPr>
            <a:r>
              <a:rPr lang="en-US" sz="1200" dirty="0">
                <a:solidFill>
                  <a:srgbClr val="475569"/>
                </a:solidFill>
                <a:latin typeface="Segoe UI" pitchFamily="34" charset="0"/>
                <a:ea typeface="Segoe UI" pitchFamily="34" charset="-122"/>
                <a:cs typeface="Segoe UI" pitchFamily="34" charset="-120"/>
              </a:rPr>
              <a:t>١٥ قسماً أكاديمياً — لا منافسة سوبرماركت</a:t>
            </a:r>
            <a:endParaRPr lang="en-US" sz="1200" dirty="0"/>
          </a:p>
        </p:txBody>
      </p:sp>
      <p:sp>
        <p:nvSpPr>
          <p:cNvPr id="16" name="Text 14"/>
          <p:cNvSpPr/>
          <p:nvPr/>
        </p:nvSpPr>
        <p:spPr>
          <a:xfrm>
            <a:off x="411480" y="3200400"/>
            <a:ext cx="11368735" cy="320040"/>
          </a:xfrm>
          <a:prstGeom prst="rect">
            <a:avLst/>
          </a:prstGeom>
          <a:noFill/>
          <a:ln/>
        </p:spPr>
        <p:txBody>
          <a:bodyPr wrap="square" rtlCol="0" anchor="ctr"/>
          <a:lstStyle/>
          <a:p>
            <a:pPr rtl="1" algn="r" indent="0" marL="0">
              <a:buNone/>
            </a:pPr>
            <a:r>
              <a:rPr lang="en-US" sz="1500" b="1" dirty="0">
                <a:solidFill>
                  <a:srgbClr val="0F766E"/>
                </a:solidFill>
                <a:latin typeface="Segoe UI" pitchFamily="34" charset="0"/>
                <a:ea typeface="Segoe UI" pitchFamily="34" charset="-122"/>
                <a:cs typeface="Segoe UI" pitchFamily="34" charset="-120"/>
              </a:rPr>
              <a:t>ما الذي نخسره اليوم بدون منصة؟</a:t>
            </a:r>
            <a:endParaRPr lang="en-US" sz="1500" dirty="0"/>
          </a:p>
        </p:txBody>
      </p:sp>
      <p:sp>
        <p:nvSpPr>
          <p:cNvPr id="17" name="Shape 15"/>
          <p:cNvSpPr/>
          <p:nvPr/>
        </p:nvSpPr>
        <p:spPr>
          <a:xfrm>
            <a:off x="411480" y="3657600"/>
            <a:ext cx="2743200" cy="2148840"/>
          </a:xfrm>
          <a:prstGeom prst="roundRect">
            <a:avLst>
              <a:gd name="adj" fmla="val 4255"/>
            </a:avLst>
          </a:prstGeom>
          <a:solidFill>
            <a:srgbClr val="FFFFFF"/>
          </a:solidFill>
          <a:ln w="12700">
            <a:solidFill>
              <a:srgbClr val="D6D3D1"/>
            </a:solidFill>
            <a:prstDash val="solid"/>
          </a:ln>
        </p:spPr>
      </p:sp>
      <p:sp>
        <p:nvSpPr>
          <p:cNvPr id="18" name="Text 16"/>
          <p:cNvSpPr/>
          <p:nvPr/>
        </p:nvSpPr>
        <p:spPr>
          <a:xfrm>
            <a:off x="54864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قنوات غير منظمة</a:t>
            </a:r>
            <a:endParaRPr lang="en-US" sz="1400" dirty="0"/>
          </a:p>
        </p:txBody>
      </p:sp>
      <p:sp>
        <p:nvSpPr>
          <p:cNvPr id="19" name="Text 17"/>
          <p:cNvSpPr/>
          <p:nvPr/>
        </p:nvSpPr>
        <p:spPr>
          <a:xfrm>
            <a:off x="54864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طلبات بلا سجل ولا متابعة</a:t>
            </a:r>
            <a:endParaRPr lang="en-US" sz="1300" dirty="0"/>
          </a:p>
        </p:txBody>
      </p:sp>
      <p:sp>
        <p:nvSpPr>
          <p:cNvPr id="20" name="Shape 18"/>
          <p:cNvSpPr/>
          <p:nvPr/>
        </p:nvSpPr>
        <p:spPr>
          <a:xfrm>
            <a:off x="3291840" y="3657600"/>
            <a:ext cx="2743200" cy="2148840"/>
          </a:xfrm>
          <a:prstGeom prst="roundRect">
            <a:avLst>
              <a:gd name="adj" fmla="val 4255"/>
            </a:avLst>
          </a:prstGeom>
          <a:solidFill>
            <a:srgbClr val="FFFFFF"/>
          </a:solidFill>
          <a:ln w="12700">
            <a:solidFill>
              <a:srgbClr val="D6D3D1"/>
            </a:solidFill>
            <a:prstDash val="solid"/>
          </a:ln>
        </p:spPr>
      </p:sp>
      <p:sp>
        <p:nvSpPr>
          <p:cNvPr id="21" name="Text 19"/>
          <p:cNvSpPr/>
          <p:nvPr/>
        </p:nvSpPr>
        <p:spPr>
          <a:xfrm>
            <a:off x="342900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خلافات دفع</a:t>
            </a:r>
            <a:endParaRPr lang="en-US" sz="1400" dirty="0"/>
          </a:p>
        </p:txBody>
      </p:sp>
      <p:sp>
        <p:nvSpPr>
          <p:cNvPr id="22" name="Text 20"/>
          <p:cNvSpPr/>
          <p:nvPr/>
        </p:nvSpPr>
        <p:spPr>
          <a:xfrm>
            <a:off x="342900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بدون وسيط محايد عند التحويل</a:t>
            </a:r>
            <a:endParaRPr lang="en-US" sz="1300" dirty="0"/>
          </a:p>
        </p:txBody>
      </p:sp>
      <p:sp>
        <p:nvSpPr>
          <p:cNvPr id="23" name="Shape 21"/>
          <p:cNvSpPr/>
          <p:nvPr/>
        </p:nvSpPr>
        <p:spPr>
          <a:xfrm>
            <a:off x="6172200" y="3657600"/>
            <a:ext cx="2743200" cy="2148840"/>
          </a:xfrm>
          <a:prstGeom prst="roundRect">
            <a:avLst>
              <a:gd name="adj" fmla="val 4255"/>
            </a:avLst>
          </a:prstGeom>
          <a:solidFill>
            <a:srgbClr val="FFFFFF"/>
          </a:solidFill>
          <a:ln w="12700">
            <a:solidFill>
              <a:srgbClr val="D6D3D1"/>
            </a:solidFill>
            <a:prstDash val="solid"/>
          </a:ln>
        </p:spPr>
      </p:sp>
      <p:sp>
        <p:nvSpPr>
          <p:cNvPr id="24" name="Text 22"/>
          <p:cNvSpPr/>
          <p:nvPr/>
        </p:nvSpPr>
        <p:spPr>
          <a:xfrm>
            <a:off x="630936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وصول محدود</a:t>
            </a:r>
            <a:endParaRPr lang="en-US" sz="1400" dirty="0"/>
          </a:p>
        </p:txBody>
      </p:sp>
      <p:sp>
        <p:nvSpPr>
          <p:cNvPr id="25" name="Text 23"/>
          <p:cNvSpPr/>
          <p:nvPr/>
        </p:nvSpPr>
        <p:spPr>
          <a:xfrm>
            <a:off x="630936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خارج شبكة علاقاتك الحالية</a:t>
            </a:r>
            <a:endParaRPr lang="en-US" sz="1300" dirty="0"/>
          </a:p>
        </p:txBody>
      </p:sp>
      <p:sp>
        <p:nvSpPr>
          <p:cNvPr id="26" name="Shape 24"/>
          <p:cNvSpPr/>
          <p:nvPr/>
        </p:nvSpPr>
        <p:spPr>
          <a:xfrm>
            <a:off x="9052560" y="3657600"/>
            <a:ext cx="2743200" cy="2148840"/>
          </a:xfrm>
          <a:prstGeom prst="roundRect">
            <a:avLst>
              <a:gd name="adj" fmla="val 4255"/>
            </a:avLst>
          </a:prstGeom>
          <a:solidFill>
            <a:srgbClr val="FFFFFF"/>
          </a:solidFill>
          <a:ln w="12700">
            <a:solidFill>
              <a:srgbClr val="D6D3D1"/>
            </a:solidFill>
            <a:prstDash val="solid"/>
          </a:ln>
        </p:spPr>
      </p:sp>
      <p:sp>
        <p:nvSpPr>
          <p:cNvPr id="27" name="Text 25"/>
          <p:cNvSpPr/>
          <p:nvPr/>
        </p:nvSpPr>
        <p:spPr>
          <a:xfrm>
            <a:off x="918972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بلا سمعة رقمية</a:t>
            </a:r>
            <a:endParaRPr lang="en-US" sz="1400" dirty="0"/>
          </a:p>
        </p:txBody>
      </p:sp>
      <p:sp>
        <p:nvSpPr>
          <p:cNvPr id="28" name="Text 26"/>
          <p:cNvSpPr/>
          <p:nvPr/>
        </p:nvSpPr>
        <p:spPr>
          <a:xfrm>
            <a:off x="918972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لا تقييم أكاديمي لمنتجاتك</a:t>
            </a:r>
            <a:endParaRPr lang="en-US" sz="1300" dirty="0"/>
          </a:p>
        </p:txBody>
      </p:sp>
      <p:sp>
        <p:nvSpPr>
          <p:cNvPr id="29" name="Shape 27"/>
          <p:cNvSpPr/>
          <p:nvPr/>
        </p:nvSpPr>
        <p:spPr>
          <a:xfrm>
            <a:off x="0" y="6510528"/>
            <a:ext cx="12191695" cy="347472"/>
          </a:xfrm>
          <a:prstGeom prst="rect">
            <a:avLst/>
          </a:prstGeom>
          <a:solidFill>
            <a:srgbClr val="F8F5F0"/>
          </a:solidFill>
          <a:ln/>
        </p:spPr>
      </p:sp>
      <p:sp>
        <p:nvSpPr>
          <p:cNvPr id="30" name="Text 28"/>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1" name="Text 29"/>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4 /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٣ — ماذا تقدّم المنصة ككل؟</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قوة المتجر = الباحث يعيش داخل المنصة أسابيع — لا زيارة واحدة ويختفي.</a:t>
            </a:r>
            <a:endParaRPr lang="en-US" sz="1300" dirty="0"/>
          </a:p>
        </p:txBody>
      </p:sp>
      <p:sp>
        <p:nvSpPr>
          <p:cNvPr id="7" name="Shape 5"/>
          <p:cNvSpPr/>
          <p:nvPr/>
        </p:nvSpPr>
        <p:spPr>
          <a:xfrm>
            <a:off x="411480" y="1508760"/>
            <a:ext cx="5440680" cy="1280160"/>
          </a:xfrm>
          <a:prstGeom prst="roundRect">
            <a:avLst>
              <a:gd name="adj" fmla="val 7143"/>
            </a:avLst>
          </a:prstGeom>
          <a:solidFill>
            <a:srgbClr val="FFFFFF"/>
          </a:solidFill>
          <a:ln w="12700">
            <a:solidFill>
              <a:srgbClr val="D6D3D1"/>
            </a:solidFill>
            <a:prstDash val="solid"/>
          </a:ln>
        </p:spPr>
      </p:sp>
      <p:sp>
        <p:nvSpPr>
          <p:cNvPr id="8" name="Shape 6"/>
          <p:cNvSpPr/>
          <p:nvPr/>
        </p:nvSpPr>
        <p:spPr>
          <a:xfrm>
            <a:off x="5212080" y="1691640"/>
            <a:ext cx="457200" cy="457200"/>
          </a:xfrm>
          <a:prstGeom prst="roundRect">
            <a:avLst>
              <a:gd name="adj" fmla="val 16000"/>
            </a:avLst>
          </a:prstGeom>
          <a:solidFill>
            <a:srgbClr val="0B1F4D"/>
          </a:solidFill>
          <a:ln/>
        </p:spPr>
      </p:sp>
      <p:sp>
        <p:nvSpPr>
          <p:cNvPr id="9" name="Text 7"/>
          <p:cNvSpPr/>
          <p:nvPr/>
        </p:nvSpPr>
        <p:spPr>
          <a:xfrm>
            <a:off x="5212080" y="1691640"/>
            <a:ext cx="457200" cy="457200"/>
          </a:xfrm>
          <a:prstGeom prst="rect">
            <a:avLst/>
          </a:prstGeom>
          <a:noFill/>
          <a:ln/>
        </p:spPr>
        <p:txBody>
          <a:bodyPr wrap="square" rtlCol="0" anchor="ctr"/>
          <a:lstStyle/>
          <a:p>
            <a:pPr algn="ctr" indent="0" marL="0">
              <a:buNone/>
            </a:pPr>
            <a:r>
              <a:rPr lang="en-US" sz="1600" b="1" dirty="0">
                <a:solidFill>
                  <a:srgbClr val="FFFFFF"/>
                </a:solidFill>
              </a:rPr>
              <a:t>١</a:t>
            </a:r>
            <a:endParaRPr lang="en-US" sz="1600" dirty="0"/>
          </a:p>
        </p:txBody>
      </p:sp>
      <p:sp>
        <p:nvSpPr>
          <p:cNvPr id="10" name="Text 8"/>
          <p:cNvSpPr/>
          <p:nvPr/>
        </p:nvSpPr>
        <p:spPr>
          <a:xfrm>
            <a:off x="594360" y="1645920"/>
            <a:ext cx="4480560" cy="36576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بوابة الباحث / الطالب</a:t>
            </a:r>
            <a:endParaRPr lang="en-US" sz="1500" dirty="0"/>
          </a:p>
        </p:txBody>
      </p:sp>
      <p:sp>
        <p:nvSpPr>
          <p:cNvPr id="11" name="Text 9"/>
          <p:cNvSpPr/>
          <p:nvPr/>
        </p:nvSpPr>
        <p:spPr>
          <a:xfrm>
            <a:off x="594360" y="2103120"/>
            <a:ext cx="4480560" cy="50292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مشرفون · أفكار · مختبرات · متجر · كتابة · مجتمع · AI · أخبار · تمويل · نشر</a:t>
            </a:r>
            <a:endParaRPr lang="en-US" sz="1200" dirty="0"/>
          </a:p>
        </p:txBody>
      </p:sp>
      <p:sp>
        <p:nvSpPr>
          <p:cNvPr id="12" name="Shape 10"/>
          <p:cNvSpPr/>
          <p:nvPr/>
        </p:nvSpPr>
        <p:spPr>
          <a:xfrm>
            <a:off x="6080760" y="1508760"/>
            <a:ext cx="5440680" cy="1280160"/>
          </a:xfrm>
          <a:prstGeom prst="roundRect">
            <a:avLst>
              <a:gd name="adj" fmla="val 7143"/>
            </a:avLst>
          </a:prstGeom>
          <a:solidFill>
            <a:srgbClr val="FFFFFF"/>
          </a:solidFill>
          <a:ln w="12700">
            <a:solidFill>
              <a:srgbClr val="D6D3D1"/>
            </a:solidFill>
            <a:prstDash val="solid"/>
          </a:ln>
        </p:spPr>
      </p:sp>
      <p:sp>
        <p:nvSpPr>
          <p:cNvPr id="13" name="Shape 11"/>
          <p:cNvSpPr/>
          <p:nvPr/>
        </p:nvSpPr>
        <p:spPr>
          <a:xfrm>
            <a:off x="10881360" y="1691640"/>
            <a:ext cx="457200" cy="457200"/>
          </a:xfrm>
          <a:prstGeom prst="roundRect">
            <a:avLst>
              <a:gd name="adj" fmla="val 16000"/>
            </a:avLst>
          </a:prstGeom>
          <a:solidFill>
            <a:srgbClr val="0B1F4D"/>
          </a:solidFill>
          <a:ln/>
        </p:spPr>
      </p:sp>
      <p:sp>
        <p:nvSpPr>
          <p:cNvPr id="14" name="Text 12"/>
          <p:cNvSpPr/>
          <p:nvPr/>
        </p:nvSpPr>
        <p:spPr>
          <a:xfrm>
            <a:off x="10881360" y="1691640"/>
            <a:ext cx="457200" cy="457200"/>
          </a:xfrm>
          <a:prstGeom prst="rect">
            <a:avLst/>
          </a:prstGeom>
          <a:noFill/>
          <a:ln/>
        </p:spPr>
        <p:txBody>
          <a:bodyPr wrap="square" rtlCol="0" anchor="ctr"/>
          <a:lstStyle/>
          <a:p>
            <a:pPr algn="ctr" indent="0" marL="0">
              <a:buNone/>
            </a:pPr>
            <a:r>
              <a:rPr lang="en-US" sz="1600" b="1" dirty="0">
                <a:solidFill>
                  <a:srgbClr val="FFFFFF"/>
                </a:solidFill>
              </a:rPr>
              <a:t>٢</a:t>
            </a:r>
            <a:endParaRPr lang="en-US" sz="1600" dirty="0"/>
          </a:p>
        </p:txBody>
      </p:sp>
      <p:sp>
        <p:nvSpPr>
          <p:cNvPr id="15" name="Text 13"/>
          <p:cNvSpPr/>
          <p:nvPr/>
        </p:nvSpPr>
        <p:spPr>
          <a:xfrm>
            <a:off x="6263640" y="1645920"/>
            <a:ext cx="4480560" cy="36576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بوابة مقدم الخدمة</a:t>
            </a:r>
            <a:endParaRPr lang="en-US" sz="1500" dirty="0"/>
          </a:p>
        </p:txBody>
      </p:sp>
      <p:sp>
        <p:nvSpPr>
          <p:cNvPr id="16" name="Text 14"/>
          <p:cNvSpPr/>
          <p:nvPr/>
        </p:nvSpPr>
        <p:spPr>
          <a:xfrm>
            <a:off x="6263640" y="2103120"/>
            <a:ext cx="4480560" cy="50292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للمورد والمختبر والكاتب: طلبات واردة · نشر · متابعة · رسائل · لوحة مساهمة</a:t>
            </a:r>
            <a:endParaRPr lang="en-US" sz="1200" dirty="0"/>
          </a:p>
        </p:txBody>
      </p:sp>
      <p:sp>
        <p:nvSpPr>
          <p:cNvPr id="17" name="Shape 15"/>
          <p:cNvSpPr/>
          <p:nvPr/>
        </p:nvSpPr>
        <p:spPr>
          <a:xfrm>
            <a:off x="411480" y="3017520"/>
            <a:ext cx="3611880" cy="1280160"/>
          </a:xfrm>
          <a:prstGeom prst="roundRect">
            <a:avLst>
              <a:gd name="adj" fmla="val 7143"/>
            </a:avLst>
          </a:prstGeom>
          <a:solidFill>
            <a:srgbClr val="FFFFFF"/>
          </a:solidFill>
          <a:ln w="12700">
            <a:solidFill>
              <a:srgbClr val="D6D3D1"/>
            </a:solidFill>
            <a:prstDash val="solid"/>
          </a:ln>
        </p:spPr>
      </p:sp>
      <p:sp>
        <p:nvSpPr>
          <p:cNvPr id="18" name="Text 16"/>
          <p:cNvSpPr/>
          <p:nvPr/>
        </p:nvSpPr>
        <p:spPr>
          <a:xfrm>
            <a:off x="594360" y="329184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المشرفون</a:t>
            </a:r>
            <a:endParaRPr lang="en-US" sz="1400" dirty="0"/>
          </a:p>
        </p:txBody>
      </p:sp>
      <p:sp>
        <p:nvSpPr>
          <p:cNvPr id="19" name="Text 17"/>
          <p:cNvSpPr/>
          <p:nvPr/>
        </p:nvSpPr>
        <p:spPr>
          <a:xfrm>
            <a:off x="594360" y="374904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طلاب مشاريع تحتاج معدات</a:t>
            </a:r>
            <a:endParaRPr lang="en-US" sz="1200" dirty="0"/>
          </a:p>
        </p:txBody>
      </p:sp>
      <p:sp>
        <p:nvSpPr>
          <p:cNvPr id="20" name="Shape 18"/>
          <p:cNvSpPr/>
          <p:nvPr/>
        </p:nvSpPr>
        <p:spPr>
          <a:xfrm>
            <a:off x="4206240" y="3017520"/>
            <a:ext cx="3611880" cy="1280160"/>
          </a:xfrm>
          <a:prstGeom prst="roundRect">
            <a:avLst>
              <a:gd name="adj" fmla="val 7143"/>
            </a:avLst>
          </a:prstGeom>
          <a:solidFill>
            <a:srgbClr val="FFFFFF"/>
          </a:solidFill>
          <a:ln w="12700">
            <a:solidFill>
              <a:srgbClr val="D6D3D1"/>
            </a:solidFill>
            <a:prstDash val="solid"/>
          </a:ln>
        </p:spPr>
      </p:sp>
      <p:sp>
        <p:nvSpPr>
          <p:cNvPr id="21" name="Text 19"/>
          <p:cNvSpPr/>
          <p:nvPr/>
        </p:nvSpPr>
        <p:spPr>
          <a:xfrm>
            <a:off x="4389120" y="329184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مسار البحث</a:t>
            </a:r>
            <a:endParaRPr lang="en-US" sz="1400" dirty="0"/>
          </a:p>
        </p:txBody>
      </p:sp>
      <p:sp>
        <p:nvSpPr>
          <p:cNvPr id="22" name="Text 20"/>
          <p:cNvSpPr/>
          <p:nvPr/>
        </p:nvSpPr>
        <p:spPr>
          <a:xfrm>
            <a:off x="4389120" y="374904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يقترح منتجات ضمن الحزمة</a:t>
            </a:r>
            <a:endParaRPr lang="en-US" sz="1200" dirty="0"/>
          </a:p>
        </p:txBody>
      </p:sp>
      <p:sp>
        <p:nvSpPr>
          <p:cNvPr id="23" name="Shape 21"/>
          <p:cNvSpPr/>
          <p:nvPr/>
        </p:nvSpPr>
        <p:spPr>
          <a:xfrm>
            <a:off x="8001000" y="3017520"/>
            <a:ext cx="3611880" cy="1280160"/>
          </a:xfrm>
          <a:prstGeom prst="roundRect">
            <a:avLst>
              <a:gd name="adj" fmla="val 7143"/>
            </a:avLst>
          </a:prstGeom>
          <a:solidFill>
            <a:srgbClr val="FFFFFF"/>
          </a:solidFill>
          <a:ln w="12700">
            <a:solidFill>
              <a:srgbClr val="D6D3D1"/>
            </a:solidFill>
            <a:prstDash val="solid"/>
          </a:ln>
        </p:spPr>
      </p:sp>
      <p:sp>
        <p:nvSpPr>
          <p:cNvPr id="24" name="Text 22"/>
          <p:cNvSpPr/>
          <p:nvPr/>
        </p:nvSpPr>
        <p:spPr>
          <a:xfrm>
            <a:off x="8183880" y="329184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المختبرات</a:t>
            </a:r>
            <a:endParaRPr lang="en-US" sz="1400" dirty="0"/>
          </a:p>
        </p:txBody>
      </p:sp>
      <p:sp>
        <p:nvSpPr>
          <p:cNvPr id="25" name="Text 23"/>
          <p:cNvSpPr/>
          <p:nvPr/>
        </p:nvSpPr>
        <p:spPr>
          <a:xfrm>
            <a:off x="8183880" y="374904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مشترون متكررون للمستهلكات</a:t>
            </a:r>
            <a:endParaRPr lang="en-US" sz="1200" dirty="0"/>
          </a:p>
        </p:txBody>
      </p:sp>
      <p:sp>
        <p:nvSpPr>
          <p:cNvPr id="26" name="Shape 24"/>
          <p:cNvSpPr/>
          <p:nvPr/>
        </p:nvSpPr>
        <p:spPr>
          <a:xfrm>
            <a:off x="411480" y="4434840"/>
            <a:ext cx="3611880" cy="1280160"/>
          </a:xfrm>
          <a:prstGeom prst="roundRect">
            <a:avLst>
              <a:gd name="adj" fmla="val 7143"/>
            </a:avLst>
          </a:prstGeom>
          <a:solidFill>
            <a:srgbClr val="FFFFFF"/>
          </a:solidFill>
          <a:ln w="12700">
            <a:solidFill>
              <a:srgbClr val="D6D3D1"/>
            </a:solidFill>
            <a:prstDash val="solid"/>
          </a:ln>
        </p:spPr>
      </p:sp>
      <p:sp>
        <p:nvSpPr>
          <p:cNvPr id="27" name="Text 25"/>
          <p:cNvSpPr/>
          <p:nvPr/>
        </p:nvSpPr>
        <p:spPr>
          <a:xfrm>
            <a:off x="594360" y="470916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الكتابة والمجتمع</a:t>
            </a:r>
            <a:endParaRPr lang="en-US" sz="1400" dirty="0"/>
          </a:p>
        </p:txBody>
      </p:sp>
      <p:sp>
        <p:nvSpPr>
          <p:cNvPr id="28" name="Text 26"/>
          <p:cNvSpPr/>
          <p:nvPr/>
        </p:nvSpPr>
        <p:spPr>
          <a:xfrm>
            <a:off x="594360" y="516636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يزيد وقت البقاء والشراء</a:t>
            </a:r>
            <a:endParaRPr lang="en-US" sz="1200" dirty="0"/>
          </a:p>
        </p:txBody>
      </p:sp>
      <p:sp>
        <p:nvSpPr>
          <p:cNvPr id="29" name="Shape 27"/>
          <p:cNvSpPr/>
          <p:nvPr/>
        </p:nvSpPr>
        <p:spPr>
          <a:xfrm>
            <a:off x="4206240" y="4434840"/>
            <a:ext cx="3611880" cy="1280160"/>
          </a:xfrm>
          <a:prstGeom prst="roundRect">
            <a:avLst>
              <a:gd name="adj" fmla="val 7143"/>
            </a:avLst>
          </a:prstGeom>
          <a:solidFill>
            <a:srgbClr val="FFFFFF"/>
          </a:solidFill>
          <a:ln w="12700">
            <a:solidFill>
              <a:srgbClr val="D6D3D1"/>
            </a:solidFill>
            <a:prstDash val="solid"/>
          </a:ln>
        </p:spPr>
      </p:sp>
      <p:sp>
        <p:nvSpPr>
          <p:cNvPr id="30" name="Text 28"/>
          <p:cNvSpPr/>
          <p:nvPr/>
        </p:nvSpPr>
        <p:spPr>
          <a:xfrm>
            <a:off x="4389120" y="470916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المساعد AI</a:t>
            </a:r>
            <a:endParaRPr lang="en-US" sz="1400" dirty="0"/>
          </a:p>
        </p:txBody>
      </p:sp>
      <p:sp>
        <p:nvSpPr>
          <p:cNvPr id="31" name="Text 29"/>
          <p:cNvSpPr/>
          <p:nvPr/>
        </p:nvSpPr>
        <p:spPr>
          <a:xfrm>
            <a:off x="4389120" y="516636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يوجّه لموارد التنفيذ</a:t>
            </a:r>
            <a:endParaRPr lang="en-US" sz="1200" dirty="0"/>
          </a:p>
        </p:txBody>
      </p:sp>
      <p:sp>
        <p:nvSpPr>
          <p:cNvPr id="32" name="Shape 30"/>
          <p:cNvSpPr/>
          <p:nvPr/>
        </p:nvSpPr>
        <p:spPr>
          <a:xfrm>
            <a:off x="8001000" y="4434840"/>
            <a:ext cx="3611880" cy="1280160"/>
          </a:xfrm>
          <a:prstGeom prst="roundRect">
            <a:avLst>
              <a:gd name="adj" fmla="val 7143"/>
            </a:avLst>
          </a:prstGeom>
          <a:solidFill>
            <a:srgbClr val="FFFFFF"/>
          </a:solidFill>
          <a:ln w="12700">
            <a:solidFill>
              <a:srgbClr val="D6D3D1"/>
            </a:solidFill>
            <a:prstDash val="solid"/>
          </a:ln>
        </p:spPr>
      </p:sp>
      <p:sp>
        <p:nvSpPr>
          <p:cNvPr id="33" name="Text 31"/>
          <p:cNvSpPr/>
          <p:nvPr/>
        </p:nvSpPr>
        <p:spPr>
          <a:xfrm>
            <a:off x="8183880" y="470916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النزاهة والتمويل</a:t>
            </a:r>
            <a:endParaRPr lang="en-US" sz="1400" dirty="0"/>
          </a:p>
        </p:txBody>
      </p:sp>
      <p:sp>
        <p:nvSpPr>
          <p:cNvPr id="34" name="Text 32"/>
          <p:cNvSpPr/>
          <p:nvPr/>
        </p:nvSpPr>
        <p:spPr>
          <a:xfrm>
            <a:off x="8183880" y="516636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تكمل دورة الباحث</a:t>
            </a:r>
            <a:endParaRPr lang="en-US" sz="1200" dirty="0"/>
          </a:p>
        </p:txBody>
      </p:sp>
      <p:sp>
        <p:nvSpPr>
          <p:cNvPr id="35" name="Shape 33"/>
          <p:cNvSpPr/>
          <p:nvPr/>
        </p:nvSpPr>
        <p:spPr>
          <a:xfrm>
            <a:off x="0" y="6510528"/>
            <a:ext cx="12191695" cy="347472"/>
          </a:xfrm>
          <a:prstGeom prst="rect">
            <a:avLst/>
          </a:prstGeom>
          <a:solidFill>
            <a:srgbClr val="F8F5F0"/>
          </a:solidFill>
          <a:ln/>
        </p:spPr>
      </p:sp>
      <p:sp>
        <p:nvSpPr>
          <p:cNvPr id="36" name="Text 34"/>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7" name="Text 35"/>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5 /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٤ — مستجدات المتجر (ما تغيّر للمورد والمشتري)</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تطويرات حديثة تجعل تجربة السوق أقرب للمنصات التجارية — مع هوية أكاديمية.</a:t>
            </a:r>
            <a:endParaRPr lang="en-US" sz="1300" dirty="0"/>
          </a:p>
        </p:txBody>
      </p:sp>
      <p:sp>
        <p:nvSpPr>
          <p:cNvPr id="7" name="Shape 5"/>
          <p:cNvSpPr/>
          <p:nvPr/>
        </p:nvSpPr>
        <p:spPr>
          <a:xfrm>
            <a:off x="411480" y="1508760"/>
            <a:ext cx="2743200" cy="2011680"/>
          </a:xfrm>
          <a:prstGeom prst="roundRect">
            <a:avLst>
              <a:gd name="adj" fmla="val 4545"/>
            </a:avLst>
          </a:prstGeom>
          <a:solidFill>
            <a:srgbClr val="EEF6F5"/>
          </a:solidFill>
          <a:ln w="12700">
            <a:solidFill>
              <a:srgbClr val="CCFBF1"/>
            </a:solidFill>
            <a:prstDash val="solid"/>
          </a:ln>
        </p:spPr>
      </p:sp>
      <p:sp>
        <p:nvSpPr>
          <p:cNvPr id="8" name="Text 6"/>
          <p:cNvSpPr/>
          <p:nvPr/>
        </p:nvSpPr>
        <p:spPr>
          <a:xfrm>
            <a:off x="54864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واجهة سوق (Store Hub)</a:t>
            </a:r>
            <a:endParaRPr lang="en-US" sz="1300" dirty="0"/>
          </a:p>
        </p:txBody>
      </p:sp>
      <p:sp>
        <p:nvSpPr>
          <p:cNvPr id="9" name="Text 7"/>
          <p:cNvSpPr/>
          <p:nvPr/>
        </p:nvSpPr>
        <p:spPr>
          <a:xfrm>
            <a:off x="54864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بحث · الأكثر طلباً · جديد هذا الأسبوع · أقسام · موردون موثّقون</a:t>
            </a:r>
            <a:endParaRPr lang="en-US" sz="1200" dirty="0"/>
          </a:p>
        </p:txBody>
      </p:sp>
      <p:sp>
        <p:nvSpPr>
          <p:cNvPr id="10" name="Shape 8"/>
          <p:cNvSpPr/>
          <p:nvPr/>
        </p:nvSpPr>
        <p:spPr>
          <a:xfrm>
            <a:off x="3291840" y="1508760"/>
            <a:ext cx="2743200" cy="2011680"/>
          </a:xfrm>
          <a:prstGeom prst="roundRect">
            <a:avLst>
              <a:gd name="adj" fmla="val 4545"/>
            </a:avLst>
          </a:prstGeom>
          <a:solidFill>
            <a:srgbClr val="EEF6F5"/>
          </a:solidFill>
          <a:ln w="12700">
            <a:solidFill>
              <a:srgbClr val="CCFBF1"/>
            </a:solidFill>
            <a:prstDash val="solid"/>
          </a:ln>
        </p:spPr>
      </p:sp>
      <p:sp>
        <p:nvSpPr>
          <p:cNvPr id="11" name="Text 9"/>
          <p:cNvSpPr/>
          <p:nvPr/>
        </p:nvSpPr>
        <p:spPr>
          <a:xfrm>
            <a:off x="342900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صفحة منتج غنية</a:t>
            </a:r>
            <a:endParaRPr lang="en-US" sz="1300" dirty="0"/>
          </a:p>
        </p:txBody>
      </p:sp>
      <p:sp>
        <p:nvSpPr>
          <p:cNvPr id="12" name="Text 10"/>
          <p:cNvSpPr/>
          <p:nvPr/>
        </p:nvSpPr>
        <p:spPr>
          <a:xfrm>
            <a:off x="342900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SKU · المنشأ · معرض صور · أسئلة وأجوبة · منتجات مشابهة</a:t>
            </a:r>
            <a:endParaRPr lang="en-US" sz="1200" dirty="0"/>
          </a:p>
        </p:txBody>
      </p:sp>
      <p:sp>
        <p:nvSpPr>
          <p:cNvPr id="13" name="Shape 11"/>
          <p:cNvSpPr/>
          <p:nvPr/>
        </p:nvSpPr>
        <p:spPr>
          <a:xfrm>
            <a:off x="6172200" y="1508760"/>
            <a:ext cx="2743200" cy="2011680"/>
          </a:xfrm>
          <a:prstGeom prst="roundRect">
            <a:avLst>
              <a:gd name="adj" fmla="val 4545"/>
            </a:avLst>
          </a:prstGeom>
          <a:solidFill>
            <a:srgbClr val="EEF6F5"/>
          </a:solidFill>
          <a:ln w="12700">
            <a:solidFill>
              <a:srgbClr val="CCFBF1"/>
            </a:solidFill>
            <a:prstDash val="solid"/>
          </a:ln>
        </p:spPr>
      </p:sp>
      <p:sp>
        <p:nvSpPr>
          <p:cNvPr id="14" name="Text 12"/>
          <p:cNvSpPr/>
          <p:nvPr/>
        </p:nvSpPr>
        <p:spPr>
          <a:xfrm>
            <a:off x="630936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فلاتر متقدمة</a:t>
            </a:r>
            <a:endParaRPr lang="en-US" sz="1300" dirty="0"/>
          </a:p>
        </p:txBody>
      </p:sp>
      <p:sp>
        <p:nvSpPr>
          <p:cNvPr id="15" name="Text 13"/>
          <p:cNvSpPr/>
          <p:nvPr/>
        </p:nvSpPr>
        <p:spPr>
          <a:xfrm>
            <a:off x="630936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توفر · شحن سريع · موثّق · نقاء · سعر · مدينة · ترتيب</a:t>
            </a:r>
            <a:endParaRPr lang="en-US" sz="1200" dirty="0"/>
          </a:p>
        </p:txBody>
      </p:sp>
      <p:sp>
        <p:nvSpPr>
          <p:cNvPr id="16" name="Shape 14"/>
          <p:cNvSpPr/>
          <p:nvPr/>
        </p:nvSpPr>
        <p:spPr>
          <a:xfrm>
            <a:off x="9052560" y="1508760"/>
            <a:ext cx="2743200" cy="2011680"/>
          </a:xfrm>
          <a:prstGeom prst="roundRect">
            <a:avLst>
              <a:gd name="adj" fmla="val 4545"/>
            </a:avLst>
          </a:prstGeom>
          <a:solidFill>
            <a:srgbClr val="EEF6F5"/>
          </a:solidFill>
          <a:ln w="12700">
            <a:solidFill>
              <a:srgbClr val="CCFBF1"/>
            </a:solidFill>
            <a:prstDash val="solid"/>
          </a:ln>
        </p:spPr>
      </p:sp>
      <p:sp>
        <p:nvSpPr>
          <p:cNvPr id="17" name="Text 15"/>
          <p:cNvSpPr/>
          <p:nvPr/>
        </p:nvSpPr>
        <p:spPr>
          <a:xfrm>
            <a:off x="918972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متجر المورد العام</a:t>
            </a:r>
            <a:endParaRPr lang="en-US" sz="1300" dirty="0"/>
          </a:p>
        </p:txBody>
      </p:sp>
      <p:sp>
        <p:nvSpPr>
          <p:cNvPr id="18" name="Text 16"/>
          <p:cNvSpPr/>
          <p:nvPr/>
        </p:nvSpPr>
        <p:spPr>
          <a:xfrm>
            <a:off x="918972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صفحة كتالوج لكل بائع + سياسة تسليم مبسّطة</a:t>
            </a:r>
            <a:endParaRPr lang="en-US" sz="1200" dirty="0"/>
          </a:p>
        </p:txBody>
      </p:sp>
      <p:sp>
        <p:nvSpPr>
          <p:cNvPr id="19" name="Shape 17"/>
          <p:cNvSpPr/>
          <p:nvPr/>
        </p:nvSpPr>
        <p:spPr>
          <a:xfrm>
            <a:off x="411480" y="3703320"/>
            <a:ext cx="2743200" cy="2011680"/>
          </a:xfrm>
          <a:prstGeom prst="roundRect">
            <a:avLst>
              <a:gd name="adj" fmla="val 4545"/>
            </a:avLst>
          </a:prstGeom>
          <a:solidFill>
            <a:srgbClr val="FFFFFF"/>
          </a:solidFill>
          <a:ln w="12700">
            <a:solidFill>
              <a:srgbClr val="D6D3D1"/>
            </a:solidFill>
            <a:prstDash val="solid"/>
          </a:ln>
        </p:spPr>
      </p:sp>
      <p:sp>
        <p:nvSpPr>
          <p:cNvPr id="20" name="Text 18"/>
          <p:cNvSpPr/>
          <p:nvPr/>
        </p:nvSpPr>
        <p:spPr>
          <a:xfrm>
            <a:off x="54864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عربة + طلبات متعددة</a:t>
            </a:r>
            <a:endParaRPr lang="en-US" sz="1300" dirty="0"/>
          </a:p>
        </p:txBody>
      </p:sp>
      <p:sp>
        <p:nvSpPr>
          <p:cNvPr id="21" name="Text 19"/>
          <p:cNvSpPr/>
          <p:nvPr/>
        </p:nvSpPr>
        <p:spPr>
          <a:xfrm>
            <a:off x="54864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Escrow لكل صنف/مورد · دفع يدوي أو Paymob</a:t>
            </a:r>
            <a:endParaRPr lang="en-US" sz="1200" dirty="0"/>
          </a:p>
        </p:txBody>
      </p:sp>
      <p:sp>
        <p:nvSpPr>
          <p:cNvPr id="22" name="Shape 20"/>
          <p:cNvSpPr/>
          <p:nvPr/>
        </p:nvSpPr>
        <p:spPr>
          <a:xfrm>
            <a:off x="3291840" y="3703320"/>
            <a:ext cx="2743200" cy="2011680"/>
          </a:xfrm>
          <a:prstGeom prst="roundRect">
            <a:avLst>
              <a:gd name="adj" fmla="val 4545"/>
            </a:avLst>
          </a:prstGeom>
          <a:solidFill>
            <a:srgbClr val="FFFFFF"/>
          </a:solidFill>
          <a:ln w="12700">
            <a:solidFill>
              <a:srgbClr val="D6D3D1"/>
            </a:solidFill>
            <a:prstDash val="solid"/>
          </a:ln>
        </p:spPr>
      </p:sp>
      <p:sp>
        <p:nvSpPr>
          <p:cNvPr id="23" name="Text 21"/>
          <p:cNvSpPr/>
          <p:nvPr/>
        </p:nvSpPr>
        <p:spPr>
          <a:xfrm>
            <a:off x="342900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توصيات بحثية</a:t>
            </a:r>
            <a:endParaRPr lang="en-US" sz="1300" dirty="0"/>
          </a:p>
        </p:txBody>
      </p:sp>
      <p:sp>
        <p:nvSpPr>
          <p:cNvPr id="24" name="Text 22"/>
          <p:cNvSpPr/>
          <p:nvPr/>
        </p:nvSpPr>
        <p:spPr>
          <a:xfrm>
            <a:off x="342900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«معدات تناسب رسالتك» من الملف الأكاديمي</a:t>
            </a:r>
            <a:endParaRPr lang="en-US" sz="1200" dirty="0"/>
          </a:p>
        </p:txBody>
      </p:sp>
      <p:sp>
        <p:nvSpPr>
          <p:cNvPr id="25" name="Shape 23"/>
          <p:cNvSpPr/>
          <p:nvPr/>
        </p:nvSpPr>
        <p:spPr>
          <a:xfrm>
            <a:off x="6172200" y="3703320"/>
            <a:ext cx="2743200" cy="2011680"/>
          </a:xfrm>
          <a:prstGeom prst="roundRect">
            <a:avLst>
              <a:gd name="adj" fmla="val 4545"/>
            </a:avLst>
          </a:prstGeom>
          <a:solidFill>
            <a:srgbClr val="FFFFFF"/>
          </a:solidFill>
          <a:ln w="12700">
            <a:solidFill>
              <a:srgbClr val="D6D3D1"/>
            </a:solidFill>
            <a:prstDash val="solid"/>
          </a:ln>
        </p:spPr>
      </p:sp>
      <p:sp>
        <p:nvSpPr>
          <p:cNvPr id="26" name="Text 24"/>
          <p:cNvSpPr/>
          <p:nvPr/>
        </p:nvSpPr>
        <p:spPr>
          <a:xfrm>
            <a:off x="630936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شارات ثقة + RFQ</a:t>
            </a:r>
            <a:endParaRPr lang="en-US" sz="1300" dirty="0"/>
          </a:p>
        </p:txBody>
      </p:sp>
      <p:sp>
        <p:nvSpPr>
          <p:cNvPr id="27" name="Text 25"/>
          <p:cNvSpPr/>
          <p:nvPr/>
        </p:nvSpPr>
        <p:spPr>
          <a:xfrm>
            <a:off x="630936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موثّق / مستورد رسمي · طلب عرض سعر للكميات</a:t>
            </a:r>
            <a:endParaRPr lang="en-US" sz="1200" dirty="0"/>
          </a:p>
        </p:txBody>
      </p:sp>
      <p:sp>
        <p:nvSpPr>
          <p:cNvPr id="28" name="Shape 26"/>
          <p:cNvSpPr/>
          <p:nvPr/>
        </p:nvSpPr>
        <p:spPr>
          <a:xfrm>
            <a:off x="9052560" y="3703320"/>
            <a:ext cx="2743200" cy="2011680"/>
          </a:xfrm>
          <a:prstGeom prst="roundRect">
            <a:avLst>
              <a:gd name="adj" fmla="val 4545"/>
            </a:avLst>
          </a:prstGeom>
          <a:solidFill>
            <a:srgbClr val="FFFFFF"/>
          </a:solidFill>
          <a:ln w="12700">
            <a:solidFill>
              <a:srgbClr val="D6D3D1"/>
            </a:solidFill>
            <a:prstDash val="solid"/>
          </a:ln>
        </p:spPr>
      </p:sp>
      <p:sp>
        <p:nvSpPr>
          <p:cNvPr id="29" name="Text 27"/>
          <p:cNvSpPr/>
          <p:nvPr/>
        </p:nvSpPr>
        <p:spPr>
          <a:xfrm>
            <a:off x="918972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تصميم + أمان</a:t>
            </a:r>
            <a:endParaRPr lang="en-US" sz="1300" dirty="0"/>
          </a:p>
        </p:txBody>
      </p:sp>
      <p:sp>
        <p:nvSpPr>
          <p:cNvPr id="30" name="Text 28"/>
          <p:cNvSpPr/>
          <p:nvPr/>
        </p:nvSpPr>
        <p:spPr>
          <a:xfrm>
            <a:off x="918972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جلد ماركت بليس · قواعد طلبات مشدّدة · خصوصية وشروط محدّثة</a:t>
            </a:r>
            <a:endParaRPr lang="en-US" sz="1200" dirty="0"/>
          </a:p>
        </p:txBody>
      </p:sp>
      <p:sp>
        <p:nvSpPr>
          <p:cNvPr id="31" name="Shape 29"/>
          <p:cNvSpPr/>
          <p:nvPr/>
        </p:nvSpPr>
        <p:spPr>
          <a:xfrm>
            <a:off x="0" y="6510528"/>
            <a:ext cx="12191695" cy="347472"/>
          </a:xfrm>
          <a:prstGeom prst="rect">
            <a:avLst/>
          </a:prstGeom>
          <a:solidFill>
            <a:srgbClr val="F8F5F0"/>
          </a:solidFill>
          <a:ln/>
        </p:spPr>
      </p:sp>
      <p:sp>
        <p:nvSpPr>
          <p:cNvPr id="32" name="Text 30"/>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3" name="Text 31"/>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6 /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٥ — المتجر الأكاديمي: ١٥ قسماً متخصصاً</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كل قسم موجّه لكليات وجمهور واضح — يظهر منتجك أمام من يحتاجه فعلاً.</a:t>
            </a:r>
            <a:endParaRPr lang="en-US" sz="1300" dirty="0"/>
          </a:p>
        </p:txBody>
      </p:sp>
      <p:sp>
        <p:nvSpPr>
          <p:cNvPr id="7" name="Shape 5"/>
          <p:cNvSpPr/>
          <p:nvPr/>
        </p:nvSpPr>
        <p:spPr>
          <a:xfrm>
            <a:off x="411480" y="1554480"/>
            <a:ext cx="2148840" cy="1234440"/>
          </a:xfrm>
          <a:prstGeom prst="roundRect">
            <a:avLst>
              <a:gd name="adj" fmla="val 5926"/>
            </a:avLst>
          </a:prstGeom>
          <a:solidFill>
            <a:srgbClr val="EEF6F5"/>
          </a:solidFill>
          <a:ln w="12700">
            <a:solidFill>
              <a:srgbClr val="99F6E4"/>
            </a:solidFill>
            <a:prstDash val="solid"/>
          </a:ln>
        </p:spPr>
      </p:sp>
      <p:sp>
        <p:nvSpPr>
          <p:cNvPr id="8" name="Text 6"/>
          <p:cNvSpPr/>
          <p:nvPr/>
        </p:nvSpPr>
        <p:spPr>
          <a:xfrm>
            <a:off x="484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مستلزمات ومواد كيميائية وكواشف</a:t>
            </a:r>
            <a:endParaRPr lang="en-US" sz="1200" dirty="0"/>
          </a:p>
        </p:txBody>
      </p:sp>
      <p:sp>
        <p:nvSpPr>
          <p:cNvPr id="9" name="Shape 7"/>
          <p:cNvSpPr/>
          <p:nvPr/>
        </p:nvSpPr>
        <p:spPr>
          <a:xfrm>
            <a:off x="2697480" y="1554480"/>
            <a:ext cx="2148840" cy="1234440"/>
          </a:xfrm>
          <a:prstGeom prst="roundRect">
            <a:avLst>
              <a:gd name="adj" fmla="val 5926"/>
            </a:avLst>
          </a:prstGeom>
          <a:solidFill>
            <a:srgbClr val="EEF6F5"/>
          </a:solidFill>
          <a:ln w="12700">
            <a:solidFill>
              <a:srgbClr val="99F6E4"/>
            </a:solidFill>
            <a:prstDash val="solid"/>
          </a:ln>
        </p:spPr>
      </p:sp>
      <p:sp>
        <p:nvSpPr>
          <p:cNvPr id="10" name="Text 8"/>
          <p:cNvSpPr/>
          <p:nvPr/>
        </p:nvSpPr>
        <p:spPr>
          <a:xfrm>
            <a:off x="2770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بيولوجيا وتقنية حيوية</a:t>
            </a:r>
            <a:endParaRPr lang="en-US" sz="1200" dirty="0"/>
          </a:p>
        </p:txBody>
      </p:sp>
      <p:sp>
        <p:nvSpPr>
          <p:cNvPr id="11" name="Shape 9"/>
          <p:cNvSpPr/>
          <p:nvPr/>
        </p:nvSpPr>
        <p:spPr>
          <a:xfrm>
            <a:off x="4983480" y="1554480"/>
            <a:ext cx="2148840" cy="1234440"/>
          </a:xfrm>
          <a:prstGeom prst="roundRect">
            <a:avLst>
              <a:gd name="adj" fmla="val 5926"/>
            </a:avLst>
          </a:prstGeom>
          <a:solidFill>
            <a:srgbClr val="EEF6F5"/>
          </a:solidFill>
          <a:ln w="12700">
            <a:solidFill>
              <a:srgbClr val="99F6E4"/>
            </a:solidFill>
            <a:prstDash val="solid"/>
          </a:ln>
        </p:spPr>
      </p:sp>
      <p:sp>
        <p:nvSpPr>
          <p:cNvPr id="12" name="Text 10"/>
          <p:cNvSpPr/>
          <p:nvPr/>
        </p:nvSpPr>
        <p:spPr>
          <a:xfrm>
            <a:off x="5056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طبي وصيدلي وسريري</a:t>
            </a:r>
            <a:endParaRPr lang="en-US" sz="1200" dirty="0"/>
          </a:p>
        </p:txBody>
      </p:sp>
      <p:sp>
        <p:nvSpPr>
          <p:cNvPr id="13" name="Shape 11"/>
          <p:cNvSpPr/>
          <p:nvPr/>
        </p:nvSpPr>
        <p:spPr>
          <a:xfrm>
            <a:off x="7269480" y="1554480"/>
            <a:ext cx="2148840" cy="1234440"/>
          </a:xfrm>
          <a:prstGeom prst="roundRect">
            <a:avLst>
              <a:gd name="adj" fmla="val 5926"/>
            </a:avLst>
          </a:prstGeom>
          <a:solidFill>
            <a:srgbClr val="EEF6F5"/>
          </a:solidFill>
          <a:ln w="12700">
            <a:solidFill>
              <a:srgbClr val="99F6E4"/>
            </a:solidFill>
            <a:prstDash val="solid"/>
          </a:ln>
        </p:spPr>
      </p:sp>
      <p:sp>
        <p:nvSpPr>
          <p:cNvPr id="14" name="Text 12"/>
          <p:cNvSpPr/>
          <p:nvPr/>
        </p:nvSpPr>
        <p:spPr>
          <a:xfrm>
            <a:off x="7342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هندسة وإلكترونيات</a:t>
            </a:r>
            <a:endParaRPr lang="en-US" sz="1200" dirty="0"/>
          </a:p>
        </p:txBody>
      </p:sp>
      <p:sp>
        <p:nvSpPr>
          <p:cNvPr id="15" name="Shape 13"/>
          <p:cNvSpPr/>
          <p:nvPr/>
        </p:nvSpPr>
        <p:spPr>
          <a:xfrm>
            <a:off x="9555480" y="1554480"/>
            <a:ext cx="2148840" cy="1234440"/>
          </a:xfrm>
          <a:prstGeom prst="roundRect">
            <a:avLst>
              <a:gd name="adj" fmla="val 5926"/>
            </a:avLst>
          </a:prstGeom>
          <a:solidFill>
            <a:srgbClr val="EEF6F5"/>
          </a:solidFill>
          <a:ln w="12700">
            <a:solidFill>
              <a:srgbClr val="99F6E4"/>
            </a:solidFill>
            <a:prstDash val="solid"/>
          </a:ln>
        </p:spPr>
      </p:sp>
      <p:sp>
        <p:nvSpPr>
          <p:cNvPr id="16" name="Text 14"/>
          <p:cNvSpPr/>
          <p:nvPr/>
        </p:nvSpPr>
        <p:spPr>
          <a:xfrm>
            <a:off x="9628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فيزياء ومواد</a:t>
            </a:r>
            <a:endParaRPr lang="en-US" sz="1200" dirty="0"/>
          </a:p>
        </p:txBody>
      </p:sp>
      <p:sp>
        <p:nvSpPr>
          <p:cNvPr id="17" name="Shape 15"/>
          <p:cNvSpPr/>
          <p:nvPr/>
        </p:nvSpPr>
        <p:spPr>
          <a:xfrm>
            <a:off x="411480" y="2971800"/>
            <a:ext cx="2148840" cy="1234440"/>
          </a:xfrm>
          <a:prstGeom prst="roundRect">
            <a:avLst>
              <a:gd name="adj" fmla="val 5926"/>
            </a:avLst>
          </a:prstGeom>
          <a:solidFill>
            <a:srgbClr val="EEF6F5"/>
          </a:solidFill>
          <a:ln w="12700">
            <a:solidFill>
              <a:srgbClr val="99F6E4"/>
            </a:solidFill>
            <a:prstDash val="solid"/>
          </a:ln>
        </p:spPr>
      </p:sp>
      <p:sp>
        <p:nvSpPr>
          <p:cNvPr id="18" name="Text 16"/>
          <p:cNvSpPr/>
          <p:nvPr/>
        </p:nvSpPr>
        <p:spPr>
          <a:xfrm>
            <a:off x="484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زراعة وبيطري</a:t>
            </a:r>
            <a:endParaRPr lang="en-US" sz="1200" dirty="0"/>
          </a:p>
        </p:txBody>
      </p:sp>
      <p:sp>
        <p:nvSpPr>
          <p:cNvPr id="19" name="Shape 17"/>
          <p:cNvSpPr/>
          <p:nvPr/>
        </p:nvSpPr>
        <p:spPr>
          <a:xfrm>
            <a:off x="2697480" y="2971800"/>
            <a:ext cx="2148840" cy="1234440"/>
          </a:xfrm>
          <a:prstGeom prst="roundRect">
            <a:avLst>
              <a:gd name="adj" fmla="val 5926"/>
            </a:avLst>
          </a:prstGeom>
          <a:solidFill>
            <a:srgbClr val="EEF6F5"/>
          </a:solidFill>
          <a:ln w="12700">
            <a:solidFill>
              <a:srgbClr val="99F6E4"/>
            </a:solidFill>
            <a:prstDash val="solid"/>
          </a:ln>
        </p:spPr>
      </p:sp>
      <p:sp>
        <p:nvSpPr>
          <p:cNvPr id="20" name="Text 18"/>
          <p:cNvSpPr/>
          <p:nvPr/>
        </p:nvSpPr>
        <p:spPr>
          <a:xfrm>
            <a:off x="2770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حوسبة وبرمجيات بحثية</a:t>
            </a:r>
            <a:endParaRPr lang="en-US" sz="1200" dirty="0"/>
          </a:p>
        </p:txBody>
      </p:sp>
      <p:sp>
        <p:nvSpPr>
          <p:cNvPr id="21" name="Shape 19"/>
          <p:cNvSpPr/>
          <p:nvPr/>
        </p:nvSpPr>
        <p:spPr>
          <a:xfrm>
            <a:off x="4983480" y="2971800"/>
            <a:ext cx="2148840" cy="1234440"/>
          </a:xfrm>
          <a:prstGeom prst="roundRect">
            <a:avLst>
              <a:gd name="adj" fmla="val 5926"/>
            </a:avLst>
          </a:prstGeom>
          <a:solidFill>
            <a:srgbClr val="EEF6F5"/>
          </a:solidFill>
          <a:ln w="12700">
            <a:solidFill>
              <a:srgbClr val="99F6E4"/>
            </a:solidFill>
            <a:prstDash val="solid"/>
          </a:ln>
        </p:spPr>
      </p:sp>
      <p:sp>
        <p:nvSpPr>
          <p:cNvPr id="22" name="Text 20"/>
          <p:cNvSpPr/>
          <p:nvPr/>
        </p:nvSpPr>
        <p:spPr>
          <a:xfrm>
            <a:off x="5056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مستهلكات وأدوات مختبر</a:t>
            </a:r>
            <a:endParaRPr lang="en-US" sz="1200" dirty="0"/>
          </a:p>
        </p:txBody>
      </p:sp>
      <p:sp>
        <p:nvSpPr>
          <p:cNvPr id="23" name="Shape 21"/>
          <p:cNvSpPr/>
          <p:nvPr/>
        </p:nvSpPr>
        <p:spPr>
          <a:xfrm>
            <a:off x="7269480" y="2971800"/>
            <a:ext cx="2148840" cy="1234440"/>
          </a:xfrm>
          <a:prstGeom prst="roundRect">
            <a:avLst>
              <a:gd name="adj" fmla="val 5926"/>
            </a:avLst>
          </a:prstGeom>
          <a:solidFill>
            <a:srgbClr val="EEF6F5"/>
          </a:solidFill>
          <a:ln w="12700">
            <a:solidFill>
              <a:srgbClr val="99F6E4"/>
            </a:solidFill>
            <a:prstDash val="solid"/>
          </a:ln>
        </p:spPr>
      </p:sp>
      <p:sp>
        <p:nvSpPr>
          <p:cNvPr id="24" name="Text 22"/>
          <p:cNvSpPr/>
          <p:nvPr/>
        </p:nvSpPr>
        <p:spPr>
          <a:xfrm>
            <a:off x="7342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أجهزة وأدوات قياس</a:t>
            </a:r>
            <a:endParaRPr lang="en-US" sz="1200" dirty="0"/>
          </a:p>
        </p:txBody>
      </p:sp>
      <p:sp>
        <p:nvSpPr>
          <p:cNvPr id="25" name="Shape 23"/>
          <p:cNvSpPr/>
          <p:nvPr/>
        </p:nvSpPr>
        <p:spPr>
          <a:xfrm>
            <a:off x="9555480" y="2971800"/>
            <a:ext cx="2148840" cy="1234440"/>
          </a:xfrm>
          <a:prstGeom prst="roundRect">
            <a:avLst>
              <a:gd name="adj" fmla="val 5926"/>
            </a:avLst>
          </a:prstGeom>
          <a:solidFill>
            <a:srgbClr val="EEF6F5"/>
          </a:solidFill>
          <a:ln w="12700">
            <a:solidFill>
              <a:srgbClr val="99F6E4"/>
            </a:solidFill>
            <a:prstDash val="solid"/>
          </a:ln>
        </p:spPr>
      </p:sp>
      <p:sp>
        <p:nvSpPr>
          <p:cNvPr id="26" name="Text 24"/>
          <p:cNvSpPr/>
          <p:nvPr/>
        </p:nvSpPr>
        <p:spPr>
          <a:xfrm>
            <a:off x="9628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سلامة ومعدات وقاية</a:t>
            </a:r>
            <a:endParaRPr lang="en-US" sz="1200" dirty="0"/>
          </a:p>
        </p:txBody>
      </p:sp>
      <p:sp>
        <p:nvSpPr>
          <p:cNvPr id="27" name="Shape 25"/>
          <p:cNvSpPr/>
          <p:nvPr/>
        </p:nvSpPr>
        <p:spPr>
          <a:xfrm>
            <a:off x="411480" y="4389120"/>
            <a:ext cx="2148840" cy="1234440"/>
          </a:xfrm>
          <a:prstGeom prst="roundRect">
            <a:avLst>
              <a:gd name="adj" fmla="val 5926"/>
            </a:avLst>
          </a:prstGeom>
          <a:solidFill>
            <a:srgbClr val="EEF6F5"/>
          </a:solidFill>
          <a:ln w="12700">
            <a:solidFill>
              <a:srgbClr val="99F6E4"/>
            </a:solidFill>
            <a:prstDash val="solid"/>
          </a:ln>
        </p:spPr>
      </p:sp>
      <p:sp>
        <p:nvSpPr>
          <p:cNvPr id="28" name="Text 26"/>
          <p:cNvSpPr/>
          <p:nvPr/>
        </p:nvSpPr>
        <p:spPr>
          <a:xfrm>
            <a:off x="484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أدوات ميدانية ومسح</a:t>
            </a:r>
            <a:endParaRPr lang="en-US" sz="1200" dirty="0"/>
          </a:p>
        </p:txBody>
      </p:sp>
      <p:sp>
        <p:nvSpPr>
          <p:cNvPr id="29" name="Shape 27"/>
          <p:cNvSpPr/>
          <p:nvPr/>
        </p:nvSpPr>
        <p:spPr>
          <a:xfrm>
            <a:off x="2697480" y="4389120"/>
            <a:ext cx="2148840" cy="1234440"/>
          </a:xfrm>
          <a:prstGeom prst="roundRect">
            <a:avLst>
              <a:gd name="adj" fmla="val 5926"/>
            </a:avLst>
          </a:prstGeom>
          <a:solidFill>
            <a:srgbClr val="EEF6F5"/>
          </a:solidFill>
          <a:ln w="12700">
            <a:solidFill>
              <a:srgbClr val="99F6E4"/>
            </a:solidFill>
            <a:prstDash val="solid"/>
          </a:ln>
        </p:spPr>
      </p:sp>
      <p:sp>
        <p:nvSpPr>
          <p:cNvPr id="30" name="Text 28"/>
          <p:cNvSpPr/>
          <p:nvPr/>
        </p:nvSpPr>
        <p:spPr>
          <a:xfrm>
            <a:off x="2770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كتب ومراجع علمية</a:t>
            </a:r>
            <a:endParaRPr lang="en-US" sz="1200" dirty="0"/>
          </a:p>
        </p:txBody>
      </p:sp>
      <p:sp>
        <p:nvSpPr>
          <p:cNvPr id="31" name="Shape 29"/>
          <p:cNvSpPr/>
          <p:nvPr/>
        </p:nvSpPr>
        <p:spPr>
          <a:xfrm>
            <a:off x="4983480" y="4389120"/>
            <a:ext cx="2148840" cy="1234440"/>
          </a:xfrm>
          <a:prstGeom prst="roundRect">
            <a:avLst>
              <a:gd name="adj" fmla="val 5926"/>
            </a:avLst>
          </a:prstGeom>
          <a:solidFill>
            <a:srgbClr val="EEF6F5"/>
          </a:solidFill>
          <a:ln w="12700">
            <a:solidFill>
              <a:srgbClr val="99F6E4"/>
            </a:solidFill>
            <a:prstDash val="solid"/>
          </a:ln>
        </p:spPr>
      </p:sp>
      <p:sp>
        <p:nvSpPr>
          <p:cNvPr id="32" name="Text 30"/>
          <p:cNvSpPr/>
          <p:nvPr/>
        </p:nvSpPr>
        <p:spPr>
          <a:xfrm>
            <a:off x="5056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إنسانيات وتربية</a:t>
            </a:r>
            <a:endParaRPr lang="en-US" sz="1200" dirty="0"/>
          </a:p>
        </p:txBody>
      </p:sp>
      <p:sp>
        <p:nvSpPr>
          <p:cNvPr id="33" name="Shape 31"/>
          <p:cNvSpPr/>
          <p:nvPr/>
        </p:nvSpPr>
        <p:spPr>
          <a:xfrm>
            <a:off x="7269480" y="4389120"/>
            <a:ext cx="2148840" cy="1234440"/>
          </a:xfrm>
          <a:prstGeom prst="roundRect">
            <a:avLst>
              <a:gd name="adj" fmla="val 5926"/>
            </a:avLst>
          </a:prstGeom>
          <a:solidFill>
            <a:srgbClr val="EEF6F5"/>
          </a:solidFill>
          <a:ln w="12700">
            <a:solidFill>
              <a:srgbClr val="99F6E4"/>
            </a:solidFill>
            <a:prstDash val="solid"/>
          </a:ln>
        </p:spPr>
      </p:sp>
      <p:sp>
        <p:nvSpPr>
          <p:cNvPr id="34" name="Text 32"/>
          <p:cNvSpPr/>
          <p:nvPr/>
        </p:nvSpPr>
        <p:spPr>
          <a:xfrm>
            <a:off x="7342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مستلزمات كتابة وتوثيق</a:t>
            </a:r>
            <a:endParaRPr lang="en-US" sz="1200" dirty="0"/>
          </a:p>
        </p:txBody>
      </p:sp>
      <p:sp>
        <p:nvSpPr>
          <p:cNvPr id="35" name="Shape 33"/>
          <p:cNvSpPr/>
          <p:nvPr/>
        </p:nvSpPr>
        <p:spPr>
          <a:xfrm>
            <a:off x="9555480" y="4389120"/>
            <a:ext cx="2148840" cy="1234440"/>
          </a:xfrm>
          <a:prstGeom prst="roundRect">
            <a:avLst>
              <a:gd name="adj" fmla="val 5926"/>
            </a:avLst>
          </a:prstGeom>
          <a:solidFill>
            <a:srgbClr val="EEF6F5"/>
          </a:solidFill>
          <a:ln w="12700">
            <a:solidFill>
              <a:srgbClr val="99F6E4"/>
            </a:solidFill>
            <a:prstDash val="solid"/>
          </a:ln>
        </p:spPr>
      </p:sp>
      <p:sp>
        <p:nvSpPr>
          <p:cNvPr id="36" name="Text 34"/>
          <p:cNvSpPr/>
          <p:nvPr/>
        </p:nvSpPr>
        <p:spPr>
          <a:xfrm>
            <a:off x="9628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مستلزمات عامة</a:t>
            </a:r>
            <a:endParaRPr lang="en-US" sz="1200" dirty="0"/>
          </a:p>
        </p:txBody>
      </p:sp>
      <p:sp>
        <p:nvSpPr>
          <p:cNvPr id="37" name="Shape 35"/>
          <p:cNvSpPr/>
          <p:nvPr/>
        </p:nvSpPr>
        <p:spPr>
          <a:xfrm>
            <a:off x="0" y="6510528"/>
            <a:ext cx="12191695" cy="347472"/>
          </a:xfrm>
          <a:prstGeom prst="rect">
            <a:avLst/>
          </a:prstGeom>
          <a:solidFill>
            <a:srgbClr val="F8F5F0"/>
          </a:solidFill>
          <a:ln/>
        </p:spPr>
      </p:sp>
      <p:sp>
        <p:nvSpPr>
          <p:cNvPr id="38" name="Text 36"/>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9" name="Text 37"/>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7 /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٥ — ماذا تنشر كمنتج؟</a:t>
            </a:r>
            <a:endParaRPr lang="en-US" sz="2400" dirty="0"/>
          </a:p>
        </p:txBody>
      </p:sp>
      <p:sp>
        <p:nvSpPr>
          <p:cNvPr id="5" name="Shape 3"/>
          <p:cNvSpPr/>
          <p:nvPr/>
        </p:nvSpPr>
        <p:spPr>
          <a:xfrm>
            <a:off x="411480" y="822960"/>
            <a:ext cx="11368735" cy="32004"/>
          </a:xfrm>
          <a:prstGeom prst="rect">
            <a:avLst/>
          </a:prstGeom>
          <a:solidFill>
            <a:srgbClr val="0F766E"/>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68735" cy="914400"/>
        </p:xfrm>
        <a:graphic>
          <a:graphicData uri="http://schemas.openxmlformats.org/drawingml/2006/table">
            <a:tbl>
              <a:tblPr/>
              <a:tblGrid>
                <a:gridCol w="3108960"/>
                <a:gridCol w="1828800"/>
                <a:gridCol w="6476695"/>
              </a:tblGrid>
              <a:tr h="0">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الحقل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إلزامي؟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التفاصيل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اسم المنتج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نعم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يظهر في القائمة والبحث</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السعر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نعم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بالجنيه · يُثبَّت من الخادم عند الطلب</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القسم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نعم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أحد الأقسام الخمسة عشر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SKU / المنشأ / النقاء</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مستحسن</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يزيد ثقة الباحث والمختبر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صور متعددة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مستحسن جداً</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معرض في صفحة المنتج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شارات الثقة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اختياري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موثّق · مستورد · ملاءمة مختبر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وسائل التواصل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مستحسن</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هاتف / واتساب / بريد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bl>
          </a:graphicData>
        </a:graphic>
      </p:graphicFrame>
      <p:sp>
        <p:nvSpPr>
          <p:cNvPr id="7" name="Shape 4"/>
          <p:cNvSpPr/>
          <p:nvPr/>
        </p:nvSpPr>
        <p:spPr>
          <a:xfrm>
            <a:off x="411480" y="4709160"/>
            <a:ext cx="11368735" cy="1280160"/>
          </a:xfrm>
          <a:prstGeom prst="roundRect">
            <a:avLst>
              <a:gd name="adj" fmla="val 7143"/>
            </a:avLst>
          </a:prstGeom>
          <a:solidFill>
            <a:srgbClr val="EEF6F5"/>
          </a:solidFill>
          <a:ln w="12700">
            <a:solidFill>
              <a:srgbClr val="0F766E"/>
            </a:solidFill>
            <a:prstDash val="solid"/>
          </a:ln>
        </p:spPr>
      </p:sp>
      <p:sp>
        <p:nvSpPr>
          <p:cNvPr id="8" name="Text 5"/>
          <p:cNvSpPr/>
          <p:nvPr/>
        </p:nvSpPr>
        <p:spPr>
          <a:xfrm>
            <a:off x="640080" y="4937760"/>
            <a:ext cx="10911535" cy="86868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المنتج يدخل قيد المراجعة ثم يظهر بعد الموافقة. المشتري: Hub → فلاتر → منتج → عربة/شراء أو RFQ → دفع → تأكيد استلام → إفراج الضمان.</a:t>
            </a:r>
            <a:endParaRPr lang="en-US" sz="1300" dirty="0"/>
          </a:p>
        </p:txBody>
      </p:sp>
      <p:sp>
        <p:nvSpPr>
          <p:cNvPr id="9" name="Shape 6"/>
          <p:cNvSpPr/>
          <p:nvPr/>
        </p:nvSpPr>
        <p:spPr>
          <a:xfrm>
            <a:off x="0" y="6510528"/>
            <a:ext cx="12191695" cy="347472"/>
          </a:xfrm>
          <a:prstGeom prst="rect">
            <a:avLst/>
          </a:prstGeom>
          <a:solidFill>
            <a:srgbClr val="F8F5F0"/>
          </a:solidFill>
          <a:ln/>
        </p:spPr>
      </p:sp>
      <p:sp>
        <p:nvSpPr>
          <p:cNvPr id="10" name="Text 7"/>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11" name="Text 8"/>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8 /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٦ — آلية الضمان (Escrow)</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أقوى حجة بيع أمام العميل المتردد — يقلل النزاعات ويسرّع إغلاق الصفقة.</a:t>
            </a:r>
            <a:endParaRPr lang="en-US" sz="1300" dirty="0"/>
          </a:p>
        </p:txBody>
      </p:sp>
      <p:sp>
        <p:nvSpPr>
          <p:cNvPr id="7" name="Shape 5"/>
          <p:cNvSpPr/>
          <p:nvPr/>
        </p:nvSpPr>
        <p:spPr>
          <a:xfrm>
            <a:off x="411480" y="1508760"/>
            <a:ext cx="2148840" cy="1508760"/>
          </a:xfrm>
          <a:prstGeom prst="roundRect">
            <a:avLst>
              <a:gd name="adj" fmla="val 6061"/>
            </a:avLst>
          </a:prstGeom>
          <a:solidFill>
            <a:srgbClr val="EEF6F5"/>
          </a:solidFill>
          <a:ln w="12700">
            <a:solidFill>
              <a:srgbClr val="CCFBF1"/>
            </a:solidFill>
            <a:prstDash val="solid"/>
          </a:ln>
        </p:spPr>
      </p:sp>
      <p:sp>
        <p:nvSpPr>
          <p:cNvPr id="8" name="Shape 6"/>
          <p:cNvSpPr/>
          <p:nvPr/>
        </p:nvSpPr>
        <p:spPr>
          <a:xfrm>
            <a:off x="1234440" y="1645920"/>
            <a:ext cx="457200" cy="457200"/>
          </a:xfrm>
          <a:prstGeom prst="ellipse">
            <a:avLst/>
          </a:prstGeom>
          <a:solidFill>
            <a:srgbClr val="0B1F4D"/>
          </a:solidFill>
          <a:ln/>
        </p:spPr>
      </p:sp>
      <p:sp>
        <p:nvSpPr>
          <p:cNvPr id="9" name="Text 7"/>
          <p:cNvSpPr/>
          <p:nvPr/>
        </p:nvSpPr>
        <p:spPr>
          <a:xfrm>
            <a:off x="1234440" y="1645920"/>
            <a:ext cx="457200" cy="457200"/>
          </a:xfrm>
          <a:prstGeom prst="rect">
            <a:avLst/>
          </a:prstGeom>
          <a:noFill/>
          <a:ln/>
        </p:spPr>
        <p:txBody>
          <a:bodyPr wrap="square" rtlCol="0" anchor="ctr"/>
          <a:lstStyle/>
          <a:p>
            <a:pPr algn="ctr" indent="0" marL="0">
              <a:buNone/>
            </a:pPr>
            <a:r>
              <a:rPr lang="en-US" sz="1500" b="1" dirty="0">
                <a:solidFill>
                  <a:srgbClr val="FFFFFF"/>
                </a:solidFill>
              </a:rPr>
              <a:t>1</a:t>
            </a:r>
            <a:endParaRPr lang="en-US" sz="1500" dirty="0"/>
          </a:p>
        </p:txBody>
      </p:sp>
      <p:sp>
        <p:nvSpPr>
          <p:cNvPr id="10" name="Text 8"/>
          <p:cNvSpPr/>
          <p:nvPr/>
        </p:nvSpPr>
        <p:spPr>
          <a:xfrm>
            <a:off x="502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إنشاء طلب</a:t>
            </a:r>
            <a:endParaRPr lang="en-US" sz="1300" dirty="0"/>
          </a:p>
        </p:txBody>
      </p:sp>
      <p:sp>
        <p:nvSpPr>
          <p:cNvPr id="11" name="Text 9"/>
          <p:cNvSpPr/>
          <p:nvPr/>
        </p:nvSpPr>
        <p:spPr>
          <a:xfrm>
            <a:off x="502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السعر من قاعدة البيانات</a:t>
            </a:r>
            <a:endParaRPr lang="en-US" sz="1100" dirty="0"/>
          </a:p>
        </p:txBody>
      </p:sp>
      <p:sp>
        <p:nvSpPr>
          <p:cNvPr id="12" name="Shape 10"/>
          <p:cNvSpPr/>
          <p:nvPr/>
        </p:nvSpPr>
        <p:spPr>
          <a:xfrm>
            <a:off x="2697480" y="1508760"/>
            <a:ext cx="2148840" cy="1508760"/>
          </a:xfrm>
          <a:prstGeom prst="roundRect">
            <a:avLst>
              <a:gd name="adj" fmla="val 6061"/>
            </a:avLst>
          </a:prstGeom>
          <a:solidFill>
            <a:srgbClr val="EEF6F5"/>
          </a:solidFill>
          <a:ln w="12700">
            <a:solidFill>
              <a:srgbClr val="CCFBF1"/>
            </a:solidFill>
            <a:prstDash val="solid"/>
          </a:ln>
        </p:spPr>
      </p:sp>
      <p:sp>
        <p:nvSpPr>
          <p:cNvPr id="13" name="Shape 11"/>
          <p:cNvSpPr/>
          <p:nvPr/>
        </p:nvSpPr>
        <p:spPr>
          <a:xfrm>
            <a:off x="3520440" y="1645920"/>
            <a:ext cx="457200" cy="457200"/>
          </a:xfrm>
          <a:prstGeom prst="ellipse">
            <a:avLst/>
          </a:prstGeom>
          <a:solidFill>
            <a:srgbClr val="0B1F4D"/>
          </a:solidFill>
          <a:ln/>
        </p:spPr>
      </p:sp>
      <p:sp>
        <p:nvSpPr>
          <p:cNvPr id="14" name="Text 12"/>
          <p:cNvSpPr/>
          <p:nvPr/>
        </p:nvSpPr>
        <p:spPr>
          <a:xfrm>
            <a:off x="3520440" y="1645920"/>
            <a:ext cx="457200" cy="457200"/>
          </a:xfrm>
          <a:prstGeom prst="rect">
            <a:avLst/>
          </a:prstGeom>
          <a:noFill/>
          <a:ln/>
        </p:spPr>
        <p:txBody>
          <a:bodyPr wrap="square" rtlCol="0" anchor="ctr"/>
          <a:lstStyle/>
          <a:p>
            <a:pPr algn="ctr" indent="0" marL="0">
              <a:buNone/>
            </a:pPr>
            <a:r>
              <a:rPr lang="en-US" sz="1500" b="1" dirty="0">
                <a:solidFill>
                  <a:srgbClr val="FFFFFF"/>
                </a:solidFill>
              </a:rPr>
              <a:t>2</a:t>
            </a:r>
            <a:endParaRPr lang="en-US" sz="1500" dirty="0"/>
          </a:p>
        </p:txBody>
      </p:sp>
      <p:sp>
        <p:nvSpPr>
          <p:cNvPr id="15" name="Text 13"/>
          <p:cNvSpPr/>
          <p:nvPr/>
        </p:nvSpPr>
        <p:spPr>
          <a:xfrm>
            <a:off x="2788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دفع / تحويل</a:t>
            </a:r>
            <a:endParaRPr lang="en-US" sz="1300" dirty="0"/>
          </a:p>
        </p:txBody>
      </p:sp>
      <p:sp>
        <p:nvSpPr>
          <p:cNvPr id="16" name="Text 14"/>
          <p:cNvSpPr/>
          <p:nvPr/>
        </p:nvSpPr>
        <p:spPr>
          <a:xfrm>
            <a:off x="2788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يدوي أو Paymob</a:t>
            </a:r>
            <a:endParaRPr lang="en-US" sz="1100" dirty="0"/>
          </a:p>
        </p:txBody>
      </p:sp>
      <p:sp>
        <p:nvSpPr>
          <p:cNvPr id="17" name="Shape 15"/>
          <p:cNvSpPr/>
          <p:nvPr/>
        </p:nvSpPr>
        <p:spPr>
          <a:xfrm>
            <a:off x="4983480" y="1508760"/>
            <a:ext cx="2148840" cy="1508760"/>
          </a:xfrm>
          <a:prstGeom prst="roundRect">
            <a:avLst>
              <a:gd name="adj" fmla="val 6061"/>
            </a:avLst>
          </a:prstGeom>
          <a:solidFill>
            <a:srgbClr val="EEF6F5"/>
          </a:solidFill>
          <a:ln w="12700">
            <a:solidFill>
              <a:srgbClr val="CCFBF1"/>
            </a:solidFill>
            <a:prstDash val="solid"/>
          </a:ln>
        </p:spPr>
      </p:sp>
      <p:sp>
        <p:nvSpPr>
          <p:cNvPr id="18" name="Shape 16"/>
          <p:cNvSpPr/>
          <p:nvPr/>
        </p:nvSpPr>
        <p:spPr>
          <a:xfrm>
            <a:off x="5806440" y="1645920"/>
            <a:ext cx="457200" cy="457200"/>
          </a:xfrm>
          <a:prstGeom prst="ellipse">
            <a:avLst/>
          </a:prstGeom>
          <a:solidFill>
            <a:srgbClr val="0B1F4D"/>
          </a:solidFill>
          <a:ln/>
        </p:spPr>
      </p:sp>
      <p:sp>
        <p:nvSpPr>
          <p:cNvPr id="19" name="Text 17"/>
          <p:cNvSpPr/>
          <p:nvPr/>
        </p:nvSpPr>
        <p:spPr>
          <a:xfrm>
            <a:off x="5806440" y="1645920"/>
            <a:ext cx="457200" cy="457200"/>
          </a:xfrm>
          <a:prstGeom prst="rect">
            <a:avLst/>
          </a:prstGeom>
          <a:noFill/>
          <a:ln/>
        </p:spPr>
        <p:txBody>
          <a:bodyPr wrap="square" rtlCol="0" anchor="ctr"/>
          <a:lstStyle/>
          <a:p>
            <a:pPr algn="ctr" indent="0" marL="0">
              <a:buNone/>
            </a:pPr>
            <a:r>
              <a:rPr lang="en-US" sz="1500" b="1" dirty="0">
                <a:solidFill>
                  <a:srgbClr val="FFFFFF"/>
                </a:solidFill>
              </a:rPr>
              <a:t>3</a:t>
            </a:r>
            <a:endParaRPr lang="en-US" sz="1500" dirty="0"/>
          </a:p>
        </p:txBody>
      </p:sp>
      <p:sp>
        <p:nvSpPr>
          <p:cNvPr id="20" name="Text 18"/>
          <p:cNvSpPr/>
          <p:nvPr/>
        </p:nvSpPr>
        <p:spPr>
          <a:xfrm>
            <a:off x="5074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حجز المبلغ</a:t>
            </a:r>
            <a:endParaRPr lang="en-US" sz="1300" dirty="0"/>
          </a:p>
        </p:txBody>
      </p:sp>
      <p:sp>
        <p:nvSpPr>
          <p:cNvPr id="21" name="Text 19"/>
          <p:cNvSpPr/>
          <p:nvPr/>
        </p:nvSpPr>
        <p:spPr>
          <a:xfrm>
            <a:off x="5074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حالة paid_held</a:t>
            </a:r>
            <a:endParaRPr lang="en-US" sz="1100" dirty="0"/>
          </a:p>
        </p:txBody>
      </p:sp>
      <p:sp>
        <p:nvSpPr>
          <p:cNvPr id="22" name="Shape 20"/>
          <p:cNvSpPr/>
          <p:nvPr/>
        </p:nvSpPr>
        <p:spPr>
          <a:xfrm>
            <a:off x="7269480" y="1508760"/>
            <a:ext cx="2148840" cy="1508760"/>
          </a:xfrm>
          <a:prstGeom prst="roundRect">
            <a:avLst>
              <a:gd name="adj" fmla="val 6061"/>
            </a:avLst>
          </a:prstGeom>
          <a:solidFill>
            <a:srgbClr val="EEF6F5"/>
          </a:solidFill>
          <a:ln w="12700">
            <a:solidFill>
              <a:srgbClr val="CCFBF1"/>
            </a:solidFill>
            <a:prstDash val="solid"/>
          </a:ln>
        </p:spPr>
      </p:sp>
      <p:sp>
        <p:nvSpPr>
          <p:cNvPr id="23" name="Shape 21"/>
          <p:cNvSpPr/>
          <p:nvPr/>
        </p:nvSpPr>
        <p:spPr>
          <a:xfrm>
            <a:off x="8092440" y="1645920"/>
            <a:ext cx="457200" cy="457200"/>
          </a:xfrm>
          <a:prstGeom prst="ellipse">
            <a:avLst/>
          </a:prstGeom>
          <a:solidFill>
            <a:srgbClr val="0B1F4D"/>
          </a:solidFill>
          <a:ln/>
        </p:spPr>
      </p:sp>
      <p:sp>
        <p:nvSpPr>
          <p:cNvPr id="24" name="Text 22"/>
          <p:cNvSpPr/>
          <p:nvPr/>
        </p:nvSpPr>
        <p:spPr>
          <a:xfrm>
            <a:off x="8092440" y="1645920"/>
            <a:ext cx="457200" cy="457200"/>
          </a:xfrm>
          <a:prstGeom prst="rect">
            <a:avLst/>
          </a:prstGeom>
          <a:noFill/>
          <a:ln/>
        </p:spPr>
        <p:txBody>
          <a:bodyPr wrap="square" rtlCol="0" anchor="ctr"/>
          <a:lstStyle/>
          <a:p>
            <a:pPr algn="ctr" indent="0" marL="0">
              <a:buNone/>
            </a:pPr>
            <a:r>
              <a:rPr lang="en-US" sz="1500" b="1" dirty="0">
                <a:solidFill>
                  <a:srgbClr val="FFFFFF"/>
                </a:solidFill>
              </a:rPr>
              <a:t>4</a:t>
            </a:r>
            <a:endParaRPr lang="en-US" sz="1500" dirty="0"/>
          </a:p>
        </p:txBody>
      </p:sp>
      <p:sp>
        <p:nvSpPr>
          <p:cNvPr id="25" name="Text 23"/>
          <p:cNvSpPr/>
          <p:nvPr/>
        </p:nvSpPr>
        <p:spPr>
          <a:xfrm>
            <a:off x="7360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التنفيذ</a:t>
            </a:r>
            <a:endParaRPr lang="en-US" sz="1300" dirty="0"/>
          </a:p>
        </p:txBody>
      </p:sp>
      <p:sp>
        <p:nvSpPr>
          <p:cNvPr id="26" name="Text 24"/>
          <p:cNvSpPr/>
          <p:nvPr/>
        </p:nvSpPr>
        <p:spPr>
          <a:xfrm>
            <a:off x="7360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شحن وتواصل</a:t>
            </a:r>
            <a:endParaRPr lang="en-US" sz="1100" dirty="0"/>
          </a:p>
        </p:txBody>
      </p:sp>
      <p:sp>
        <p:nvSpPr>
          <p:cNvPr id="27" name="Shape 25"/>
          <p:cNvSpPr/>
          <p:nvPr/>
        </p:nvSpPr>
        <p:spPr>
          <a:xfrm>
            <a:off x="9555480" y="1508760"/>
            <a:ext cx="2148840" cy="1508760"/>
          </a:xfrm>
          <a:prstGeom prst="roundRect">
            <a:avLst>
              <a:gd name="adj" fmla="val 6061"/>
            </a:avLst>
          </a:prstGeom>
          <a:solidFill>
            <a:srgbClr val="EEF6F5"/>
          </a:solidFill>
          <a:ln w="12700">
            <a:solidFill>
              <a:srgbClr val="CCFBF1"/>
            </a:solidFill>
            <a:prstDash val="solid"/>
          </a:ln>
        </p:spPr>
      </p:sp>
      <p:sp>
        <p:nvSpPr>
          <p:cNvPr id="28" name="Shape 26"/>
          <p:cNvSpPr/>
          <p:nvPr/>
        </p:nvSpPr>
        <p:spPr>
          <a:xfrm>
            <a:off x="10378440" y="1645920"/>
            <a:ext cx="457200" cy="457200"/>
          </a:xfrm>
          <a:prstGeom prst="ellipse">
            <a:avLst/>
          </a:prstGeom>
          <a:solidFill>
            <a:srgbClr val="0B1F4D"/>
          </a:solidFill>
          <a:ln/>
        </p:spPr>
      </p:sp>
      <p:sp>
        <p:nvSpPr>
          <p:cNvPr id="29" name="Text 27"/>
          <p:cNvSpPr/>
          <p:nvPr/>
        </p:nvSpPr>
        <p:spPr>
          <a:xfrm>
            <a:off x="10378440" y="1645920"/>
            <a:ext cx="457200" cy="457200"/>
          </a:xfrm>
          <a:prstGeom prst="rect">
            <a:avLst/>
          </a:prstGeom>
          <a:noFill/>
          <a:ln/>
        </p:spPr>
        <p:txBody>
          <a:bodyPr wrap="square" rtlCol="0" anchor="ctr"/>
          <a:lstStyle/>
          <a:p>
            <a:pPr algn="ctr" indent="0" marL="0">
              <a:buNone/>
            </a:pPr>
            <a:r>
              <a:rPr lang="en-US" sz="1500" b="1" dirty="0">
                <a:solidFill>
                  <a:srgbClr val="FFFFFF"/>
                </a:solidFill>
              </a:rPr>
              <a:t>5</a:t>
            </a:r>
            <a:endParaRPr lang="en-US" sz="1500" dirty="0"/>
          </a:p>
        </p:txBody>
      </p:sp>
      <p:sp>
        <p:nvSpPr>
          <p:cNvPr id="30" name="Text 28"/>
          <p:cNvSpPr/>
          <p:nvPr/>
        </p:nvSpPr>
        <p:spPr>
          <a:xfrm>
            <a:off x="9646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الإفراج</a:t>
            </a:r>
            <a:endParaRPr lang="en-US" sz="1300" dirty="0"/>
          </a:p>
        </p:txBody>
      </p:sp>
      <p:sp>
        <p:nvSpPr>
          <p:cNvPr id="31" name="Text 29"/>
          <p:cNvSpPr/>
          <p:nvPr/>
        </p:nvSpPr>
        <p:spPr>
          <a:xfrm>
            <a:off x="9646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بعد تأكيد الاستلام</a:t>
            </a:r>
            <a:endParaRPr lang="en-US" sz="1100" dirty="0"/>
          </a:p>
        </p:txBody>
      </p:sp>
      <p:sp>
        <p:nvSpPr>
          <p:cNvPr id="32" name="Shape 30"/>
          <p:cNvSpPr/>
          <p:nvPr/>
        </p:nvSpPr>
        <p:spPr>
          <a:xfrm>
            <a:off x="411480" y="3291840"/>
            <a:ext cx="5486400" cy="2194560"/>
          </a:xfrm>
          <a:prstGeom prst="roundRect">
            <a:avLst>
              <a:gd name="adj" fmla="val 4167"/>
            </a:avLst>
          </a:prstGeom>
          <a:solidFill>
            <a:srgbClr val="FFFFFF"/>
          </a:solidFill>
          <a:ln w="12700">
            <a:solidFill>
              <a:srgbClr val="D6D3D1"/>
            </a:solidFill>
            <a:prstDash val="solid"/>
          </a:ln>
        </p:spPr>
      </p:sp>
      <p:sp>
        <p:nvSpPr>
          <p:cNvPr id="33" name="Text 31"/>
          <p:cNvSpPr/>
          <p:nvPr/>
        </p:nvSpPr>
        <p:spPr>
          <a:xfrm>
            <a:off x="594360" y="3429000"/>
            <a:ext cx="5120640" cy="320040"/>
          </a:xfrm>
          <a:prstGeom prst="rect">
            <a:avLst/>
          </a:prstGeom>
          <a:noFill/>
          <a:ln/>
        </p:spPr>
        <p:txBody>
          <a:bodyPr wrap="square" rtlCol="0" anchor="ctr"/>
          <a:lstStyle/>
          <a:p>
            <a:pPr rtl="1" algn="r" indent="0" marL="0">
              <a:buNone/>
            </a:pPr>
            <a:r>
              <a:rPr lang="en-US" sz="1400" b="1" dirty="0">
                <a:solidFill>
                  <a:srgbClr val="0F766E"/>
                </a:solidFill>
                <a:latin typeface="Segoe UI" pitchFamily="34" charset="0"/>
                <a:ea typeface="Segoe UI" pitchFamily="34" charset="-122"/>
                <a:cs typeface="Segoe UI" pitchFamily="34" charset="-120"/>
              </a:rPr>
              <a:t>حالات الدفع</a:t>
            </a:r>
            <a:endParaRPr lang="en-US" sz="1400" dirty="0"/>
          </a:p>
        </p:txBody>
      </p:sp>
      <p:sp>
        <p:nvSpPr>
          <p:cNvPr id="34" name="Text 32"/>
          <p:cNvSpPr/>
          <p:nvPr/>
        </p:nvSpPr>
        <p:spPr>
          <a:xfrm>
            <a:off x="594360" y="3886200"/>
            <a:ext cx="5120640" cy="137160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pending_payment → paid_held → released / refunded</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قواعد الخادم تربط البائع بمالك المنتج وتثبت السعر والحالة الابتدائية.</a:t>
            </a:r>
            <a:endParaRPr lang="en-US" sz="1300" dirty="0"/>
          </a:p>
        </p:txBody>
      </p:sp>
      <p:sp>
        <p:nvSpPr>
          <p:cNvPr id="35" name="Shape 33"/>
          <p:cNvSpPr/>
          <p:nvPr/>
        </p:nvSpPr>
        <p:spPr>
          <a:xfrm>
            <a:off x="6126480" y="3291840"/>
            <a:ext cx="5623560" cy="2194560"/>
          </a:xfrm>
          <a:prstGeom prst="roundRect">
            <a:avLst>
              <a:gd name="adj" fmla="val 4167"/>
            </a:avLst>
          </a:prstGeom>
          <a:solidFill>
            <a:srgbClr val="FFFBEB"/>
          </a:solidFill>
          <a:ln w="12700">
            <a:solidFill>
              <a:srgbClr val="B45309"/>
            </a:solidFill>
            <a:prstDash val="solid"/>
          </a:ln>
        </p:spPr>
      </p:sp>
      <p:sp>
        <p:nvSpPr>
          <p:cNvPr id="36" name="Text 34"/>
          <p:cNvSpPr/>
          <p:nvPr/>
        </p:nvSpPr>
        <p:spPr>
          <a:xfrm>
            <a:off x="6309360" y="3429000"/>
            <a:ext cx="5257800" cy="320040"/>
          </a:xfrm>
          <a:prstGeom prst="rect">
            <a:avLst/>
          </a:prstGeom>
          <a:noFill/>
          <a:ln/>
        </p:spPr>
        <p:txBody>
          <a:bodyPr wrap="square" rtlCol="0" anchor="ctr"/>
          <a:lstStyle/>
          <a:p>
            <a:pPr rtl="1" algn="r" indent="0" marL="0">
              <a:buNone/>
            </a:pPr>
            <a:r>
              <a:rPr lang="en-US" sz="1400" b="1" dirty="0">
                <a:solidFill>
                  <a:srgbClr val="B45309"/>
                </a:solidFill>
                <a:latin typeface="Segoe UI" pitchFamily="34" charset="0"/>
                <a:ea typeface="Segoe UI" pitchFamily="34" charset="-122"/>
                <a:cs typeface="Segoe UI" pitchFamily="34" charset="-120"/>
              </a:rPr>
              <a:t>رسالة تطمئن المورد</a:t>
            </a:r>
            <a:endParaRPr lang="en-US" sz="1400" dirty="0"/>
          </a:p>
        </p:txBody>
      </p:sp>
      <p:sp>
        <p:nvSpPr>
          <p:cNvPr id="37" name="Text 35"/>
          <p:cNvSpPr/>
          <p:nvPr/>
        </p:nvSpPr>
        <p:spPr>
          <a:xfrm>
            <a:off x="6309360" y="3886200"/>
            <a:ext cx="5257800" cy="137160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لا تلاعب بالسعر من شاشة العميل. الإفراج مربوط بتأكيد الاستلام. العربة تدعم عدة موردين بطلبات منفصلة.</a:t>
            </a:r>
            <a:endParaRPr lang="en-US" sz="1300" dirty="0"/>
          </a:p>
        </p:txBody>
      </p:sp>
      <p:sp>
        <p:nvSpPr>
          <p:cNvPr id="38" name="Shape 36"/>
          <p:cNvSpPr/>
          <p:nvPr/>
        </p:nvSpPr>
        <p:spPr>
          <a:xfrm>
            <a:off x="0" y="6510528"/>
            <a:ext cx="12191695" cy="347472"/>
          </a:xfrm>
          <a:prstGeom prst="rect">
            <a:avLst/>
          </a:prstGeom>
          <a:solidFill>
            <a:srgbClr val="F8F5F0"/>
          </a:solidFill>
          <a:ln/>
        </p:spPr>
      </p:sp>
      <p:sp>
        <p:nvSpPr>
          <p:cNvPr id="39" name="Text 37"/>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40" name="Text 38"/>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9 /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٧ — آلية الشراكة: المورد ↔ AcadeGate</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أنت تملك المنتج والسعر والتنفيذ — نحن نملك القناة والجمهور والثقة الرقمية.</a:t>
            </a:r>
            <a:endParaRPr lang="en-US" sz="1300" dirty="0"/>
          </a:p>
        </p:txBody>
      </p:sp>
      <p:sp>
        <p:nvSpPr>
          <p:cNvPr id="7" name="Shape 5"/>
          <p:cNvSpPr/>
          <p:nvPr/>
        </p:nvSpPr>
        <p:spPr>
          <a:xfrm>
            <a:off x="411480" y="1508760"/>
            <a:ext cx="5532120" cy="4206240"/>
          </a:xfrm>
          <a:prstGeom prst="roundRect">
            <a:avLst>
              <a:gd name="adj" fmla="val 2174"/>
            </a:avLst>
          </a:prstGeom>
          <a:solidFill>
            <a:srgbClr val="EEF6F5"/>
          </a:solidFill>
          <a:ln w="12700">
            <a:solidFill>
              <a:srgbClr val="CCFBF1"/>
            </a:solidFill>
            <a:prstDash val="solid"/>
          </a:ln>
        </p:spPr>
      </p:sp>
      <p:sp>
        <p:nvSpPr>
          <p:cNvPr id="8" name="Text 6"/>
          <p:cNvSpPr/>
          <p:nvPr/>
        </p:nvSpPr>
        <p:spPr>
          <a:xfrm>
            <a:off x="640080" y="1645920"/>
            <a:ext cx="5074920" cy="365760"/>
          </a:xfrm>
          <a:prstGeom prst="rect">
            <a:avLst/>
          </a:prstGeom>
          <a:noFill/>
          <a:ln/>
        </p:spPr>
        <p:txBody>
          <a:bodyPr wrap="square" rtlCol="0" anchor="ctr"/>
          <a:lstStyle/>
          <a:p>
            <a:pPr rtl="1" algn="r" indent="0" marL="0">
              <a:buNone/>
            </a:pPr>
            <a:r>
              <a:rPr lang="en-US" sz="1600" b="1" dirty="0">
                <a:solidFill>
                  <a:srgbClr val="0B1F4D"/>
                </a:solidFill>
                <a:latin typeface="Segoe UI" pitchFamily="34" charset="0"/>
                <a:ea typeface="Segoe UI" pitchFamily="34" charset="-122"/>
                <a:cs typeface="Segoe UI" pitchFamily="34" charset="-120"/>
              </a:rPr>
              <a:t>ماذا نقدّم نحن</a:t>
            </a:r>
            <a:endParaRPr lang="en-US" sz="1600" dirty="0"/>
          </a:p>
        </p:txBody>
      </p:sp>
      <p:sp>
        <p:nvSpPr>
          <p:cNvPr id="9" name="Text 7"/>
          <p:cNvSpPr/>
          <p:nvPr/>
        </p:nvSpPr>
        <p:spPr>
          <a:xfrm>
            <a:off x="640080" y="2148840"/>
            <a:ext cx="5074920" cy="3291840"/>
          </a:xfrm>
          <a:prstGeom prst="rect">
            <a:avLst/>
          </a:prstGeom>
          <a:noFill/>
          <a:ln/>
        </p:spPr>
        <p:txBody>
          <a:bodyPr wrap="square" rtlCol="0" anchor="ctr"/>
          <a:lstStyle/>
          <a:p>
            <a:pPr algn="r" indent="0" marL="0">
              <a:buNone/>
            </a:pPr>
            <a:r>
              <a:rPr lang="en-US" sz="1300" dirty="0">
                <a:solidFill>
                  <a:srgbClr val="0F172A"/>
                </a:solidFill>
                <a:latin typeface="Segoe UI" pitchFamily="34" charset="0"/>
                <a:ea typeface="Segoe UI" pitchFamily="34" charset="-122"/>
                <a:cs typeface="Segoe UI" pitchFamily="34" charset="-120"/>
              </a:rPr>
              <a:t>قناة وصول لطلاب الدراسات العليا والباحثين</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١٥ قسماً + Hub + بحث وفلاتر</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بوابة مورد: منتجات · طلبات · RFQ · رسائل</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Escrow + عربة متعددة الموردين</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متجر مورد عام + شارات ثقة</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مراجعة محتوى قبل النشر</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ظهور ضمن مسار البحث الذكي</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استيراد كتالوج (حسب الاتفاق)</a:t>
            </a:r>
            <a:endParaRPr lang="en-US" sz="1300" dirty="0"/>
          </a:p>
        </p:txBody>
      </p:sp>
      <p:sp>
        <p:nvSpPr>
          <p:cNvPr id="10" name="Shape 8"/>
          <p:cNvSpPr/>
          <p:nvPr/>
        </p:nvSpPr>
        <p:spPr>
          <a:xfrm>
            <a:off x="6172200" y="1508760"/>
            <a:ext cx="5577840" cy="4206240"/>
          </a:xfrm>
          <a:prstGeom prst="roundRect">
            <a:avLst>
              <a:gd name="adj" fmla="val 2174"/>
            </a:avLst>
          </a:prstGeom>
          <a:solidFill>
            <a:srgbClr val="FFFFFF"/>
          </a:solidFill>
          <a:ln w="12700">
            <a:solidFill>
              <a:srgbClr val="D6D3D1"/>
            </a:solidFill>
            <a:prstDash val="solid"/>
          </a:ln>
        </p:spPr>
      </p:sp>
      <p:sp>
        <p:nvSpPr>
          <p:cNvPr id="11" name="Text 9"/>
          <p:cNvSpPr/>
          <p:nvPr/>
        </p:nvSpPr>
        <p:spPr>
          <a:xfrm>
            <a:off x="6400800" y="1645920"/>
            <a:ext cx="5120640" cy="365760"/>
          </a:xfrm>
          <a:prstGeom prst="rect">
            <a:avLst/>
          </a:prstGeom>
          <a:noFill/>
          <a:ln/>
        </p:spPr>
        <p:txBody>
          <a:bodyPr wrap="square" rtlCol="0" anchor="ctr"/>
          <a:lstStyle/>
          <a:p>
            <a:pPr rtl="1" algn="r" indent="0" marL="0">
              <a:buNone/>
            </a:pPr>
            <a:r>
              <a:rPr lang="en-US" sz="1600" b="1" dirty="0">
                <a:solidFill>
                  <a:srgbClr val="0F766E"/>
                </a:solidFill>
                <a:latin typeface="Segoe UI" pitchFamily="34" charset="0"/>
                <a:ea typeface="Segoe UI" pitchFamily="34" charset="-122"/>
                <a:cs typeface="Segoe UI" pitchFamily="34" charset="-120"/>
              </a:rPr>
              <a:t>ماذا تقدّم أنت</a:t>
            </a:r>
            <a:endParaRPr lang="en-US" sz="1600" dirty="0"/>
          </a:p>
        </p:txBody>
      </p:sp>
      <p:sp>
        <p:nvSpPr>
          <p:cNvPr id="12" name="Text 10"/>
          <p:cNvSpPr/>
          <p:nvPr/>
        </p:nvSpPr>
        <p:spPr>
          <a:xfrm>
            <a:off x="6400800" y="2148840"/>
            <a:ext cx="5120640" cy="3291840"/>
          </a:xfrm>
          <a:prstGeom prst="rect">
            <a:avLst/>
          </a:prstGeom>
          <a:noFill/>
          <a:ln/>
        </p:spPr>
        <p:txBody>
          <a:bodyPr wrap="square" rtlCol="0" anchor="ctr"/>
          <a:lstStyle/>
          <a:p>
            <a:pPr algn="r" indent="0" marL="0">
              <a:buNone/>
            </a:pPr>
            <a:r>
              <a:rPr lang="en-US" sz="1300" dirty="0">
                <a:solidFill>
                  <a:srgbClr val="0F172A"/>
                </a:solidFill>
                <a:latin typeface="Segoe UI" pitchFamily="34" charset="0"/>
                <a:ea typeface="Segoe UI" pitchFamily="34" charset="-122"/>
                <a:cs typeface="Segoe UI" pitchFamily="34" charset="-120"/>
              </a:rPr>
              <a:t>منتجات حقيقية بأسعار وصور صادقة</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تحديث التوفر والرد خلال وقت متفق عليه</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تنفيذ الشحن/التسليم كما تعرضه</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التعامل المهني مع التحويلات اليدوية</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الرد على RFQ والأسئلة على المنتج</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الالتزام بسياسات المحتوى</a:t>
            </a:r>
            <a:endParaRPr lang="en-US" sz="1300" dirty="0"/>
          </a:p>
          <a:p>
            <a:pPr algn="r" indent="0" marL="0">
              <a:buNone/>
            </a:pP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التسعير: أنت تسعّر بالكامل</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الدور: تاجر (merchant)</a:t>
            </a:r>
            <a:endParaRPr lang="en-US" sz="1300" dirty="0"/>
          </a:p>
        </p:txBody>
      </p:sp>
      <p:sp>
        <p:nvSpPr>
          <p:cNvPr id="13" name="Shape 11"/>
          <p:cNvSpPr/>
          <p:nvPr/>
        </p:nvSpPr>
        <p:spPr>
          <a:xfrm>
            <a:off x="0" y="6510528"/>
            <a:ext cx="12191695" cy="347472"/>
          </a:xfrm>
          <a:prstGeom prst="rect">
            <a:avLst/>
          </a:prstGeom>
          <a:solidFill>
            <a:srgbClr val="F8F5F0"/>
          </a:solidFill>
          <a:ln/>
        </p:spPr>
      </p:sp>
      <p:sp>
        <p:nvSpPr>
          <p:cNvPr id="14" name="Text 12"/>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15" name="Text 13"/>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10 /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٨ — ماذا تفعل داخل التطبيق عملياً؟</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Shape 4"/>
          <p:cNvSpPr/>
          <p:nvPr/>
        </p:nvSpPr>
        <p:spPr>
          <a:xfrm>
            <a:off x="11368735" y="1143000"/>
            <a:ext cx="347472" cy="347472"/>
          </a:xfrm>
          <a:prstGeom prst="ellipse">
            <a:avLst/>
          </a:prstGeom>
          <a:solidFill>
            <a:srgbClr val="0B1F4D"/>
          </a:solidFill>
          <a:ln/>
        </p:spPr>
      </p:sp>
      <p:sp>
        <p:nvSpPr>
          <p:cNvPr id="7" name="Text 5"/>
          <p:cNvSpPr/>
          <p:nvPr/>
        </p:nvSpPr>
        <p:spPr>
          <a:xfrm>
            <a:off x="11368735" y="1143000"/>
            <a:ext cx="347472" cy="347472"/>
          </a:xfrm>
          <a:prstGeom prst="rect">
            <a:avLst/>
          </a:prstGeom>
          <a:noFill/>
          <a:ln/>
        </p:spPr>
        <p:txBody>
          <a:bodyPr wrap="square" rtlCol="0" anchor="ctr"/>
          <a:lstStyle/>
          <a:p>
            <a:pPr algn="ctr" indent="0" marL="0">
              <a:buNone/>
            </a:pPr>
            <a:r>
              <a:rPr lang="en-US" sz="1200" b="1" dirty="0">
                <a:solidFill>
                  <a:srgbClr val="FFFFFF"/>
                </a:solidFill>
              </a:rPr>
              <a:t>1</a:t>
            </a:r>
            <a:endParaRPr lang="en-US" sz="1200" dirty="0"/>
          </a:p>
        </p:txBody>
      </p:sp>
      <p:sp>
        <p:nvSpPr>
          <p:cNvPr id="8" name="Text 6"/>
          <p:cNvSpPr/>
          <p:nvPr/>
        </p:nvSpPr>
        <p:spPr>
          <a:xfrm>
            <a:off x="6172200" y="109728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حساب بدور تاجر / مورد</a:t>
            </a:r>
            <a:endParaRPr lang="en-US" sz="1350" dirty="0"/>
          </a:p>
        </p:txBody>
      </p:sp>
      <p:sp>
        <p:nvSpPr>
          <p:cNvPr id="9" name="Shape 7"/>
          <p:cNvSpPr/>
          <p:nvPr/>
        </p:nvSpPr>
        <p:spPr>
          <a:xfrm>
            <a:off x="11368735" y="1645920"/>
            <a:ext cx="347472" cy="347472"/>
          </a:xfrm>
          <a:prstGeom prst="ellipse">
            <a:avLst/>
          </a:prstGeom>
          <a:solidFill>
            <a:srgbClr val="0F766E"/>
          </a:solidFill>
          <a:ln/>
        </p:spPr>
      </p:sp>
      <p:sp>
        <p:nvSpPr>
          <p:cNvPr id="10" name="Text 8"/>
          <p:cNvSpPr/>
          <p:nvPr/>
        </p:nvSpPr>
        <p:spPr>
          <a:xfrm>
            <a:off x="11368735" y="1645920"/>
            <a:ext cx="347472" cy="347472"/>
          </a:xfrm>
          <a:prstGeom prst="rect">
            <a:avLst/>
          </a:prstGeom>
          <a:noFill/>
          <a:ln/>
        </p:spPr>
        <p:txBody>
          <a:bodyPr wrap="square" rtlCol="0" anchor="ctr"/>
          <a:lstStyle/>
          <a:p>
            <a:pPr algn="ctr" indent="0" marL="0">
              <a:buNone/>
            </a:pPr>
            <a:r>
              <a:rPr lang="en-US" sz="1200" b="1" dirty="0">
                <a:solidFill>
                  <a:srgbClr val="FFFFFF"/>
                </a:solidFill>
              </a:rPr>
              <a:t>2</a:t>
            </a:r>
            <a:endParaRPr lang="en-US" sz="1200" dirty="0"/>
          </a:p>
        </p:txBody>
      </p:sp>
      <p:sp>
        <p:nvSpPr>
          <p:cNvPr id="11" name="Text 9"/>
          <p:cNvSpPr/>
          <p:nvPr/>
        </p:nvSpPr>
        <p:spPr>
          <a:xfrm>
            <a:off x="6172200" y="160020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بوابة مقدم الخدمة</a:t>
            </a:r>
            <a:endParaRPr lang="en-US" sz="1350" dirty="0"/>
          </a:p>
        </p:txBody>
      </p:sp>
      <p:sp>
        <p:nvSpPr>
          <p:cNvPr id="12" name="Shape 10"/>
          <p:cNvSpPr/>
          <p:nvPr/>
        </p:nvSpPr>
        <p:spPr>
          <a:xfrm>
            <a:off x="11368735" y="2148840"/>
            <a:ext cx="347472" cy="347472"/>
          </a:xfrm>
          <a:prstGeom prst="ellipse">
            <a:avLst/>
          </a:prstGeom>
          <a:solidFill>
            <a:srgbClr val="0B1F4D"/>
          </a:solidFill>
          <a:ln/>
        </p:spPr>
      </p:sp>
      <p:sp>
        <p:nvSpPr>
          <p:cNvPr id="13" name="Text 11"/>
          <p:cNvSpPr/>
          <p:nvPr/>
        </p:nvSpPr>
        <p:spPr>
          <a:xfrm>
            <a:off x="11368735" y="2148840"/>
            <a:ext cx="347472" cy="347472"/>
          </a:xfrm>
          <a:prstGeom prst="rect">
            <a:avLst/>
          </a:prstGeom>
          <a:noFill/>
          <a:ln/>
        </p:spPr>
        <p:txBody>
          <a:bodyPr wrap="square" rtlCol="0" anchor="ctr"/>
          <a:lstStyle/>
          <a:p>
            <a:pPr algn="ctr" indent="0" marL="0">
              <a:buNone/>
            </a:pPr>
            <a:r>
              <a:rPr lang="en-US" sz="1200" b="1" dirty="0">
                <a:solidFill>
                  <a:srgbClr val="FFFFFF"/>
                </a:solidFill>
              </a:rPr>
              <a:t>3</a:t>
            </a:r>
            <a:endParaRPr lang="en-US" sz="1200" dirty="0"/>
          </a:p>
        </p:txBody>
      </p:sp>
      <p:sp>
        <p:nvSpPr>
          <p:cNvPr id="14" name="Text 12"/>
          <p:cNvSpPr/>
          <p:nvPr/>
        </p:nvSpPr>
        <p:spPr>
          <a:xfrm>
            <a:off x="6172200" y="210312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متجري → إضافة منتج (حقول غنية + شارات)</a:t>
            </a:r>
            <a:endParaRPr lang="en-US" sz="1350" dirty="0"/>
          </a:p>
        </p:txBody>
      </p:sp>
      <p:sp>
        <p:nvSpPr>
          <p:cNvPr id="15" name="Shape 13"/>
          <p:cNvSpPr/>
          <p:nvPr/>
        </p:nvSpPr>
        <p:spPr>
          <a:xfrm>
            <a:off x="11368735" y="2651760"/>
            <a:ext cx="347472" cy="347472"/>
          </a:xfrm>
          <a:prstGeom prst="ellipse">
            <a:avLst/>
          </a:prstGeom>
          <a:solidFill>
            <a:srgbClr val="0F766E"/>
          </a:solidFill>
          <a:ln/>
        </p:spPr>
      </p:sp>
      <p:sp>
        <p:nvSpPr>
          <p:cNvPr id="16" name="Text 14"/>
          <p:cNvSpPr/>
          <p:nvPr/>
        </p:nvSpPr>
        <p:spPr>
          <a:xfrm>
            <a:off x="11368735" y="2651760"/>
            <a:ext cx="347472" cy="347472"/>
          </a:xfrm>
          <a:prstGeom prst="rect">
            <a:avLst/>
          </a:prstGeom>
          <a:noFill/>
          <a:ln/>
        </p:spPr>
        <p:txBody>
          <a:bodyPr wrap="square" rtlCol="0" anchor="ctr"/>
          <a:lstStyle/>
          <a:p>
            <a:pPr algn="ctr" indent="0" marL="0">
              <a:buNone/>
            </a:pPr>
            <a:r>
              <a:rPr lang="en-US" sz="1200" b="1" dirty="0">
                <a:solidFill>
                  <a:srgbClr val="FFFFFF"/>
                </a:solidFill>
              </a:rPr>
              <a:t>4</a:t>
            </a:r>
            <a:endParaRPr lang="en-US" sz="1200" dirty="0"/>
          </a:p>
        </p:txBody>
      </p:sp>
      <p:sp>
        <p:nvSpPr>
          <p:cNvPr id="17" name="Text 15"/>
          <p:cNvSpPr/>
          <p:nvPr/>
        </p:nvSpPr>
        <p:spPr>
          <a:xfrm>
            <a:off x="6172200" y="260604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انتظار موافقة المراجعة</a:t>
            </a:r>
            <a:endParaRPr lang="en-US" sz="1350" dirty="0"/>
          </a:p>
        </p:txBody>
      </p:sp>
      <p:sp>
        <p:nvSpPr>
          <p:cNvPr id="18" name="Shape 16"/>
          <p:cNvSpPr/>
          <p:nvPr/>
        </p:nvSpPr>
        <p:spPr>
          <a:xfrm>
            <a:off x="11368735" y="3154680"/>
            <a:ext cx="347472" cy="347472"/>
          </a:xfrm>
          <a:prstGeom prst="ellipse">
            <a:avLst/>
          </a:prstGeom>
          <a:solidFill>
            <a:srgbClr val="0B1F4D"/>
          </a:solidFill>
          <a:ln/>
        </p:spPr>
      </p:sp>
      <p:sp>
        <p:nvSpPr>
          <p:cNvPr id="19" name="Text 17"/>
          <p:cNvSpPr/>
          <p:nvPr/>
        </p:nvSpPr>
        <p:spPr>
          <a:xfrm>
            <a:off x="11368735" y="3154680"/>
            <a:ext cx="347472" cy="347472"/>
          </a:xfrm>
          <a:prstGeom prst="rect">
            <a:avLst/>
          </a:prstGeom>
          <a:noFill/>
          <a:ln/>
        </p:spPr>
        <p:txBody>
          <a:bodyPr wrap="square" rtlCol="0" anchor="ctr"/>
          <a:lstStyle/>
          <a:p>
            <a:pPr algn="ctr" indent="0" marL="0">
              <a:buNone/>
            </a:pPr>
            <a:r>
              <a:rPr lang="en-US" sz="1200" b="1" dirty="0">
                <a:solidFill>
                  <a:srgbClr val="FFFFFF"/>
                </a:solidFill>
              </a:rPr>
              <a:t>5</a:t>
            </a:r>
            <a:endParaRPr lang="en-US" sz="1200" dirty="0"/>
          </a:p>
        </p:txBody>
      </p:sp>
      <p:sp>
        <p:nvSpPr>
          <p:cNvPr id="20" name="Text 18"/>
          <p:cNvSpPr/>
          <p:nvPr/>
        </p:nvSpPr>
        <p:spPr>
          <a:xfrm>
            <a:off x="6172200" y="310896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ظهور في Hub ومتجر المورد</a:t>
            </a:r>
            <a:endParaRPr lang="en-US" sz="1350" dirty="0"/>
          </a:p>
        </p:txBody>
      </p:sp>
      <p:sp>
        <p:nvSpPr>
          <p:cNvPr id="21" name="Shape 19"/>
          <p:cNvSpPr/>
          <p:nvPr/>
        </p:nvSpPr>
        <p:spPr>
          <a:xfrm>
            <a:off x="11368735" y="3657600"/>
            <a:ext cx="347472" cy="347472"/>
          </a:xfrm>
          <a:prstGeom prst="ellipse">
            <a:avLst/>
          </a:prstGeom>
          <a:solidFill>
            <a:srgbClr val="0F766E"/>
          </a:solidFill>
          <a:ln/>
        </p:spPr>
      </p:sp>
      <p:sp>
        <p:nvSpPr>
          <p:cNvPr id="22" name="Text 20"/>
          <p:cNvSpPr/>
          <p:nvPr/>
        </p:nvSpPr>
        <p:spPr>
          <a:xfrm>
            <a:off x="11368735" y="3657600"/>
            <a:ext cx="347472" cy="347472"/>
          </a:xfrm>
          <a:prstGeom prst="rect">
            <a:avLst/>
          </a:prstGeom>
          <a:noFill/>
          <a:ln/>
        </p:spPr>
        <p:txBody>
          <a:bodyPr wrap="square" rtlCol="0" anchor="ctr"/>
          <a:lstStyle/>
          <a:p>
            <a:pPr algn="ctr" indent="0" marL="0">
              <a:buNone/>
            </a:pPr>
            <a:r>
              <a:rPr lang="en-US" sz="1200" b="1" dirty="0">
                <a:solidFill>
                  <a:srgbClr val="FFFFFF"/>
                </a:solidFill>
              </a:rPr>
              <a:t>6</a:t>
            </a:r>
            <a:endParaRPr lang="en-US" sz="1200" dirty="0"/>
          </a:p>
        </p:txBody>
      </p:sp>
      <p:sp>
        <p:nvSpPr>
          <p:cNvPr id="23" name="Text 21"/>
          <p:cNvSpPr/>
          <p:nvPr/>
        </p:nvSpPr>
        <p:spPr>
          <a:xfrm>
            <a:off x="6172200" y="361188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استقبال طلبات العربة / الشراء المباشر</a:t>
            </a:r>
            <a:endParaRPr lang="en-US" sz="1350" dirty="0"/>
          </a:p>
        </p:txBody>
      </p:sp>
      <p:sp>
        <p:nvSpPr>
          <p:cNvPr id="24" name="Shape 22"/>
          <p:cNvSpPr/>
          <p:nvPr/>
        </p:nvSpPr>
        <p:spPr>
          <a:xfrm>
            <a:off x="11368735" y="4160520"/>
            <a:ext cx="347472" cy="347472"/>
          </a:xfrm>
          <a:prstGeom prst="ellipse">
            <a:avLst/>
          </a:prstGeom>
          <a:solidFill>
            <a:srgbClr val="0B1F4D"/>
          </a:solidFill>
          <a:ln/>
        </p:spPr>
      </p:sp>
      <p:sp>
        <p:nvSpPr>
          <p:cNvPr id="25" name="Text 23"/>
          <p:cNvSpPr/>
          <p:nvPr/>
        </p:nvSpPr>
        <p:spPr>
          <a:xfrm>
            <a:off x="11368735" y="4160520"/>
            <a:ext cx="347472" cy="347472"/>
          </a:xfrm>
          <a:prstGeom prst="rect">
            <a:avLst/>
          </a:prstGeom>
          <a:noFill/>
          <a:ln/>
        </p:spPr>
        <p:txBody>
          <a:bodyPr wrap="square" rtlCol="0" anchor="ctr"/>
          <a:lstStyle/>
          <a:p>
            <a:pPr algn="ctr" indent="0" marL="0">
              <a:buNone/>
            </a:pPr>
            <a:r>
              <a:rPr lang="en-US" sz="1200" b="1" dirty="0">
                <a:solidFill>
                  <a:srgbClr val="FFFFFF"/>
                </a:solidFill>
              </a:rPr>
              <a:t>7</a:t>
            </a:r>
            <a:endParaRPr lang="en-US" sz="1200" dirty="0"/>
          </a:p>
        </p:txBody>
      </p:sp>
      <p:sp>
        <p:nvSpPr>
          <p:cNvPr id="26" name="Text 24"/>
          <p:cNvSpPr/>
          <p:nvPr/>
        </p:nvSpPr>
        <p:spPr>
          <a:xfrm>
            <a:off x="6172200" y="411480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الرد على RFQ وأسئلة المنتج</a:t>
            </a:r>
            <a:endParaRPr lang="en-US" sz="1350" dirty="0"/>
          </a:p>
        </p:txBody>
      </p:sp>
      <p:sp>
        <p:nvSpPr>
          <p:cNvPr id="27" name="Shape 25"/>
          <p:cNvSpPr/>
          <p:nvPr/>
        </p:nvSpPr>
        <p:spPr>
          <a:xfrm>
            <a:off x="11368735" y="4663440"/>
            <a:ext cx="347472" cy="347472"/>
          </a:xfrm>
          <a:prstGeom prst="ellipse">
            <a:avLst/>
          </a:prstGeom>
          <a:solidFill>
            <a:srgbClr val="0F766E"/>
          </a:solidFill>
          <a:ln/>
        </p:spPr>
      </p:sp>
      <p:sp>
        <p:nvSpPr>
          <p:cNvPr id="28" name="Text 26"/>
          <p:cNvSpPr/>
          <p:nvPr/>
        </p:nvSpPr>
        <p:spPr>
          <a:xfrm>
            <a:off x="11368735" y="4663440"/>
            <a:ext cx="347472" cy="347472"/>
          </a:xfrm>
          <a:prstGeom prst="rect">
            <a:avLst/>
          </a:prstGeom>
          <a:noFill/>
          <a:ln/>
        </p:spPr>
        <p:txBody>
          <a:bodyPr wrap="square" rtlCol="0" anchor="ctr"/>
          <a:lstStyle/>
          <a:p>
            <a:pPr algn="ctr" indent="0" marL="0">
              <a:buNone/>
            </a:pPr>
            <a:r>
              <a:rPr lang="en-US" sz="1200" b="1" dirty="0">
                <a:solidFill>
                  <a:srgbClr val="FFFFFF"/>
                </a:solidFill>
              </a:rPr>
              <a:t>8</a:t>
            </a:r>
            <a:endParaRPr lang="en-US" sz="1200" dirty="0"/>
          </a:p>
        </p:txBody>
      </p:sp>
      <p:sp>
        <p:nvSpPr>
          <p:cNvPr id="29" name="Text 27"/>
          <p:cNvSpPr/>
          <p:nvPr/>
        </p:nvSpPr>
        <p:spPr>
          <a:xfrm>
            <a:off x="6172200" y="461772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تأكيد التحويل · الشحن · إغلاق الضمان</a:t>
            </a:r>
            <a:endParaRPr lang="en-US" sz="1350" dirty="0"/>
          </a:p>
        </p:txBody>
      </p:sp>
      <p:sp>
        <p:nvSpPr>
          <p:cNvPr id="30" name="Shape 28"/>
          <p:cNvSpPr/>
          <p:nvPr/>
        </p:nvSpPr>
        <p:spPr>
          <a:xfrm>
            <a:off x="411480" y="1097280"/>
            <a:ext cx="5120640" cy="2194560"/>
          </a:xfrm>
          <a:prstGeom prst="roundRect">
            <a:avLst>
              <a:gd name="adj" fmla="val 4167"/>
            </a:avLst>
          </a:prstGeom>
          <a:solidFill>
            <a:srgbClr val="FFFFFF"/>
          </a:solidFill>
          <a:ln w="12700">
            <a:solidFill>
              <a:srgbClr val="D6D3D1"/>
            </a:solidFill>
            <a:prstDash val="solid"/>
          </a:ln>
        </p:spPr>
      </p:sp>
      <p:sp>
        <p:nvSpPr>
          <p:cNvPr id="31" name="Text 29"/>
          <p:cNvSpPr/>
          <p:nvPr/>
        </p:nvSpPr>
        <p:spPr>
          <a:xfrm>
            <a:off x="640080" y="1234440"/>
            <a:ext cx="4663440" cy="36576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تبويب منتجاتي</a:t>
            </a:r>
            <a:endParaRPr lang="en-US" sz="1500" dirty="0"/>
          </a:p>
        </p:txBody>
      </p:sp>
      <p:sp>
        <p:nvSpPr>
          <p:cNvPr id="32" name="Text 30"/>
          <p:cNvSpPr/>
          <p:nvPr/>
        </p:nvSpPr>
        <p:spPr>
          <a:xfrm>
            <a:off x="640080" y="1737360"/>
            <a:ext cx="4663440" cy="128016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عرض المنتجات وحالة الاعتماد</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إضافة منتج جديد بحقول غنية</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فتح التفاصيل / الحذف</a:t>
            </a:r>
            <a:endParaRPr lang="en-US" sz="1300" dirty="0"/>
          </a:p>
        </p:txBody>
      </p:sp>
      <p:sp>
        <p:nvSpPr>
          <p:cNvPr id="33" name="Shape 31"/>
          <p:cNvSpPr/>
          <p:nvPr/>
        </p:nvSpPr>
        <p:spPr>
          <a:xfrm>
            <a:off x="411480" y="3474720"/>
            <a:ext cx="5120640" cy="2194560"/>
          </a:xfrm>
          <a:prstGeom prst="roundRect">
            <a:avLst>
              <a:gd name="adj" fmla="val 4167"/>
            </a:avLst>
          </a:prstGeom>
          <a:solidFill>
            <a:srgbClr val="EEF6F5"/>
          </a:solidFill>
          <a:ln w="12700">
            <a:solidFill>
              <a:srgbClr val="CCFBF1"/>
            </a:solidFill>
            <a:prstDash val="solid"/>
          </a:ln>
        </p:spPr>
      </p:sp>
      <p:sp>
        <p:nvSpPr>
          <p:cNvPr id="34" name="Text 32"/>
          <p:cNvSpPr/>
          <p:nvPr/>
        </p:nvSpPr>
        <p:spPr>
          <a:xfrm>
            <a:off x="640080" y="3611880"/>
            <a:ext cx="4663440" cy="365760"/>
          </a:xfrm>
          <a:prstGeom prst="rect">
            <a:avLst/>
          </a:prstGeom>
          <a:noFill/>
          <a:ln/>
        </p:spPr>
        <p:txBody>
          <a:bodyPr wrap="square" rtlCol="0" anchor="ctr"/>
          <a:lstStyle/>
          <a:p>
            <a:pPr rtl="1" algn="r" indent="0" marL="0">
              <a:buNone/>
            </a:pPr>
            <a:r>
              <a:rPr lang="en-US" sz="1500" b="1" dirty="0">
                <a:solidFill>
                  <a:srgbClr val="0F766E"/>
                </a:solidFill>
                <a:latin typeface="Segoe UI" pitchFamily="34" charset="0"/>
                <a:ea typeface="Segoe UI" pitchFamily="34" charset="-122"/>
                <a:cs typeface="Segoe UI" pitchFamily="34" charset="-120"/>
              </a:rPr>
              <a:t>تبويب الطلبات</a:t>
            </a:r>
            <a:endParaRPr lang="en-US" sz="1500" dirty="0"/>
          </a:p>
        </p:txBody>
      </p:sp>
      <p:sp>
        <p:nvSpPr>
          <p:cNvPr id="35" name="Text 33"/>
          <p:cNvSpPr/>
          <p:nvPr/>
        </p:nvSpPr>
        <p:spPr>
          <a:xfrm>
            <a:off x="640080" y="4114800"/>
            <a:ext cx="4663440" cy="128016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طلبات العربة والشراء المباشر</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تمييز دفع يدوي / إلكتروني</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تأكيد التحويل · مراسلة المشتري</a:t>
            </a:r>
            <a:endParaRPr lang="en-US" sz="1300" dirty="0"/>
          </a:p>
        </p:txBody>
      </p:sp>
      <p:sp>
        <p:nvSpPr>
          <p:cNvPr id="36" name="Shape 34"/>
          <p:cNvSpPr/>
          <p:nvPr/>
        </p:nvSpPr>
        <p:spPr>
          <a:xfrm>
            <a:off x="0" y="6510528"/>
            <a:ext cx="12191695" cy="347472"/>
          </a:xfrm>
          <a:prstGeom prst="rect">
            <a:avLst/>
          </a:prstGeom>
          <a:solidFill>
            <a:srgbClr val="F8F5F0"/>
          </a:solidFill>
          <a:ln/>
        </p:spPr>
      </p:sp>
      <p:sp>
        <p:nvSpPr>
          <p:cNvPr id="37" name="Text 35"/>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8" name="Text 36"/>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11 /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٩ — نموذج الإيرادات بشفافية (الوضع والمقترح الأساسي)</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ما يعمل اليوم · وما يُقترح للشراكة — بلا مبالغة.</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463040"/>
          <a:ext cx="11368735" cy="914400"/>
        </p:xfrm>
        <a:graphic>
          <a:graphicData uri="http://schemas.openxmlformats.org/drawingml/2006/table">
            <a:tbl>
              <a:tblPr/>
              <a:tblGrid>
                <a:gridCol w="3840480"/>
                <a:gridCol w="3200400"/>
                <a:gridCol w="4373575"/>
              </a:tblGrid>
              <a:tr h="0">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البند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المقترح الأساسي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ملاحظات</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عمولة على طلب Escrow ناجح</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٥–١٥٪</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تُناقش حسب حجم الكتالوج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مثال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٨٠٠ ج.م × ٨٪ ≈ ٦٤ ج.م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للمنصة · صافيك بعد الاتفاق</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دليل Directory (تواصل فقط)</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مجاني أو اشتراك خفيف</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لا عمولة شراء إن لم يمر عبر Escrow</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استيراد كتالوج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رسوم لمرة واحدة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مزامنة WooCommerce / CSV</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bl>
          </a:graphicData>
        </a:graphic>
      </p:graphicFrame>
      <p:sp>
        <p:nvSpPr>
          <p:cNvPr id="8" name="Shape 5"/>
          <p:cNvSpPr/>
          <p:nvPr/>
        </p:nvSpPr>
        <p:spPr>
          <a:xfrm>
            <a:off x="411480" y="3977640"/>
            <a:ext cx="11368735" cy="1965960"/>
          </a:xfrm>
          <a:prstGeom prst="roundRect">
            <a:avLst>
              <a:gd name="adj" fmla="val 4651"/>
            </a:avLst>
          </a:prstGeom>
          <a:solidFill>
            <a:srgbClr val="FFFBEB"/>
          </a:solidFill>
          <a:ln w="12700">
            <a:solidFill>
              <a:srgbClr val="B45309"/>
            </a:solidFill>
            <a:prstDash val="solid"/>
          </a:ln>
        </p:spPr>
      </p:sp>
      <p:sp>
        <p:nvSpPr>
          <p:cNvPr id="9" name="Text 6"/>
          <p:cNvSpPr/>
          <p:nvPr/>
        </p:nvSpPr>
        <p:spPr>
          <a:xfrm>
            <a:off x="685800" y="4114800"/>
            <a:ext cx="10820095" cy="320040"/>
          </a:xfrm>
          <a:prstGeom prst="rect">
            <a:avLst/>
          </a:prstGeom>
          <a:noFill/>
          <a:ln/>
        </p:spPr>
        <p:txBody>
          <a:bodyPr wrap="square" rtlCol="0" anchor="ctr"/>
          <a:lstStyle/>
          <a:p>
            <a:pPr rtl="1" algn="r" indent="0" marL="0">
              <a:buNone/>
            </a:pPr>
            <a:r>
              <a:rPr lang="en-US" sz="1500" b="1" dirty="0">
                <a:solidFill>
                  <a:srgbClr val="B45309"/>
                </a:solidFill>
                <a:latin typeface="Segoe UI" pitchFamily="34" charset="0"/>
                <a:ea typeface="Segoe UI" pitchFamily="34" charset="-122"/>
                <a:cs typeface="Segoe UI" pitchFamily="34" charset="-120"/>
              </a:rPr>
              <a:t>شفافية مهمة</a:t>
            </a:r>
            <a:endParaRPr lang="en-US" sz="1500" dirty="0"/>
          </a:p>
        </p:txBody>
      </p:sp>
      <p:sp>
        <p:nvSpPr>
          <p:cNvPr id="10" name="Text 7"/>
          <p:cNvSpPr/>
          <p:nvPr/>
        </p:nvSpPr>
        <p:spPr>
          <a:xfrm>
            <a:off x="685800" y="4526280"/>
            <a:ext cx="10820095" cy="118872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حالياً لا تُخصم عمولة تلقائياً من بوابة الدفع. التسوية (نسبة لكل طلب أو فاتورة شهرية) تُثبَّت في اتفاق الشراكة. تدفع على نجاح (طلب منفذ) لا على مجرد ظهور. الشريحة التالية تعرض بدائل أغنى لنمو الإيرادات.</a:t>
            </a:r>
            <a:endParaRPr lang="en-US" sz="1300" dirty="0"/>
          </a:p>
        </p:txBody>
      </p:sp>
      <p:sp>
        <p:nvSpPr>
          <p:cNvPr id="11" name="Shape 8"/>
          <p:cNvSpPr/>
          <p:nvPr/>
        </p:nvSpPr>
        <p:spPr>
          <a:xfrm>
            <a:off x="0" y="6510528"/>
            <a:ext cx="12191695" cy="347472"/>
          </a:xfrm>
          <a:prstGeom prst="rect">
            <a:avLst/>
          </a:prstGeom>
          <a:solidFill>
            <a:srgbClr val="F8F5F0"/>
          </a:solidFill>
          <a:ln/>
        </p:spPr>
      </p:sp>
      <p:sp>
        <p:nvSpPr>
          <p:cNvPr id="12" name="Text 9"/>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13" name="Text 10"/>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12 /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٩ — مقترحات إضافية لنموذج الإيرادات</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لا نعتمد على عمولة واحدة فقط — مزيج Marketplace + SaaS أنسب للنمو والاستدامة.</a:t>
            </a:r>
            <a:endParaRPr lang="en-US" sz="1300" dirty="0"/>
          </a:p>
        </p:txBody>
      </p:sp>
      <p:sp>
        <p:nvSpPr>
          <p:cNvPr id="7" name="Shape 5"/>
          <p:cNvSpPr/>
          <p:nvPr/>
        </p:nvSpPr>
        <p:spPr>
          <a:xfrm>
            <a:off x="411480" y="1463040"/>
            <a:ext cx="3611880" cy="2011680"/>
          </a:xfrm>
          <a:prstGeom prst="roundRect">
            <a:avLst>
              <a:gd name="adj" fmla="val 4545"/>
            </a:avLst>
          </a:prstGeom>
          <a:solidFill>
            <a:srgbClr val="FFFFFF"/>
          </a:solidFill>
          <a:ln w="12700">
            <a:solidFill>
              <a:srgbClr val="D6D3D1"/>
            </a:solidFill>
            <a:prstDash val="solid"/>
          </a:ln>
        </p:spPr>
      </p:sp>
      <p:sp>
        <p:nvSpPr>
          <p:cNvPr id="8" name="Shape 6"/>
          <p:cNvSpPr/>
          <p:nvPr/>
        </p:nvSpPr>
        <p:spPr>
          <a:xfrm>
            <a:off x="3931920" y="1463040"/>
            <a:ext cx="91440" cy="2011680"/>
          </a:xfrm>
          <a:prstGeom prst="rect">
            <a:avLst/>
          </a:prstGeom>
          <a:solidFill>
            <a:srgbClr val="0B1F4D"/>
          </a:solidFill>
          <a:ln/>
        </p:spPr>
      </p:sp>
      <p:sp>
        <p:nvSpPr>
          <p:cNvPr id="9" name="Text 7"/>
          <p:cNvSpPr/>
          <p:nvPr/>
        </p:nvSpPr>
        <p:spPr>
          <a:xfrm>
            <a:off x="548640" y="164592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عمولة متدرجة حسب القسم</a:t>
            </a:r>
            <a:endParaRPr lang="en-US" sz="1300" dirty="0"/>
          </a:p>
        </p:txBody>
      </p:sp>
      <p:sp>
        <p:nvSpPr>
          <p:cNvPr id="10" name="Text 8"/>
          <p:cNvSpPr/>
          <p:nvPr/>
        </p:nvSpPr>
        <p:spPr>
          <a:xfrm>
            <a:off x="548640" y="224028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كواشف/أجهزة هامش أعلى (١٠–١٥٪) · كتب/مستهلكات أقل (٥–٨٪) — أقرب لواقع السوق.</a:t>
            </a:r>
            <a:endParaRPr lang="en-US" sz="1200" dirty="0"/>
          </a:p>
        </p:txBody>
      </p:sp>
      <p:sp>
        <p:nvSpPr>
          <p:cNvPr id="11" name="Shape 9"/>
          <p:cNvSpPr/>
          <p:nvPr/>
        </p:nvSpPr>
        <p:spPr>
          <a:xfrm>
            <a:off x="4206240" y="1463040"/>
            <a:ext cx="3611880" cy="2011680"/>
          </a:xfrm>
          <a:prstGeom prst="roundRect">
            <a:avLst>
              <a:gd name="adj" fmla="val 4545"/>
            </a:avLst>
          </a:prstGeom>
          <a:solidFill>
            <a:srgbClr val="FFFFFF"/>
          </a:solidFill>
          <a:ln w="12700">
            <a:solidFill>
              <a:srgbClr val="D6D3D1"/>
            </a:solidFill>
            <a:prstDash val="solid"/>
          </a:ln>
        </p:spPr>
      </p:sp>
      <p:sp>
        <p:nvSpPr>
          <p:cNvPr id="12" name="Shape 10"/>
          <p:cNvSpPr/>
          <p:nvPr/>
        </p:nvSpPr>
        <p:spPr>
          <a:xfrm>
            <a:off x="7726680" y="1463040"/>
            <a:ext cx="91440" cy="2011680"/>
          </a:xfrm>
          <a:prstGeom prst="rect">
            <a:avLst/>
          </a:prstGeom>
          <a:solidFill>
            <a:srgbClr val="0B1F4D"/>
          </a:solidFill>
          <a:ln/>
        </p:spPr>
      </p:sp>
      <p:sp>
        <p:nvSpPr>
          <p:cNvPr id="13" name="Text 11"/>
          <p:cNvSpPr/>
          <p:nvPr/>
        </p:nvSpPr>
        <p:spPr>
          <a:xfrm>
            <a:off x="4343400" y="164592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اشتراك مورد مميّز (SaaS)</a:t>
            </a:r>
            <a:endParaRPr lang="en-US" sz="1300" dirty="0"/>
          </a:p>
        </p:txBody>
      </p:sp>
      <p:sp>
        <p:nvSpPr>
          <p:cNvPr id="14" name="Text 12"/>
          <p:cNvSpPr/>
          <p:nvPr/>
        </p:nvSpPr>
        <p:spPr>
          <a:xfrm>
            <a:off x="4343400" y="224028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باقة شهرية: ظهور أعلى في Hub · شارة · تحليلات طلبات · أولوية مراجعة — دخل متكرر للمنصة.</a:t>
            </a:r>
            <a:endParaRPr lang="en-US" sz="1200" dirty="0"/>
          </a:p>
        </p:txBody>
      </p:sp>
      <p:sp>
        <p:nvSpPr>
          <p:cNvPr id="15" name="Shape 13"/>
          <p:cNvSpPr/>
          <p:nvPr/>
        </p:nvSpPr>
        <p:spPr>
          <a:xfrm>
            <a:off x="8001000" y="1463040"/>
            <a:ext cx="3611880" cy="2011680"/>
          </a:xfrm>
          <a:prstGeom prst="roundRect">
            <a:avLst>
              <a:gd name="adj" fmla="val 4545"/>
            </a:avLst>
          </a:prstGeom>
          <a:solidFill>
            <a:srgbClr val="FFFFFF"/>
          </a:solidFill>
          <a:ln w="12700">
            <a:solidFill>
              <a:srgbClr val="D6D3D1"/>
            </a:solidFill>
            <a:prstDash val="solid"/>
          </a:ln>
        </p:spPr>
      </p:sp>
      <p:sp>
        <p:nvSpPr>
          <p:cNvPr id="16" name="Shape 14"/>
          <p:cNvSpPr/>
          <p:nvPr/>
        </p:nvSpPr>
        <p:spPr>
          <a:xfrm>
            <a:off x="11521440" y="1463040"/>
            <a:ext cx="91440" cy="2011680"/>
          </a:xfrm>
          <a:prstGeom prst="rect">
            <a:avLst/>
          </a:prstGeom>
          <a:solidFill>
            <a:srgbClr val="0B1F4D"/>
          </a:solidFill>
          <a:ln/>
        </p:spPr>
      </p:sp>
      <p:sp>
        <p:nvSpPr>
          <p:cNvPr id="17" name="Text 15"/>
          <p:cNvSpPr/>
          <p:nvPr/>
        </p:nvSpPr>
        <p:spPr>
          <a:xfrm>
            <a:off x="8138160" y="164592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رسوم تحويل RFQ</a:t>
            </a:r>
            <a:endParaRPr lang="en-US" sz="1300" dirty="0"/>
          </a:p>
        </p:txBody>
      </p:sp>
      <p:sp>
        <p:nvSpPr>
          <p:cNvPr id="18" name="Text 16"/>
          <p:cNvSpPr/>
          <p:nvPr/>
        </p:nvSpPr>
        <p:spPr>
          <a:xfrm>
            <a:off x="8138160" y="224028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مجاني لفتح الطلب · عمولة أعلى (١٢–١٨٪) عند تحويل عرض السعر لطلب مدفوع.</a:t>
            </a:r>
            <a:endParaRPr lang="en-US" sz="1200" dirty="0"/>
          </a:p>
        </p:txBody>
      </p:sp>
      <p:sp>
        <p:nvSpPr>
          <p:cNvPr id="19" name="Shape 17"/>
          <p:cNvSpPr/>
          <p:nvPr/>
        </p:nvSpPr>
        <p:spPr>
          <a:xfrm>
            <a:off x="411480" y="3657600"/>
            <a:ext cx="3611880" cy="2011680"/>
          </a:xfrm>
          <a:prstGeom prst="roundRect">
            <a:avLst>
              <a:gd name="adj" fmla="val 4545"/>
            </a:avLst>
          </a:prstGeom>
          <a:solidFill>
            <a:srgbClr val="FFFFFF"/>
          </a:solidFill>
          <a:ln w="12700">
            <a:solidFill>
              <a:srgbClr val="D6D3D1"/>
            </a:solidFill>
            <a:prstDash val="solid"/>
          </a:ln>
        </p:spPr>
      </p:sp>
      <p:sp>
        <p:nvSpPr>
          <p:cNvPr id="20" name="Shape 18"/>
          <p:cNvSpPr/>
          <p:nvPr/>
        </p:nvSpPr>
        <p:spPr>
          <a:xfrm>
            <a:off x="3931920" y="3657600"/>
            <a:ext cx="91440" cy="2011680"/>
          </a:xfrm>
          <a:prstGeom prst="rect">
            <a:avLst/>
          </a:prstGeom>
          <a:solidFill>
            <a:srgbClr val="0F766E"/>
          </a:solidFill>
          <a:ln/>
        </p:spPr>
      </p:sp>
      <p:sp>
        <p:nvSpPr>
          <p:cNvPr id="21" name="Text 19"/>
          <p:cNvSpPr/>
          <p:nvPr/>
        </p:nvSpPr>
        <p:spPr>
          <a:xfrm>
            <a:off x="548640" y="384048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إعلانات داخل المتجر</a:t>
            </a:r>
            <a:endParaRPr lang="en-US" sz="1300" dirty="0"/>
          </a:p>
        </p:txBody>
      </p:sp>
      <p:sp>
        <p:nvSpPr>
          <p:cNvPr id="22" name="Text 20"/>
          <p:cNvSpPr/>
          <p:nvPr/>
        </p:nvSpPr>
        <p:spPr>
          <a:xfrm>
            <a:off x="548640" y="443484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راعي قسم / بنر في Hub / منتج مموّل — بدون إزعاج واجهة الباحث إن بقيت محدودة.</a:t>
            </a:r>
            <a:endParaRPr lang="en-US" sz="1200" dirty="0"/>
          </a:p>
        </p:txBody>
      </p:sp>
      <p:sp>
        <p:nvSpPr>
          <p:cNvPr id="23" name="Shape 21"/>
          <p:cNvSpPr/>
          <p:nvPr/>
        </p:nvSpPr>
        <p:spPr>
          <a:xfrm>
            <a:off x="4206240" y="3657600"/>
            <a:ext cx="3611880" cy="2011680"/>
          </a:xfrm>
          <a:prstGeom prst="roundRect">
            <a:avLst>
              <a:gd name="adj" fmla="val 4545"/>
            </a:avLst>
          </a:prstGeom>
          <a:solidFill>
            <a:srgbClr val="FFFFFF"/>
          </a:solidFill>
          <a:ln w="12700">
            <a:solidFill>
              <a:srgbClr val="D6D3D1"/>
            </a:solidFill>
            <a:prstDash val="solid"/>
          </a:ln>
        </p:spPr>
      </p:sp>
      <p:sp>
        <p:nvSpPr>
          <p:cNvPr id="24" name="Shape 22"/>
          <p:cNvSpPr/>
          <p:nvPr/>
        </p:nvSpPr>
        <p:spPr>
          <a:xfrm>
            <a:off x="7726680" y="3657600"/>
            <a:ext cx="91440" cy="2011680"/>
          </a:xfrm>
          <a:prstGeom prst="rect">
            <a:avLst/>
          </a:prstGeom>
          <a:solidFill>
            <a:srgbClr val="0F766E"/>
          </a:solidFill>
          <a:ln/>
        </p:spPr>
      </p:sp>
      <p:sp>
        <p:nvSpPr>
          <p:cNvPr id="25" name="Text 23"/>
          <p:cNvSpPr/>
          <p:nvPr/>
        </p:nvSpPr>
        <p:spPr>
          <a:xfrm>
            <a:off x="4343400" y="384048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باقة مختبر / جامعة (B2B)</a:t>
            </a:r>
            <a:endParaRPr lang="en-US" sz="1300" dirty="0"/>
          </a:p>
        </p:txBody>
      </p:sp>
      <p:sp>
        <p:nvSpPr>
          <p:cNvPr id="26" name="Text 24"/>
          <p:cNvSpPr/>
          <p:nvPr/>
        </p:nvSpPr>
        <p:spPr>
          <a:xfrm>
            <a:off x="4343400" y="443484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عقد سنوي لمشتريات متكررة + فاتورة مجمّعة — أعلى قيمة متوسط الطلب (AOV).</a:t>
            </a:r>
            <a:endParaRPr lang="en-US" sz="1200" dirty="0"/>
          </a:p>
        </p:txBody>
      </p:sp>
      <p:sp>
        <p:nvSpPr>
          <p:cNvPr id="27" name="Shape 25"/>
          <p:cNvSpPr/>
          <p:nvPr/>
        </p:nvSpPr>
        <p:spPr>
          <a:xfrm>
            <a:off x="8001000" y="3657600"/>
            <a:ext cx="3611880" cy="2011680"/>
          </a:xfrm>
          <a:prstGeom prst="roundRect">
            <a:avLst>
              <a:gd name="adj" fmla="val 4545"/>
            </a:avLst>
          </a:prstGeom>
          <a:solidFill>
            <a:srgbClr val="FFFFFF"/>
          </a:solidFill>
          <a:ln w="12700">
            <a:solidFill>
              <a:srgbClr val="D6D3D1"/>
            </a:solidFill>
            <a:prstDash val="solid"/>
          </a:ln>
        </p:spPr>
      </p:sp>
      <p:sp>
        <p:nvSpPr>
          <p:cNvPr id="28" name="Shape 26"/>
          <p:cNvSpPr/>
          <p:nvPr/>
        </p:nvSpPr>
        <p:spPr>
          <a:xfrm>
            <a:off x="11521440" y="3657600"/>
            <a:ext cx="91440" cy="2011680"/>
          </a:xfrm>
          <a:prstGeom prst="rect">
            <a:avLst/>
          </a:prstGeom>
          <a:solidFill>
            <a:srgbClr val="0F766E"/>
          </a:solidFill>
          <a:ln/>
        </p:spPr>
      </p:sp>
      <p:sp>
        <p:nvSpPr>
          <p:cNvPr id="29" name="Text 27"/>
          <p:cNvSpPr/>
          <p:nvPr/>
        </p:nvSpPr>
        <p:spPr>
          <a:xfrm>
            <a:off x="8138160" y="384048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تجربة شراكة مبكرة</a:t>
            </a:r>
            <a:endParaRPr lang="en-US" sz="1300" dirty="0"/>
          </a:p>
        </p:txBody>
      </p:sp>
      <p:sp>
        <p:nvSpPr>
          <p:cNvPr id="30" name="Text 28"/>
          <p:cNvSpPr/>
          <p:nvPr/>
        </p:nvSpPr>
        <p:spPr>
          <a:xfrm>
            <a:off x="8138160" y="443484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٣ أشهر عمولة مخفّضة (مثلاً ٥٪) لأول ١٠ موردين — ثم العودة للشريحة المعيارية.</a:t>
            </a:r>
            <a:endParaRPr lang="en-US" sz="1200" dirty="0"/>
          </a:p>
        </p:txBody>
      </p:sp>
      <p:sp>
        <p:nvSpPr>
          <p:cNvPr id="31" name="Shape 29"/>
          <p:cNvSpPr/>
          <p:nvPr/>
        </p:nvSpPr>
        <p:spPr>
          <a:xfrm>
            <a:off x="0" y="6510528"/>
            <a:ext cx="12191695" cy="347472"/>
          </a:xfrm>
          <a:prstGeom prst="rect">
            <a:avLst/>
          </a:prstGeom>
          <a:solidFill>
            <a:srgbClr val="F8F5F0"/>
          </a:solidFill>
          <a:ln/>
        </p:spPr>
      </p:sp>
      <p:sp>
        <p:nvSpPr>
          <p:cNvPr id="32" name="Text 30"/>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3" name="Text 31"/>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13 / 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١٠ — أشياء يجب أن تكون على علم بها</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Shape 4"/>
          <p:cNvSpPr/>
          <p:nvPr/>
        </p:nvSpPr>
        <p:spPr>
          <a:xfrm>
            <a:off x="411480" y="1188720"/>
            <a:ext cx="3611880" cy="2103120"/>
          </a:xfrm>
          <a:prstGeom prst="roundRect">
            <a:avLst>
              <a:gd name="adj" fmla="val 4348"/>
            </a:avLst>
          </a:prstGeom>
          <a:solidFill>
            <a:srgbClr val="FFFFFF"/>
          </a:solidFill>
          <a:ln w="12700">
            <a:solidFill>
              <a:srgbClr val="D6D3D1"/>
            </a:solidFill>
            <a:prstDash val="solid"/>
          </a:ln>
        </p:spPr>
      </p:sp>
      <p:sp>
        <p:nvSpPr>
          <p:cNvPr id="7" name="Shape 5"/>
          <p:cNvSpPr/>
          <p:nvPr/>
        </p:nvSpPr>
        <p:spPr>
          <a:xfrm>
            <a:off x="3931920" y="1188720"/>
            <a:ext cx="91440" cy="2103120"/>
          </a:xfrm>
          <a:prstGeom prst="rect">
            <a:avLst/>
          </a:prstGeom>
          <a:solidFill>
            <a:srgbClr val="0B1F4D"/>
          </a:solidFill>
          <a:ln/>
        </p:spPr>
      </p:sp>
      <p:sp>
        <p:nvSpPr>
          <p:cNvPr id="8" name="Text 6"/>
          <p:cNvSpPr/>
          <p:nvPr/>
        </p:nvSpPr>
        <p:spPr>
          <a:xfrm>
            <a:off x="594360" y="150876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جمهور عربي وأكاديمي</a:t>
            </a:r>
            <a:endParaRPr lang="en-US" sz="1500" dirty="0"/>
          </a:p>
        </p:txBody>
      </p:sp>
      <p:sp>
        <p:nvSpPr>
          <p:cNvPr id="9" name="Text 7"/>
          <p:cNvSpPr/>
          <p:nvPr/>
        </p:nvSpPr>
        <p:spPr>
          <a:xfrm>
            <a:off x="594360" y="224028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واجهة RTL · أسعار بالجنيه · تواصل سريع</a:t>
            </a:r>
            <a:endParaRPr lang="en-US" sz="1300" dirty="0"/>
          </a:p>
        </p:txBody>
      </p:sp>
      <p:sp>
        <p:nvSpPr>
          <p:cNvPr id="10" name="Shape 8"/>
          <p:cNvSpPr/>
          <p:nvPr/>
        </p:nvSpPr>
        <p:spPr>
          <a:xfrm>
            <a:off x="4206240" y="1188720"/>
            <a:ext cx="3611880" cy="2103120"/>
          </a:xfrm>
          <a:prstGeom prst="roundRect">
            <a:avLst>
              <a:gd name="adj" fmla="val 4348"/>
            </a:avLst>
          </a:prstGeom>
          <a:solidFill>
            <a:srgbClr val="FFFFFF"/>
          </a:solidFill>
          <a:ln w="12700">
            <a:solidFill>
              <a:srgbClr val="D6D3D1"/>
            </a:solidFill>
            <a:prstDash val="solid"/>
          </a:ln>
        </p:spPr>
      </p:sp>
      <p:sp>
        <p:nvSpPr>
          <p:cNvPr id="11" name="Shape 9"/>
          <p:cNvSpPr/>
          <p:nvPr/>
        </p:nvSpPr>
        <p:spPr>
          <a:xfrm>
            <a:off x="7726680" y="1188720"/>
            <a:ext cx="91440" cy="2103120"/>
          </a:xfrm>
          <a:prstGeom prst="rect">
            <a:avLst/>
          </a:prstGeom>
          <a:solidFill>
            <a:srgbClr val="0B1F4D"/>
          </a:solidFill>
          <a:ln/>
        </p:spPr>
      </p:sp>
      <p:sp>
        <p:nvSpPr>
          <p:cNvPr id="12" name="Text 10"/>
          <p:cNvSpPr/>
          <p:nvPr/>
        </p:nvSpPr>
        <p:spPr>
          <a:xfrm>
            <a:off x="4389120" y="150876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الجودة قبل الكمية</a:t>
            </a:r>
            <a:endParaRPr lang="en-US" sz="1500" dirty="0"/>
          </a:p>
        </p:txBody>
      </p:sp>
      <p:sp>
        <p:nvSpPr>
          <p:cNvPr id="13" name="Text 11"/>
          <p:cNvSpPr/>
          <p:nvPr/>
        </p:nvSpPr>
        <p:spPr>
          <a:xfrm>
            <a:off x="4389120" y="224028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المراجعة فلتر يحمي سمعة الجميع</a:t>
            </a:r>
            <a:endParaRPr lang="en-US" sz="1300" dirty="0"/>
          </a:p>
        </p:txBody>
      </p:sp>
      <p:sp>
        <p:nvSpPr>
          <p:cNvPr id="14" name="Shape 12"/>
          <p:cNvSpPr/>
          <p:nvPr/>
        </p:nvSpPr>
        <p:spPr>
          <a:xfrm>
            <a:off x="8001000" y="1188720"/>
            <a:ext cx="3611880" cy="2103120"/>
          </a:xfrm>
          <a:prstGeom prst="roundRect">
            <a:avLst>
              <a:gd name="adj" fmla="val 4348"/>
            </a:avLst>
          </a:prstGeom>
          <a:solidFill>
            <a:srgbClr val="FFFFFF"/>
          </a:solidFill>
          <a:ln w="12700">
            <a:solidFill>
              <a:srgbClr val="D6D3D1"/>
            </a:solidFill>
            <a:prstDash val="solid"/>
          </a:ln>
        </p:spPr>
      </p:sp>
      <p:sp>
        <p:nvSpPr>
          <p:cNvPr id="15" name="Shape 13"/>
          <p:cNvSpPr/>
          <p:nvPr/>
        </p:nvSpPr>
        <p:spPr>
          <a:xfrm>
            <a:off x="11521440" y="1188720"/>
            <a:ext cx="91440" cy="2103120"/>
          </a:xfrm>
          <a:prstGeom prst="rect">
            <a:avLst/>
          </a:prstGeom>
          <a:solidFill>
            <a:srgbClr val="0B1F4D"/>
          </a:solidFill>
          <a:ln/>
        </p:spPr>
      </p:sp>
      <p:sp>
        <p:nvSpPr>
          <p:cNvPr id="16" name="Text 14"/>
          <p:cNvSpPr/>
          <p:nvPr/>
        </p:nvSpPr>
        <p:spPr>
          <a:xfrm>
            <a:off x="8183880" y="150876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الدفع الإلكتروني</a:t>
            </a:r>
            <a:endParaRPr lang="en-US" sz="1500" dirty="0"/>
          </a:p>
        </p:txBody>
      </p:sp>
      <p:sp>
        <p:nvSpPr>
          <p:cNvPr id="17" name="Text 15"/>
          <p:cNvSpPr/>
          <p:nvPr/>
        </p:nvSpPr>
        <p:spPr>
          <a:xfrm>
            <a:off x="8183880" y="224028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يدوي الآن · Paymob جاهز للتفعيل</a:t>
            </a:r>
            <a:endParaRPr lang="en-US" sz="1300" dirty="0"/>
          </a:p>
        </p:txBody>
      </p:sp>
      <p:sp>
        <p:nvSpPr>
          <p:cNvPr id="18" name="Shape 16"/>
          <p:cNvSpPr/>
          <p:nvPr/>
        </p:nvSpPr>
        <p:spPr>
          <a:xfrm>
            <a:off x="411480" y="3520440"/>
            <a:ext cx="3611880" cy="2103120"/>
          </a:xfrm>
          <a:prstGeom prst="roundRect">
            <a:avLst>
              <a:gd name="adj" fmla="val 4348"/>
            </a:avLst>
          </a:prstGeom>
          <a:solidFill>
            <a:srgbClr val="FFFFFF"/>
          </a:solidFill>
          <a:ln w="12700">
            <a:solidFill>
              <a:srgbClr val="D6D3D1"/>
            </a:solidFill>
            <a:prstDash val="solid"/>
          </a:ln>
        </p:spPr>
      </p:sp>
      <p:sp>
        <p:nvSpPr>
          <p:cNvPr id="19" name="Shape 17"/>
          <p:cNvSpPr/>
          <p:nvPr/>
        </p:nvSpPr>
        <p:spPr>
          <a:xfrm>
            <a:off x="3931920" y="3520440"/>
            <a:ext cx="91440" cy="2103120"/>
          </a:xfrm>
          <a:prstGeom prst="rect">
            <a:avLst/>
          </a:prstGeom>
          <a:solidFill>
            <a:srgbClr val="0F766E"/>
          </a:solidFill>
          <a:ln/>
        </p:spPr>
      </p:sp>
      <p:sp>
        <p:nvSpPr>
          <p:cNvPr id="20" name="Text 18"/>
          <p:cNvSpPr/>
          <p:nvPr/>
        </p:nvSpPr>
        <p:spPr>
          <a:xfrm>
            <a:off x="594360" y="384048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دليل أو شراء Escrow</a:t>
            </a:r>
            <a:endParaRPr lang="en-US" sz="1500" dirty="0"/>
          </a:p>
        </p:txBody>
      </p:sp>
      <p:sp>
        <p:nvSpPr>
          <p:cNvPr id="21" name="Text 19"/>
          <p:cNvSpPr/>
          <p:nvPr/>
        </p:nvSpPr>
        <p:spPr>
          <a:xfrm>
            <a:off x="594360" y="457200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أو الاثنان حسب استراتيجيتك</a:t>
            </a:r>
            <a:endParaRPr lang="en-US" sz="1300" dirty="0"/>
          </a:p>
        </p:txBody>
      </p:sp>
      <p:sp>
        <p:nvSpPr>
          <p:cNvPr id="22" name="Shape 20"/>
          <p:cNvSpPr/>
          <p:nvPr/>
        </p:nvSpPr>
        <p:spPr>
          <a:xfrm>
            <a:off x="4206240" y="3520440"/>
            <a:ext cx="3611880" cy="2103120"/>
          </a:xfrm>
          <a:prstGeom prst="roundRect">
            <a:avLst>
              <a:gd name="adj" fmla="val 4348"/>
            </a:avLst>
          </a:prstGeom>
          <a:solidFill>
            <a:srgbClr val="FFFFFF"/>
          </a:solidFill>
          <a:ln w="12700">
            <a:solidFill>
              <a:srgbClr val="D6D3D1"/>
            </a:solidFill>
            <a:prstDash val="solid"/>
          </a:ln>
        </p:spPr>
      </p:sp>
      <p:sp>
        <p:nvSpPr>
          <p:cNvPr id="23" name="Shape 21"/>
          <p:cNvSpPr/>
          <p:nvPr/>
        </p:nvSpPr>
        <p:spPr>
          <a:xfrm>
            <a:off x="7726680" y="3520440"/>
            <a:ext cx="91440" cy="2103120"/>
          </a:xfrm>
          <a:prstGeom prst="rect">
            <a:avLst/>
          </a:prstGeom>
          <a:solidFill>
            <a:srgbClr val="0F766E"/>
          </a:solidFill>
          <a:ln/>
        </p:spPr>
      </p:sp>
      <p:sp>
        <p:nvSpPr>
          <p:cNvPr id="24" name="Text 22"/>
          <p:cNvSpPr/>
          <p:nvPr/>
        </p:nvSpPr>
        <p:spPr>
          <a:xfrm>
            <a:off x="4389120" y="384048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خصوصية وشروط</a:t>
            </a:r>
            <a:endParaRPr lang="en-US" sz="1500" dirty="0"/>
          </a:p>
        </p:txBody>
      </p:sp>
      <p:sp>
        <p:nvSpPr>
          <p:cNvPr id="25" name="Text 23"/>
          <p:cNvSpPr/>
          <p:nvPr/>
        </p:nvSpPr>
        <p:spPr>
          <a:xfrm>
            <a:off x="4389120" y="457200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موافقة عند التسجيل · صفحات قانونية محدّثة</a:t>
            </a:r>
            <a:endParaRPr lang="en-US" sz="1300" dirty="0"/>
          </a:p>
        </p:txBody>
      </p:sp>
      <p:sp>
        <p:nvSpPr>
          <p:cNvPr id="26" name="Shape 24"/>
          <p:cNvSpPr/>
          <p:nvPr/>
        </p:nvSpPr>
        <p:spPr>
          <a:xfrm>
            <a:off x="8001000" y="3520440"/>
            <a:ext cx="3611880" cy="2103120"/>
          </a:xfrm>
          <a:prstGeom prst="roundRect">
            <a:avLst>
              <a:gd name="adj" fmla="val 4348"/>
            </a:avLst>
          </a:prstGeom>
          <a:solidFill>
            <a:srgbClr val="FFFFFF"/>
          </a:solidFill>
          <a:ln w="12700">
            <a:solidFill>
              <a:srgbClr val="D6D3D1"/>
            </a:solidFill>
            <a:prstDash val="solid"/>
          </a:ln>
        </p:spPr>
      </p:sp>
      <p:sp>
        <p:nvSpPr>
          <p:cNvPr id="27" name="Shape 25"/>
          <p:cNvSpPr/>
          <p:nvPr/>
        </p:nvSpPr>
        <p:spPr>
          <a:xfrm>
            <a:off x="11521440" y="3520440"/>
            <a:ext cx="91440" cy="2103120"/>
          </a:xfrm>
          <a:prstGeom prst="rect">
            <a:avLst/>
          </a:prstGeom>
          <a:solidFill>
            <a:srgbClr val="0F766E"/>
          </a:solidFill>
          <a:ln/>
        </p:spPr>
      </p:sp>
      <p:sp>
        <p:nvSpPr>
          <p:cNvPr id="28" name="Text 26"/>
          <p:cNvSpPr/>
          <p:nvPr/>
        </p:nvSpPr>
        <p:spPr>
          <a:xfrm>
            <a:off x="8183880" y="384048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ملكية البيانات</a:t>
            </a:r>
            <a:endParaRPr lang="en-US" sz="1500" dirty="0"/>
          </a:p>
        </p:txBody>
      </p:sp>
      <p:sp>
        <p:nvSpPr>
          <p:cNvPr id="29" name="Text 27"/>
          <p:cNvSpPr/>
          <p:nvPr/>
        </p:nvSpPr>
        <p:spPr>
          <a:xfrm>
            <a:off x="8183880" y="457200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كتالوجك يبقى لك — نحن قناة توزيع</a:t>
            </a:r>
            <a:endParaRPr lang="en-US" sz="1300" dirty="0"/>
          </a:p>
        </p:txBody>
      </p:sp>
      <p:sp>
        <p:nvSpPr>
          <p:cNvPr id="30" name="Shape 28"/>
          <p:cNvSpPr/>
          <p:nvPr/>
        </p:nvSpPr>
        <p:spPr>
          <a:xfrm>
            <a:off x="0" y="6510528"/>
            <a:ext cx="12191695" cy="347472"/>
          </a:xfrm>
          <a:prstGeom prst="rect">
            <a:avLst/>
          </a:prstGeom>
          <a:solidFill>
            <a:srgbClr val="F8F5F0"/>
          </a:solidFill>
          <a:ln/>
        </p:spPr>
      </p:sp>
      <p:sp>
        <p:nvSpPr>
          <p:cNvPr id="31" name="Text 29"/>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32" name="Text 30"/>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14 / 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١١ — لماذا الآن؟ وخطوات البدء</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Shape 4"/>
          <p:cNvSpPr/>
          <p:nvPr/>
        </p:nvSpPr>
        <p:spPr>
          <a:xfrm>
            <a:off x="411480" y="1143000"/>
            <a:ext cx="11368735" cy="685800"/>
          </a:xfrm>
          <a:prstGeom prst="roundRect">
            <a:avLst>
              <a:gd name="adj" fmla="val 13333"/>
            </a:avLst>
          </a:prstGeom>
          <a:solidFill>
            <a:srgbClr val="FFFFFF"/>
          </a:solidFill>
          <a:ln w="12700">
            <a:solidFill>
              <a:srgbClr val="D6D3D1"/>
            </a:solidFill>
            <a:prstDash val="solid"/>
          </a:ln>
        </p:spPr>
      </p:sp>
      <p:sp>
        <p:nvSpPr>
          <p:cNvPr id="7" name="Text 5"/>
          <p:cNvSpPr/>
          <p:nvPr/>
        </p:nvSpPr>
        <p:spPr>
          <a:xfrm>
            <a:off x="640080" y="128016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1. ميزة الرائد — أول الموردين يبنون سمعة وكتالوجاً يظهر أولاً</a:t>
            </a:r>
            <a:endParaRPr lang="en-US" sz="1400" dirty="0"/>
          </a:p>
        </p:txBody>
      </p:sp>
      <p:sp>
        <p:nvSpPr>
          <p:cNvPr id="8" name="Shape 6"/>
          <p:cNvSpPr/>
          <p:nvPr/>
        </p:nvSpPr>
        <p:spPr>
          <a:xfrm>
            <a:off x="411480" y="1920240"/>
            <a:ext cx="11368735" cy="685800"/>
          </a:xfrm>
          <a:prstGeom prst="roundRect">
            <a:avLst>
              <a:gd name="adj" fmla="val 13333"/>
            </a:avLst>
          </a:prstGeom>
          <a:solidFill>
            <a:srgbClr val="EEF6F5"/>
          </a:solidFill>
          <a:ln w="12700">
            <a:solidFill>
              <a:srgbClr val="CCFBF1"/>
            </a:solidFill>
            <a:prstDash val="solid"/>
          </a:ln>
        </p:spPr>
      </p:sp>
      <p:sp>
        <p:nvSpPr>
          <p:cNvPr id="9" name="Text 7"/>
          <p:cNvSpPr/>
          <p:nvPr/>
        </p:nvSpPr>
        <p:spPr>
          <a:xfrm>
            <a:off x="640080" y="205740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2. المتجر صار جاهزاً أكثر — Hub · عربة · RFQ · متاجر موردين — أقل احتكاكاً للمشتري</a:t>
            </a:r>
            <a:endParaRPr lang="en-US" sz="1400" dirty="0"/>
          </a:p>
        </p:txBody>
      </p:sp>
      <p:sp>
        <p:nvSpPr>
          <p:cNvPr id="10" name="Shape 8"/>
          <p:cNvSpPr/>
          <p:nvPr/>
        </p:nvSpPr>
        <p:spPr>
          <a:xfrm>
            <a:off x="411480" y="2697480"/>
            <a:ext cx="11368735" cy="685800"/>
          </a:xfrm>
          <a:prstGeom prst="roundRect">
            <a:avLst>
              <a:gd name="adj" fmla="val 13333"/>
            </a:avLst>
          </a:prstGeom>
          <a:solidFill>
            <a:srgbClr val="FFFFFF"/>
          </a:solidFill>
          <a:ln w="12700">
            <a:solidFill>
              <a:srgbClr val="D6D3D1"/>
            </a:solidFill>
            <a:prstDash val="solid"/>
          </a:ln>
        </p:spPr>
      </p:sp>
      <p:sp>
        <p:nvSpPr>
          <p:cNvPr id="11" name="Text 9"/>
          <p:cNvSpPr/>
          <p:nvPr/>
        </p:nvSpPr>
        <p:spPr>
          <a:xfrm>
            <a:off x="640080" y="283464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3. تأثير الشبكة — كل باحث جديد يرى متجرك ضمن رحلته</a:t>
            </a:r>
            <a:endParaRPr lang="en-US" sz="1400" dirty="0"/>
          </a:p>
        </p:txBody>
      </p:sp>
      <p:sp>
        <p:nvSpPr>
          <p:cNvPr id="12" name="Shape 10"/>
          <p:cNvSpPr/>
          <p:nvPr/>
        </p:nvSpPr>
        <p:spPr>
          <a:xfrm>
            <a:off x="411480" y="3474720"/>
            <a:ext cx="11368735" cy="685800"/>
          </a:xfrm>
          <a:prstGeom prst="roundRect">
            <a:avLst>
              <a:gd name="adj" fmla="val 13333"/>
            </a:avLst>
          </a:prstGeom>
          <a:solidFill>
            <a:srgbClr val="EEF6F5"/>
          </a:solidFill>
          <a:ln w="12700">
            <a:solidFill>
              <a:srgbClr val="CCFBF1"/>
            </a:solidFill>
            <a:prstDash val="solid"/>
          </a:ln>
        </p:spPr>
      </p:sp>
      <p:sp>
        <p:nvSpPr>
          <p:cNvPr id="13" name="Text 11"/>
          <p:cNvSpPr/>
          <p:nvPr/>
        </p:nvSpPr>
        <p:spPr>
          <a:xfrm>
            <a:off x="640080" y="361188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4. مرونة التجربة — ابدأ بـ ٣–١٠ منتجات عالية الدوران ثم وسّع</a:t>
            </a:r>
            <a:endParaRPr lang="en-US" sz="1400" dirty="0"/>
          </a:p>
        </p:txBody>
      </p:sp>
      <p:sp>
        <p:nvSpPr>
          <p:cNvPr id="14" name="Shape 12"/>
          <p:cNvSpPr/>
          <p:nvPr/>
        </p:nvSpPr>
        <p:spPr>
          <a:xfrm>
            <a:off x="411480" y="4389120"/>
            <a:ext cx="11368735" cy="1554480"/>
          </a:xfrm>
          <a:prstGeom prst="roundRect">
            <a:avLst>
              <a:gd name="adj" fmla="val 5882"/>
            </a:avLst>
          </a:prstGeom>
          <a:solidFill>
            <a:srgbClr val="0B1F4D"/>
          </a:solidFill>
          <a:ln w="12700">
            <a:solidFill>
              <a:srgbClr val="0B1F4D"/>
            </a:solidFill>
            <a:prstDash val="solid"/>
          </a:ln>
        </p:spPr>
      </p:sp>
      <p:sp>
        <p:nvSpPr>
          <p:cNvPr id="15" name="Text 13"/>
          <p:cNvSpPr/>
          <p:nvPr/>
        </p:nvSpPr>
        <p:spPr>
          <a:xfrm>
            <a:off x="685800" y="4572000"/>
            <a:ext cx="10820095" cy="365760"/>
          </a:xfrm>
          <a:prstGeom prst="rect">
            <a:avLst/>
          </a:prstGeom>
          <a:noFill/>
          <a:ln/>
        </p:spPr>
        <p:txBody>
          <a:bodyPr wrap="square" rtlCol="0" anchor="ctr"/>
          <a:lstStyle/>
          <a:p>
            <a:pPr rtl="1" algn="r" indent="0" marL="0">
              <a:buNone/>
            </a:pPr>
            <a:r>
              <a:rPr lang="en-US" sz="1400" b="1" dirty="0">
                <a:solidFill>
                  <a:srgbClr val="FFFFFF"/>
                </a:solidFill>
                <a:latin typeface="Segoe UI" pitchFamily="34" charset="0"/>
                <a:ea typeface="Segoe UI" pitchFamily="34" charset="-122"/>
                <a:cs typeface="Segoe UI" pitchFamily="34" charset="-120"/>
              </a:rPr>
              <a:t>الخطوات: تواصل كشريك → حساب تاجر → ٣–١٠ منتجات → اتفاق قسم وعمولة</a:t>
            </a:r>
            <a:endParaRPr lang="en-US" sz="1400" dirty="0"/>
          </a:p>
        </p:txBody>
      </p:sp>
      <p:sp>
        <p:nvSpPr>
          <p:cNvPr id="16" name="Text 14"/>
          <p:cNvSpPr/>
          <p:nvPr/>
        </p:nvSpPr>
        <p:spPr>
          <a:xfrm>
            <a:off x="685800" y="4983480"/>
            <a:ext cx="10820095" cy="320040"/>
          </a:xfrm>
          <a:prstGeom prst="rect">
            <a:avLst/>
          </a:prstGeom>
          <a:noFill/>
          <a:ln/>
        </p:spPr>
        <p:txBody>
          <a:bodyPr wrap="square" rtlCol="0" anchor="ctr"/>
          <a:lstStyle/>
          <a:p>
            <a:pPr rtl="1" algn="r" indent="0" marL="0">
              <a:buNone/>
            </a:pPr>
            <a:r>
              <a:rPr lang="en-US" sz="1300" b="1" dirty="0">
                <a:solidFill>
                  <a:srgbClr val="FBBF24"/>
                </a:solidFill>
                <a:latin typeface="Segoe UI" pitchFamily="34" charset="0"/>
                <a:ea typeface="Segoe UI" pitchFamily="34" charset="-122"/>
                <a:cs typeface="Segoe UI" pitchFamily="34" charset="-120"/>
              </a:rPr>
              <a:t>المنصة: https://acadegate-new.web.app   ·   التسجيل: https://acadegate-new.web.app/register</a:t>
            </a:r>
            <a:endParaRPr lang="en-US" sz="1300" dirty="0"/>
          </a:p>
        </p:txBody>
      </p:sp>
      <p:sp>
        <p:nvSpPr>
          <p:cNvPr id="17" name="Text 15"/>
          <p:cNvSpPr/>
          <p:nvPr/>
        </p:nvSpPr>
        <p:spPr>
          <a:xfrm>
            <a:off x="685800" y="5349240"/>
            <a:ext cx="10820095" cy="320040"/>
          </a:xfrm>
          <a:prstGeom prst="rect">
            <a:avLst/>
          </a:prstGeom>
          <a:noFill/>
          <a:ln/>
        </p:spPr>
        <p:txBody>
          <a:bodyPr wrap="square" rtlCol="0" anchor="ctr"/>
          <a:lstStyle/>
          <a:p>
            <a:pPr rtl="1" algn="r" indent="0" marL="0">
              <a:buNone/>
            </a:pPr>
            <a:r>
              <a:rPr lang="en-US" sz="1200" dirty="0">
                <a:solidFill>
                  <a:srgbClr val="E2E8F0"/>
                </a:solidFill>
                <a:latin typeface="Segoe UI" pitchFamily="34" charset="0"/>
                <a:ea typeface="Segoe UI" pitchFamily="34" charset="-122"/>
                <a:cs typeface="Segoe UI" pitchFamily="34" charset="-120"/>
              </a:rPr>
              <a:t>بريد: acadegate@gmail.com   ·   بديل واتساب: https://acadegate-new.firebaseapp.com</a:t>
            </a:r>
            <a:endParaRPr lang="en-US" sz="1200" dirty="0"/>
          </a:p>
        </p:txBody>
      </p:sp>
      <p:sp>
        <p:nvSpPr>
          <p:cNvPr id="18" name="Shape 16"/>
          <p:cNvSpPr/>
          <p:nvPr/>
        </p:nvSpPr>
        <p:spPr>
          <a:xfrm>
            <a:off x="0" y="6510528"/>
            <a:ext cx="12191695" cy="347472"/>
          </a:xfrm>
          <a:prstGeom prst="rect">
            <a:avLst/>
          </a:prstGeom>
          <a:solidFill>
            <a:srgbClr val="F8F5F0"/>
          </a:solidFill>
          <a:ln/>
        </p:spPr>
      </p:sp>
      <p:sp>
        <p:nvSpPr>
          <p:cNvPr id="19" name="Text 17"/>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20" name="Text 18"/>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ملحق — ملخص تنفيذي لصفحة واحدة</a:t>
            </a:r>
            <a:endParaRPr lang="en-US" sz="2400" dirty="0"/>
          </a:p>
        </p:txBody>
      </p:sp>
      <p:sp>
        <p:nvSpPr>
          <p:cNvPr id="5" name="Shape 3"/>
          <p:cNvSpPr/>
          <p:nvPr/>
        </p:nvSpPr>
        <p:spPr>
          <a:xfrm>
            <a:off x="411480" y="822960"/>
            <a:ext cx="11368735" cy="32004"/>
          </a:xfrm>
          <a:prstGeom prst="rect">
            <a:avLst/>
          </a:prstGeom>
          <a:solidFill>
            <a:srgbClr val="0F766E"/>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68735" cy="914400"/>
        </p:xfrm>
        <a:graphic>
          <a:graphicData uri="http://schemas.openxmlformats.org/drawingml/2006/table">
            <a:tbl>
              <a:tblPr/>
              <a:tblGrid>
                <a:gridCol w="3200400"/>
                <a:gridCol w="8214055"/>
              </a:tblGrid>
              <a:tr h="0">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البند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المحتوى</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فكرة المنصة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رحلة دراسات عليا متكاملة — المتجر نقطة التنفيذ المادي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عرض المورد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قناة بيع أكاديمية + Escrow + Hub + عربة + RFQ</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الأقسام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١٥ قسماً متخصصاً</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الدور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merchant (تاجر)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الظهور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بعد موافقة الإدارة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الدفع</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تحويل يدوي الآن · Paymob جاهز</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إيراد أساسي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عمولة ٥–١٥٪ على طلب ناجح (بالاتفاق)</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إيرادات مقترحة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اشتراك مميّز · RFQ · إعلان · B2B · عمولة متدرجة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الخطوة التالية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حساب تجريبي + كتالوج صغير + اجتماع تشغيل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المنصة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https://acadegate-new.web.app</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التسجيل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https://acadegate-new.web.app/register</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bl>
          </a:graphicData>
        </a:graphic>
      </p:graphicFrame>
      <p:sp>
        <p:nvSpPr>
          <p:cNvPr id="7" name="Text 4"/>
          <p:cNvSpPr/>
          <p:nvPr/>
        </p:nvSpPr>
        <p:spPr>
          <a:xfrm>
            <a:off x="411480" y="5989320"/>
            <a:ext cx="11368735" cy="365760"/>
          </a:xfrm>
          <a:prstGeom prst="rect">
            <a:avLst/>
          </a:prstGeom>
          <a:noFill/>
          <a:ln/>
        </p:spPr>
        <p:txBody>
          <a:bodyPr wrap="square" rtlCol="0" anchor="ctr"/>
          <a:lstStyle/>
          <a:p>
            <a:pPr rtl="1" algn="r" indent="0" marL="0">
              <a:buNone/>
            </a:pPr>
            <a:r>
              <a:rPr lang="en-US" sz="1100" dirty="0">
                <a:solidFill>
                  <a:srgbClr val="475569"/>
                </a:solidFill>
                <a:latin typeface="Segoe UI" pitchFamily="34" charset="0"/>
                <a:ea typeface="Segoe UI" pitchFamily="34" charset="-122"/>
                <a:cs typeface="Segoe UI" pitchFamily="34" charset="-120"/>
              </a:rPr>
              <a:t>مبني على وظائف التطبيق الفعلية. الأرقام قابلة للتفاوض. أعِد التوليد: npm run pitch:suppliers</a:t>
            </a:r>
            <a:endParaRPr lang="en-US" sz="1100" dirty="0"/>
          </a:p>
        </p:txBody>
      </p:sp>
      <p:sp>
        <p:nvSpPr>
          <p:cNvPr id="8" name="Shape 5"/>
          <p:cNvSpPr/>
          <p:nvPr/>
        </p:nvSpPr>
        <p:spPr>
          <a:xfrm>
            <a:off x="0" y="6510528"/>
            <a:ext cx="12191695" cy="347472"/>
          </a:xfrm>
          <a:prstGeom prst="rect">
            <a:avLst/>
          </a:prstGeom>
          <a:solidFill>
            <a:srgbClr val="F8F5F0"/>
          </a:solidFill>
          <a:ln/>
        </p:spPr>
      </p:sp>
      <p:sp>
        <p:nvSpPr>
          <p:cNvPr id="9" name="Text 6"/>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آب 2026</a:t>
            </a:r>
            <a:endParaRPr lang="en-US" sz="1000" dirty="0"/>
          </a:p>
        </p:txBody>
      </p:sp>
      <p:sp>
        <p:nvSpPr>
          <p:cNvPr id="10" name="Text 7"/>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AcadeGate — عرض الشراكة للموردين والتجار</dc:title>
  <dc:subject>عرض شراكة المتجر الأكاديمي · محدّث</dc:subject>
  <dc:creator>AcadeGate</dc:creator>
  <cp:lastModifiedBy>AcadeGate</cp:lastModifiedBy>
  <cp:revision>1</cp:revision>
  <dcterms:created xsi:type="dcterms:W3CDTF">2026-09-13T20:54:39Z</dcterms:created>
  <dcterms:modified xsi:type="dcterms:W3CDTF">2026-09-13T20:54:39Z</dcterms:modified>
</cp:coreProperties>
</file>