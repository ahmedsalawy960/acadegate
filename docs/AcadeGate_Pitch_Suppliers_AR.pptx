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433"/>
          </a:solidFill>
          <a:ln/>
        </p:spPr>
      </p:sp>
      <p:sp>
        <p:nvSpPr>
          <p:cNvPr id="3" name="Shape 1"/>
          <p:cNvSpPr/>
          <p:nvPr/>
        </p:nvSpPr>
        <p:spPr>
          <a:xfrm>
            <a:off x="-1371600" y="-1097280"/>
            <a:ext cx="5486400" cy="5486400"/>
          </a:xfrm>
          <a:prstGeom prst="ellipse">
            <a:avLst/>
          </a:prstGeom>
          <a:solidFill>
            <a:srgbClr val="0F766E">
              <a:alpha val="30000"/>
            </a:srgbClr>
          </a:solidFill>
          <a:ln/>
        </p:spPr>
      </p:sp>
      <p:sp>
        <p:nvSpPr>
          <p:cNvPr id="4" name="Shape 2"/>
          <p:cNvSpPr/>
          <p:nvPr/>
        </p:nvSpPr>
        <p:spPr>
          <a:xfrm>
            <a:off x="8229600" y="-731520"/>
            <a:ext cx="4572000" cy="3657600"/>
          </a:xfrm>
          <a:prstGeom prst="ellipse">
            <a:avLst/>
          </a:prstGeom>
          <a:solidFill>
            <a:srgbClr val="B45309">
              <a:alpha val="22000"/>
            </a:srgbClr>
          </a:solidFill>
          <a:ln/>
        </p:spPr>
      </p:sp>
      <p:sp>
        <p:nvSpPr>
          <p:cNvPr id="5" name="Shape 3"/>
          <p:cNvSpPr/>
          <p:nvPr/>
        </p:nvSpPr>
        <p:spPr>
          <a:xfrm>
            <a:off x="0" y="0"/>
            <a:ext cx="12191695" cy="6858000"/>
          </a:xfrm>
          <a:prstGeom prst="rect">
            <a:avLst/>
          </a:prstGeom>
          <a:solidFill>
            <a:srgbClr val="0B1F4D">
              <a:alpha val="65000"/>
            </a:srgbClr>
          </a:solidFill>
          <a:ln/>
        </p:spPr>
      </p:sp>
      <p:pic>
        <p:nvPicPr>
          <p:cNvPr id="6" name="Image 0" descr="D:\NewProject\Assets\images\acadegate_logo_2x.png">    </p:cNvPr>
          <p:cNvPicPr>
            <a:picLocks noChangeAspect="1"/>
          </p:cNvPicPr>
          <p:nvPr/>
        </p:nvPicPr>
        <p:blipFill>
          <a:blip r:embed="rId1"/>
          <a:stretch>
            <a:fillRect/>
          </a:stretch>
        </p:blipFill>
        <p:spPr>
          <a:xfrm>
            <a:off x="10545775" y="365760"/>
            <a:ext cx="1097280" cy="1097280"/>
          </a:xfrm>
          <a:prstGeom prst="rect">
            <a:avLst/>
          </a:prstGeom>
        </p:spPr>
      </p:pic>
      <p:sp>
        <p:nvSpPr>
          <p:cNvPr id="7" name="Text 4"/>
          <p:cNvSpPr/>
          <p:nvPr/>
        </p:nvSpPr>
        <p:spPr>
          <a:xfrm>
            <a:off x="411480" y="1371600"/>
            <a:ext cx="9997135" cy="320040"/>
          </a:xfrm>
          <a:prstGeom prst="rect">
            <a:avLst/>
          </a:prstGeom>
          <a:noFill/>
          <a:ln/>
        </p:spPr>
        <p:txBody>
          <a:bodyPr wrap="square" rtlCol="0" anchor="ctr"/>
          <a:lstStyle/>
          <a:p>
            <a:pPr rtl="1" algn="r" indent="0" marL="0">
              <a:buNone/>
            </a:pPr>
            <a:r>
              <a:rPr lang="en-US" sz="1300" dirty="0">
                <a:solidFill>
                  <a:srgbClr val="CBD5E1"/>
                </a:solidFill>
                <a:latin typeface="Segoe UI" pitchFamily="34" charset="0"/>
                <a:ea typeface="Segoe UI" pitchFamily="34" charset="-122"/>
                <a:cs typeface="Segoe UI" pitchFamily="34" charset="-120"/>
              </a:rPr>
              <a:t>عرض شراكة مخصص · فئة الموردين والتجار · محدّث آب 2026</a:t>
            </a:r>
            <a:endParaRPr lang="en-US" sz="1300" dirty="0"/>
          </a:p>
        </p:txBody>
      </p:sp>
      <p:sp>
        <p:nvSpPr>
          <p:cNvPr id="8" name="Text 5"/>
          <p:cNvSpPr/>
          <p:nvPr/>
        </p:nvSpPr>
        <p:spPr>
          <a:xfrm>
            <a:off x="411480" y="1783080"/>
            <a:ext cx="9997135" cy="777240"/>
          </a:xfrm>
          <a:prstGeom prst="rect">
            <a:avLst/>
          </a:prstGeom>
          <a:noFill/>
          <a:ln/>
        </p:spPr>
        <p:txBody>
          <a:bodyPr wrap="square" rtlCol="0" anchor="ctr"/>
          <a:lstStyle/>
          <a:p>
            <a:pPr rtl="1" algn="r" indent="0" marL="0">
              <a:buNone/>
            </a:pPr>
            <a:r>
              <a:rPr lang="en-US" sz="5200" b="1" dirty="0">
                <a:solidFill>
                  <a:srgbClr val="FFFFFF"/>
                </a:solidFill>
                <a:latin typeface="Segoe UI" pitchFamily="34" charset="0"/>
                <a:ea typeface="Segoe UI" pitchFamily="34" charset="-122"/>
                <a:cs typeface="Segoe UI" pitchFamily="34" charset="-120"/>
              </a:rPr>
              <a:t>AcadeGate</a:t>
            </a:r>
            <a:endParaRPr lang="en-US" sz="5200" dirty="0"/>
          </a:p>
        </p:txBody>
      </p:sp>
      <p:sp>
        <p:nvSpPr>
          <p:cNvPr id="9" name="Text 6"/>
          <p:cNvSpPr/>
          <p:nvPr/>
        </p:nvSpPr>
        <p:spPr>
          <a:xfrm>
            <a:off x="411480" y="2606040"/>
            <a:ext cx="9144000" cy="457200"/>
          </a:xfrm>
          <a:prstGeom prst="rect">
            <a:avLst/>
          </a:prstGeom>
          <a:noFill/>
          <a:ln/>
        </p:spPr>
        <p:txBody>
          <a:bodyPr wrap="square" rtlCol="0" anchor="ctr"/>
          <a:lstStyle/>
          <a:p>
            <a:pPr rtl="1" algn="r" indent="0" marL="0">
              <a:buNone/>
            </a:pPr>
            <a:r>
              <a:rPr lang="en-US" sz="1700" dirty="0">
                <a:solidFill>
                  <a:srgbClr val="E2E8F0"/>
                </a:solidFill>
                <a:latin typeface="Segoe UI" pitchFamily="34" charset="0"/>
                <a:ea typeface="Segoe UI" pitchFamily="34" charset="-122"/>
                <a:cs typeface="Segoe UI" pitchFamily="34" charset="-120"/>
              </a:rPr>
              <a:t>منصة أكاديمية متكاملة — والمتجر هو نقطة التنفيذ المادي لرحلة الباحث</a:t>
            </a:r>
            <a:endParaRPr lang="en-US" sz="1700" dirty="0"/>
          </a:p>
        </p:txBody>
      </p:sp>
      <p:sp>
        <p:nvSpPr>
          <p:cNvPr id="10" name="Shape 7"/>
          <p:cNvSpPr/>
          <p:nvPr/>
        </p:nvSpPr>
        <p:spPr>
          <a:xfrm>
            <a:off x="9144000" y="3200400"/>
            <a:ext cx="73152" cy="1097280"/>
          </a:xfrm>
          <a:prstGeom prst="rect">
            <a:avLst/>
          </a:prstGeom>
          <a:solidFill>
            <a:srgbClr val="FBBF24"/>
          </a:solidFill>
          <a:ln/>
        </p:spPr>
      </p:sp>
      <p:sp>
        <p:nvSpPr>
          <p:cNvPr id="11" name="Text 8"/>
          <p:cNvSpPr/>
          <p:nvPr/>
        </p:nvSpPr>
        <p:spPr>
          <a:xfrm>
            <a:off x="411480" y="3154680"/>
            <a:ext cx="8595360" cy="1188720"/>
          </a:xfrm>
          <a:prstGeom prst="rect">
            <a:avLst/>
          </a:prstGeom>
          <a:noFill/>
          <a:ln/>
        </p:spPr>
        <p:txBody>
          <a:bodyPr wrap="square" rtlCol="0" anchor="ctr"/>
          <a:lstStyle/>
          <a:p>
            <a:pPr rtl="1" algn="r" indent="0" marL="0">
              <a:buNone/>
            </a:pPr>
            <a:r>
              <a:rPr lang="en-US" sz="1400" dirty="0">
                <a:solidFill>
                  <a:srgbClr val="F1F5F9"/>
                </a:solidFill>
                <a:latin typeface="Segoe UI" pitchFamily="34" charset="0"/>
                <a:ea typeface="Segoe UI" pitchFamily="34" charset="-122"/>
                <a:cs typeface="Segoe UI" pitchFamily="34" charset="-120"/>
              </a:rPr>
              <a:t>فكرة التطبيق: نجمع رحلة الدراسات العليا في مكان واحد — من الفكرة والمشرف والمختبر إلى المعدات والكتابة والمجتمع والذكاء الاصطناعي — مع ضمان Escrow يحمي البائع والمشتري.</a:t>
            </a:r>
            <a:endParaRPr lang="en-US" sz="1400" dirty="0"/>
          </a:p>
        </p:txBody>
      </p:sp>
      <p:sp>
        <p:nvSpPr>
          <p:cNvPr id="12" name="Shape 9"/>
          <p:cNvSpPr/>
          <p:nvPr/>
        </p:nvSpPr>
        <p:spPr>
          <a:xfrm>
            <a:off x="8396935" y="4709160"/>
            <a:ext cx="3383280" cy="384048"/>
          </a:xfrm>
          <a:prstGeom prst="roundRect">
            <a:avLst>
              <a:gd name="adj" fmla="val 47619"/>
            </a:avLst>
          </a:prstGeom>
          <a:solidFill>
            <a:srgbClr val="FFFFFF">
              <a:alpha val="12000"/>
            </a:srgbClr>
          </a:solidFill>
          <a:ln w="12700">
            <a:solidFill>
              <a:srgbClr val="FFFFFF">
                <a:alpha val="50000"/>
              </a:srgbClr>
            </a:solidFill>
            <a:prstDash val="solid"/>
          </a:ln>
        </p:spPr>
      </p:sp>
      <p:sp>
        <p:nvSpPr>
          <p:cNvPr id="13" name="Text 10"/>
          <p:cNvSpPr/>
          <p:nvPr/>
        </p:nvSpPr>
        <p:spPr>
          <a:xfrm>
            <a:off x="8396935" y="4727448"/>
            <a:ext cx="3383280" cy="347472"/>
          </a:xfrm>
          <a:prstGeom prst="rect">
            <a:avLst/>
          </a:prstGeom>
          <a:noFill/>
          <a:ln/>
        </p:spPr>
        <p:txBody>
          <a:bodyPr wrap="square" rtlCol="0" anchor="ctr"/>
          <a:lstStyle/>
          <a:p>
            <a:pPr rtl="1" algn="ctr" indent="0" marL="0">
              <a:buNone/>
            </a:pPr>
            <a:r>
              <a:rPr lang="en-US" sz="1100" dirty="0">
                <a:solidFill>
                  <a:srgbClr val="FFFFFF"/>
                </a:solidFill>
                <a:latin typeface="Segoe UI" pitchFamily="34" charset="0"/>
                <a:ea typeface="Segoe UI" pitchFamily="34" charset="-122"/>
                <a:cs typeface="Segoe UI" pitchFamily="34" charset="-120"/>
              </a:rPr>
              <a:t>فكرة المنصة أولاً · ثم عرض المورد</a:t>
            </a:r>
            <a:endParaRPr lang="en-US" sz="1100" dirty="0"/>
          </a:p>
        </p:txBody>
      </p:sp>
      <p:sp>
        <p:nvSpPr>
          <p:cNvPr id="14" name="Shape 11"/>
          <p:cNvSpPr/>
          <p:nvPr/>
        </p:nvSpPr>
        <p:spPr>
          <a:xfrm>
            <a:off x="4903927" y="4709160"/>
            <a:ext cx="3383280" cy="384048"/>
          </a:xfrm>
          <a:prstGeom prst="roundRect">
            <a:avLst>
              <a:gd name="adj" fmla="val 47619"/>
            </a:avLst>
          </a:prstGeom>
          <a:solidFill>
            <a:srgbClr val="FFFFFF">
              <a:alpha val="12000"/>
            </a:srgbClr>
          </a:solidFill>
          <a:ln w="12700">
            <a:solidFill>
              <a:srgbClr val="FFFFFF">
                <a:alpha val="50000"/>
              </a:srgbClr>
            </a:solidFill>
            <a:prstDash val="solid"/>
          </a:ln>
        </p:spPr>
      </p:sp>
      <p:sp>
        <p:nvSpPr>
          <p:cNvPr id="15" name="Text 12"/>
          <p:cNvSpPr/>
          <p:nvPr/>
        </p:nvSpPr>
        <p:spPr>
          <a:xfrm>
            <a:off x="4903927" y="4727448"/>
            <a:ext cx="3383280" cy="347472"/>
          </a:xfrm>
          <a:prstGeom prst="rect">
            <a:avLst/>
          </a:prstGeom>
          <a:noFill/>
          <a:ln/>
        </p:spPr>
        <p:txBody>
          <a:bodyPr wrap="square" rtlCol="0" anchor="ctr"/>
          <a:lstStyle/>
          <a:p>
            <a:pPr rtl="1" algn="ctr" indent="0" marL="0">
              <a:buNone/>
            </a:pPr>
            <a:r>
              <a:rPr lang="en-US" sz="1100" dirty="0">
                <a:solidFill>
                  <a:srgbClr val="FFFFFF"/>
                </a:solidFill>
                <a:latin typeface="Segoe UI" pitchFamily="34" charset="0"/>
                <a:ea typeface="Segoe UI" pitchFamily="34" charset="-122"/>
                <a:cs typeface="Segoe UI" pitchFamily="34" charset="-120"/>
              </a:rPr>
              <a:t>مستجدات المتجر: Hub · عربة · RFQ</a:t>
            </a:r>
            <a:endParaRPr lang="en-US" sz="1100" dirty="0"/>
          </a:p>
        </p:txBody>
      </p:sp>
      <p:sp>
        <p:nvSpPr>
          <p:cNvPr id="16" name="Shape 13"/>
          <p:cNvSpPr/>
          <p:nvPr/>
        </p:nvSpPr>
        <p:spPr>
          <a:xfrm>
            <a:off x="1410919" y="4709160"/>
            <a:ext cx="3383280" cy="384048"/>
          </a:xfrm>
          <a:prstGeom prst="roundRect">
            <a:avLst>
              <a:gd name="adj" fmla="val 47619"/>
            </a:avLst>
          </a:prstGeom>
          <a:solidFill>
            <a:srgbClr val="FFFFFF">
              <a:alpha val="12000"/>
            </a:srgbClr>
          </a:solidFill>
          <a:ln w="12700">
            <a:solidFill>
              <a:srgbClr val="FFFFFF">
                <a:alpha val="50000"/>
              </a:srgbClr>
            </a:solidFill>
            <a:prstDash val="solid"/>
          </a:ln>
        </p:spPr>
      </p:sp>
      <p:sp>
        <p:nvSpPr>
          <p:cNvPr id="17" name="Text 14"/>
          <p:cNvSpPr/>
          <p:nvPr/>
        </p:nvSpPr>
        <p:spPr>
          <a:xfrm>
            <a:off x="1410919" y="4727448"/>
            <a:ext cx="3383280" cy="347472"/>
          </a:xfrm>
          <a:prstGeom prst="rect">
            <a:avLst/>
          </a:prstGeom>
          <a:noFill/>
          <a:ln/>
        </p:spPr>
        <p:txBody>
          <a:bodyPr wrap="square" rtlCol="0" anchor="ctr"/>
          <a:lstStyle/>
          <a:p>
            <a:pPr rtl="1" algn="ctr" indent="0" marL="0">
              <a:buNone/>
            </a:pPr>
            <a:r>
              <a:rPr lang="en-US" sz="1100" dirty="0">
                <a:solidFill>
                  <a:srgbClr val="FFFFFF"/>
                </a:solidFill>
                <a:latin typeface="Segoe UI" pitchFamily="34" charset="0"/>
                <a:ea typeface="Segoe UI" pitchFamily="34" charset="-122"/>
                <a:cs typeface="Segoe UI" pitchFamily="34" charset="-120"/>
              </a:rPr>
              <a:t>نموذج إيرادات متعدد القنوات</a:t>
            </a:r>
            <a:endParaRPr lang="en-US" sz="1100" dirty="0"/>
          </a:p>
        </p:txBody>
      </p:sp>
      <p:pic>
        <p:nvPicPr>
          <p:cNvPr id="18" name="Image 1" descr="D:\NewProject\Assets\images\weekly\services\svc_store_w1.png">    </p:cNvPr>
          <p:cNvPicPr>
            <a:picLocks noChangeAspect="1"/>
          </p:cNvPicPr>
          <p:nvPr/>
        </p:nvPicPr>
        <p:blipFill>
          <a:blip r:embed="rId2"/>
          <a:stretch>
            <a:fillRect/>
          </a:stretch>
        </p:blipFill>
        <p:spPr>
          <a:xfrm>
            <a:off x="411480" y="5303520"/>
            <a:ext cx="1645920" cy="960120"/>
          </a:xfrm>
          <a:prstGeom prst="rect">
            <a:avLst/>
          </a:prstGeom>
        </p:spPr>
      </p:pic>
      <p:pic>
        <p:nvPicPr>
          <p:cNvPr id="19" name="Image 2" descr="D:\NewProject\Assets\images\weekly\features\feat_escrow_w1.png">    </p:cNvPr>
          <p:cNvPicPr>
            <a:picLocks noChangeAspect="1"/>
          </p:cNvPicPr>
          <p:nvPr/>
        </p:nvPicPr>
        <p:blipFill>
          <a:blip r:embed="rId3"/>
          <a:stretch>
            <a:fillRect/>
          </a:stretch>
        </p:blipFill>
        <p:spPr>
          <a:xfrm>
            <a:off x="2240280" y="5303520"/>
            <a:ext cx="1645920" cy="960120"/>
          </a:xfrm>
          <a:prstGeom prst="rect">
            <a:avLst/>
          </a:prstGeom>
        </p:spPr>
      </p:pic>
      <p:sp>
        <p:nvSpPr>
          <p:cNvPr id="20" name="Text 15"/>
          <p:cNvSpPr/>
          <p:nvPr/>
        </p:nvSpPr>
        <p:spPr>
          <a:xfrm>
            <a:off x="4069080" y="5943600"/>
            <a:ext cx="7772400" cy="274320"/>
          </a:xfrm>
          <a:prstGeom prst="rect">
            <a:avLst/>
          </a:prstGeom>
          <a:noFill/>
          <a:ln/>
        </p:spPr>
        <p:txBody>
          <a:bodyPr wrap="square" rtlCol="0" anchor="ctr"/>
          <a:lstStyle/>
          <a:p>
            <a:pPr rtl="1" algn="r" indent="0" marL="0">
              <a:buNone/>
            </a:pPr>
            <a:r>
              <a:rPr lang="en-US" sz="1100" dirty="0">
                <a:solidFill>
                  <a:srgbClr val="94A3B8"/>
                </a:solidFill>
                <a:latin typeface="Segoe UI" pitchFamily="34" charset="0"/>
                <a:ea typeface="Segoe UI" pitchFamily="34" charset="-122"/>
                <a:cs typeface="Segoe UI" pitchFamily="34" charset="-120"/>
              </a:rPr>
              <a:t>وثيقة عرض شراكة · قابلة للمشاركة مع فريق المبيعات</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sp>
      <p:sp>
        <p:nvSpPr>
          <p:cNvPr id="3" name="Shape 1"/>
          <p:cNvSpPr/>
          <p:nvPr/>
        </p:nvSpPr>
        <p:spPr>
          <a:xfrm>
            <a:off x="411480" y="256032"/>
            <a:ext cx="109728" cy="502920"/>
          </a:xfrm>
          <a:prstGeom prst="rect">
            <a:avLst/>
          </a:prstGeom>
          <a:solidFill>
            <a:srgbClr val="0F766E"/>
          </a:solidFill>
          <a:ln/>
        </p:spPr>
      </p:sp>
      <p:sp>
        <p:nvSpPr>
          <p:cNvPr id="4" name="Text 2"/>
          <p:cNvSpPr/>
          <p:nvPr/>
        </p:nvSpPr>
        <p:spPr>
          <a:xfrm>
            <a:off x="612648" y="201168"/>
            <a:ext cx="11167567" cy="566928"/>
          </a:xfrm>
          <a:prstGeom prst="rect">
            <a:avLst/>
          </a:prstGeom>
          <a:noFill/>
          <a:ln/>
        </p:spPr>
        <p:txBody>
          <a:bodyPr wrap="square" rtlCol="0" anchor="ctr"/>
          <a:lstStyle/>
          <a:p>
            <a:pPr rtl="1" algn="r" indent="0" marL="0">
              <a:buNone/>
            </a:pPr>
            <a:r>
              <a:rPr lang="en-US" sz="2400" b="1" dirty="0">
                <a:solidFill>
                  <a:srgbClr val="0B1F4D"/>
                </a:solidFill>
                <a:latin typeface="Segoe UI" pitchFamily="34" charset="0"/>
                <a:ea typeface="Segoe UI" pitchFamily="34" charset="-122"/>
                <a:cs typeface="Segoe UI" pitchFamily="34" charset="-120"/>
              </a:rPr>
              <a:t>ماذا ستجد في هذا العرض؟</a:t>
            </a:r>
            <a:endParaRPr lang="en-US" sz="2400" dirty="0"/>
          </a:p>
        </p:txBody>
      </p:sp>
      <p:sp>
        <p:nvSpPr>
          <p:cNvPr id="5" name="Shape 3"/>
          <p:cNvSpPr/>
          <p:nvPr/>
        </p:nvSpPr>
        <p:spPr>
          <a:xfrm>
            <a:off x="411480" y="822960"/>
            <a:ext cx="11368735" cy="32004"/>
          </a:xfrm>
          <a:prstGeom prst="rect">
            <a:avLst/>
          </a:prstGeom>
          <a:solidFill>
            <a:srgbClr val="0F766E"/>
          </a:solidFill>
          <a:ln/>
        </p:spPr>
      </p:sp>
      <p:sp>
        <p:nvSpPr>
          <p:cNvPr id="6" name="Text 4"/>
          <p:cNvSpPr/>
          <p:nvPr/>
        </p:nvSpPr>
        <p:spPr>
          <a:xfrm>
            <a:off x="411480" y="960120"/>
            <a:ext cx="11368735" cy="457200"/>
          </a:xfrm>
          <a:prstGeom prst="rect">
            <a:avLst/>
          </a:prstGeom>
          <a:noFill/>
          <a:ln/>
        </p:spPr>
        <p:txBody>
          <a:bodyPr wrap="square" rtlCol="0" anchor="ctr"/>
          <a:lstStyle/>
          <a:p>
            <a:pPr rtl="1" algn="r" indent="0" marL="0">
              <a:buNone/>
            </a:pPr>
            <a:r>
              <a:rPr lang="en-US" sz="1300" dirty="0">
                <a:solidFill>
                  <a:srgbClr val="475569"/>
                </a:solidFill>
                <a:latin typeface="Segoe UI" pitchFamily="34" charset="0"/>
                <a:ea typeface="Segoe UI" pitchFamily="34" charset="-122"/>
                <a:cs typeface="Segoe UI" pitchFamily="34" charset="-120"/>
              </a:rPr>
              <a:t>نبدأ بفكرة التطبيق والجمهور — ثم المتجر والمستجدات — ثم الشراكة والإيرادات.</a:t>
            </a:r>
            <a:endParaRPr lang="en-US" sz="1300" dirty="0"/>
          </a:p>
        </p:txBody>
      </p:sp>
      <p:sp>
        <p:nvSpPr>
          <p:cNvPr id="7" name="Shape 5"/>
          <p:cNvSpPr/>
          <p:nvPr/>
        </p:nvSpPr>
        <p:spPr>
          <a:xfrm>
            <a:off x="411480" y="1508760"/>
            <a:ext cx="5394960" cy="713232"/>
          </a:xfrm>
          <a:prstGeom prst="roundRect">
            <a:avLst>
              <a:gd name="adj" fmla="val 12821"/>
            </a:avLst>
          </a:prstGeom>
          <a:solidFill>
            <a:srgbClr val="EEF6F5"/>
          </a:solidFill>
          <a:ln w="12700">
            <a:solidFill>
              <a:srgbClr val="CCFBF1"/>
            </a:solidFill>
            <a:prstDash val="solid"/>
          </a:ln>
        </p:spPr>
      </p:sp>
      <p:sp>
        <p:nvSpPr>
          <p:cNvPr id="8" name="Shape 6"/>
          <p:cNvSpPr/>
          <p:nvPr/>
        </p:nvSpPr>
        <p:spPr>
          <a:xfrm>
            <a:off x="5212080" y="1664208"/>
            <a:ext cx="402336" cy="402336"/>
          </a:xfrm>
          <a:prstGeom prst="ellipse">
            <a:avLst/>
          </a:prstGeom>
          <a:solidFill>
            <a:srgbClr val="0B1F4D"/>
          </a:solidFill>
          <a:ln/>
        </p:spPr>
      </p:sp>
      <p:sp>
        <p:nvSpPr>
          <p:cNvPr id="9" name="Text 7"/>
          <p:cNvSpPr/>
          <p:nvPr/>
        </p:nvSpPr>
        <p:spPr>
          <a:xfrm>
            <a:off x="5212080" y="1664208"/>
            <a:ext cx="402336" cy="402336"/>
          </a:xfrm>
          <a:prstGeom prst="rect">
            <a:avLst/>
          </a:prstGeom>
          <a:noFill/>
          <a:ln/>
        </p:spPr>
        <p:txBody>
          <a:bodyPr wrap="square" rtlCol="0" anchor="ctr"/>
          <a:lstStyle/>
          <a:p>
            <a:pPr algn="ctr" indent="0" marL="0">
              <a:buNone/>
            </a:pPr>
            <a:r>
              <a:rPr lang="en-US" sz="1400" b="1" dirty="0">
                <a:solidFill>
                  <a:srgbClr val="FFFFFF"/>
                </a:solidFill>
                <a:latin typeface="Segoe UI" pitchFamily="34" charset="0"/>
                <a:ea typeface="Segoe UI" pitchFamily="34" charset="-122"/>
                <a:cs typeface="Segoe UI" pitchFamily="34" charset="-120"/>
              </a:rPr>
              <a:t>1</a:t>
            </a:r>
            <a:endParaRPr lang="en-US" sz="1400" dirty="0"/>
          </a:p>
        </p:txBody>
      </p:sp>
      <p:sp>
        <p:nvSpPr>
          <p:cNvPr id="10" name="Text 8"/>
          <p:cNvSpPr/>
          <p:nvPr/>
        </p:nvSpPr>
        <p:spPr>
          <a:xfrm>
            <a:off x="594360" y="1636776"/>
            <a:ext cx="4480560" cy="457200"/>
          </a:xfrm>
          <a:prstGeom prst="rect">
            <a:avLst/>
          </a:prstGeom>
          <a:noFill/>
          <a:ln/>
        </p:spPr>
        <p:txBody>
          <a:bodyPr wrap="square" rtlCol="0" anchor="ctr"/>
          <a:lstStyle/>
          <a:p>
            <a:pPr rtl="1" algn="r" indent="0" marL="0">
              <a:buNone/>
            </a:pPr>
            <a:r>
              <a:rPr lang="en-US" sz="1250" dirty="0">
                <a:solidFill>
                  <a:srgbClr val="0F172A"/>
                </a:solidFill>
                <a:latin typeface="Segoe UI" pitchFamily="34" charset="0"/>
                <a:ea typeface="Segoe UI" pitchFamily="34" charset="-122"/>
                <a:cs typeface="Segoe UI" pitchFamily="34" charset="-120"/>
              </a:rPr>
              <a:t>فكرة AcadeGate ورحلة الباحث (لماذا يوجد متجر أصلاً؟)</a:t>
            </a:r>
            <a:endParaRPr lang="en-US" sz="1250" dirty="0"/>
          </a:p>
        </p:txBody>
      </p:sp>
      <p:sp>
        <p:nvSpPr>
          <p:cNvPr id="11" name="Shape 9"/>
          <p:cNvSpPr/>
          <p:nvPr/>
        </p:nvSpPr>
        <p:spPr>
          <a:xfrm>
            <a:off x="411480" y="2331720"/>
            <a:ext cx="5394960" cy="713232"/>
          </a:xfrm>
          <a:prstGeom prst="roundRect">
            <a:avLst>
              <a:gd name="adj" fmla="val 12821"/>
            </a:avLst>
          </a:prstGeom>
          <a:solidFill>
            <a:srgbClr val="EEF6F5"/>
          </a:solidFill>
          <a:ln w="12700">
            <a:solidFill>
              <a:srgbClr val="CCFBF1"/>
            </a:solidFill>
            <a:prstDash val="solid"/>
          </a:ln>
        </p:spPr>
      </p:sp>
      <p:sp>
        <p:nvSpPr>
          <p:cNvPr id="12" name="Shape 10"/>
          <p:cNvSpPr/>
          <p:nvPr/>
        </p:nvSpPr>
        <p:spPr>
          <a:xfrm>
            <a:off x="5212080" y="2487168"/>
            <a:ext cx="402336" cy="402336"/>
          </a:xfrm>
          <a:prstGeom prst="ellipse">
            <a:avLst/>
          </a:prstGeom>
          <a:solidFill>
            <a:srgbClr val="0B1F4D"/>
          </a:solidFill>
          <a:ln/>
        </p:spPr>
      </p:sp>
      <p:sp>
        <p:nvSpPr>
          <p:cNvPr id="13" name="Text 11"/>
          <p:cNvSpPr/>
          <p:nvPr/>
        </p:nvSpPr>
        <p:spPr>
          <a:xfrm>
            <a:off x="5212080" y="2487168"/>
            <a:ext cx="402336" cy="402336"/>
          </a:xfrm>
          <a:prstGeom prst="rect">
            <a:avLst/>
          </a:prstGeom>
          <a:noFill/>
          <a:ln/>
        </p:spPr>
        <p:txBody>
          <a:bodyPr wrap="square" rtlCol="0" anchor="ctr"/>
          <a:lstStyle/>
          <a:p>
            <a:pPr algn="ctr" indent="0" marL="0">
              <a:buNone/>
            </a:pPr>
            <a:r>
              <a:rPr lang="en-US" sz="1400" b="1" dirty="0">
                <a:solidFill>
                  <a:srgbClr val="FFFFFF"/>
                </a:solidFill>
                <a:latin typeface="Segoe UI" pitchFamily="34" charset="0"/>
                <a:ea typeface="Segoe UI" pitchFamily="34" charset="-122"/>
                <a:cs typeface="Segoe UI" pitchFamily="34" charset="-120"/>
              </a:rPr>
              <a:t>2</a:t>
            </a:r>
            <a:endParaRPr lang="en-US" sz="1400" dirty="0"/>
          </a:p>
        </p:txBody>
      </p:sp>
      <p:sp>
        <p:nvSpPr>
          <p:cNvPr id="14" name="Text 12"/>
          <p:cNvSpPr/>
          <p:nvPr/>
        </p:nvSpPr>
        <p:spPr>
          <a:xfrm>
            <a:off x="594360" y="2459736"/>
            <a:ext cx="4480560" cy="457200"/>
          </a:xfrm>
          <a:prstGeom prst="rect">
            <a:avLst/>
          </a:prstGeom>
          <a:noFill/>
          <a:ln/>
        </p:spPr>
        <p:txBody>
          <a:bodyPr wrap="square" rtlCol="0" anchor="ctr"/>
          <a:lstStyle/>
          <a:p>
            <a:pPr rtl="1" algn="r" indent="0" marL="0">
              <a:buNone/>
            </a:pPr>
            <a:r>
              <a:rPr lang="en-US" sz="1250" dirty="0">
                <a:solidFill>
                  <a:srgbClr val="0F172A"/>
                </a:solidFill>
                <a:latin typeface="Segoe UI" pitchFamily="34" charset="0"/>
                <a:ea typeface="Segoe UI" pitchFamily="34" charset="-122"/>
                <a:cs typeface="Segoe UI" pitchFamily="34" charset="-120"/>
              </a:rPr>
              <a:t>لماذا هذه فرصة للمورد؟</a:t>
            </a:r>
            <a:endParaRPr lang="en-US" sz="1250" dirty="0"/>
          </a:p>
        </p:txBody>
      </p:sp>
      <p:sp>
        <p:nvSpPr>
          <p:cNvPr id="15" name="Shape 13"/>
          <p:cNvSpPr/>
          <p:nvPr/>
        </p:nvSpPr>
        <p:spPr>
          <a:xfrm>
            <a:off x="411480" y="3154680"/>
            <a:ext cx="5394960" cy="713232"/>
          </a:xfrm>
          <a:prstGeom prst="roundRect">
            <a:avLst>
              <a:gd name="adj" fmla="val 12821"/>
            </a:avLst>
          </a:prstGeom>
          <a:solidFill>
            <a:srgbClr val="EEF6F5"/>
          </a:solidFill>
          <a:ln w="12700">
            <a:solidFill>
              <a:srgbClr val="CCFBF1"/>
            </a:solidFill>
            <a:prstDash val="solid"/>
          </a:ln>
        </p:spPr>
      </p:sp>
      <p:sp>
        <p:nvSpPr>
          <p:cNvPr id="16" name="Shape 14"/>
          <p:cNvSpPr/>
          <p:nvPr/>
        </p:nvSpPr>
        <p:spPr>
          <a:xfrm>
            <a:off x="5212080" y="3310128"/>
            <a:ext cx="402336" cy="402336"/>
          </a:xfrm>
          <a:prstGeom prst="ellipse">
            <a:avLst/>
          </a:prstGeom>
          <a:solidFill>
            <a:srgbClr val="0B1F4D"/>
          </a:solidFill>
          <a:ln/>
        </p:spPr>
      </p:sp>
      <p:sp>
        <p:nvSpPr>
          <p:cNvPr id="17" name="Text 15"/>
          <p:cNvSpPr/>
          <p:nvPr/>
        </p:nvSpPr>
        <p:spPr>
          <a:xfrm>
            <a:off x="5212080" y="3310128"/>
            <a:ext cx="402336" cy="402336"/>
          </a:xfrm>
          <a:prstGeom prst="rect">
            <a:avLst/>
          </a:prstGeom>
          <a:noFill/>
          <a:ln/>
        </p:spPr>
        <p:txBody>
          <a:bodyPr wrap="square" rtlCol="0" anchor="ctr"/>
          <a:lstStyle/>
          <a:p>
            <a:pPr algn="ctr" indent="0" marL="0">
              <a:buNone/>
            </a:pPr>
            <a:r>
              <a:rPr lang="en-US" sz="1400" b="1" dirty="0">
                <a:solidFill>
                  <a:srgbClr val="FFFFFF"/>
                </a:solidFill>
                <a:latin typeface="Segoe UI" pitchFamily="34" charset="0"/>
                <a:ea typeface="Segoe UI" pitchFamily="34" charset="-122"/>
                <a:cs typeface="Segoe UI" pitchFamily="34" charset="-120"/>
              </a:rPr>
              <a:t>3</a:t>
            </a:r>
            <a:endParaRPr lang="en-US" sz="1400" dirty="0"/>
          </a:p>
        </p:txBody>
      </p:sp>
      <p:sp>
        <p:nvSpPr>
          <p:cNvPr id="18" name="Text 16"/>
          <p:cNvSpPr/>
          <p:nvPr/>
        </p:nvSpPr>
        <p:spPr>
          <a:xfrm>
            <a:off x="594360" y="3282696"/>
            <a:ext cx="4480560" cy="457200"/>
          </a:xfrm>
          <a:prstGeom prst="rect">
            <a:avLst/>
          </a:prstGeom>
          <a:noFill/>
          <a:ln/>
        </p:spPr>
        <p:txBody>
          <a:bodyPr wrap="square" rtlCol="0" anchor="ctr"/>
          <a:lstStyle/>
          <a:p>
            <a:pPr rtl="1" algn="r" indent="0" marL="0">
              <a:buNone/>
            </a:pPr>
            <a:r>
              <a:rPr lang="en-US" sz="1250" dirty="0">
                <a:solidFill>
                  <a:srgbClr val="0F172A"/>
                </a:solidFill>
                <a:latin typeface="Segoe UI" pitchFamily="34" charset="0"/>
                <a:ea typeface="Segoe UI" pitchFamily="34" charset="-122"/>
                <a:cs typeface="Segoe UI" pitchFamily="34" charset="-120"/>
              </a:rPr>
              <a:t>ماذا تقدّم المنصة ككل (البوابتان والخدمات)</a:t>
            </a:r>
            <a:endParaRPr lang="en-US" sz="1250" dirty="0"/>
          </a:p>
        </p:txBody>
      </p:sp>
      <p:sp>
        <p:nvSpPr>
          <p:cNvPr id="19" name="Shape 17"/>
          <p:cNvSpPr/>
          <p:nvPr/>
        </p:nvSpPr>
        <p:spPr>
          <a:xfrm>
            <a:off x="411480" y="3977640"/>
            <a:ext cx="5394960" cy="713232"/>
          </a:xfrm>
          <a:prstGeom prst="roundRect">
            <a:avLst>
              <a:gd name="adj" fmla="val 12821"/>
            </a:avLst>
          </a:prstGeom>
          <a:solidFill>
            <a:srgbClr val="EEF6F5"/>
          </a:solidFill>
          <a:ln w="12700">
            <a:solidFill>
              <a:srgbClr val="CCFBF1"/>
            </a:solidFill>
            <a:prstDash val="solid"/>
          </a:ln>
        </p:spPr>
      </p:sp>
      <p:sp>
        <p:nvSpPr>
          <p:cNvPr id="20" name="Shape 18"/>
          <p:cNvSpPr/>
          <p:nvPr/>
        </p:nvSpPr>
        <p:spPr>
          <a:xfrm>
            <a:off x="5212080" y="4133088"/>
            <a:ext cx="402336" cy="402336"/>
          </a:xfrm>
          <a:prstGeom prst="ellipse">
            <a:avLst/>
          </a:prstGeom>
          <a:solidFill>
            <a:srgbClr val="0B1F4D"/>
          </a:solidFill>
          <a:ln/>
        </p:spPr>
      </p:sp>
      <p:sp>
        <p:nvSpPr>
          <p:cNvPr id="21" name="Text 19"/>
          <p:cNvSpPr/>
          <p:nvPr/>
        </p:nvSpPr>
        <p:spPr>
          <a:xfrm>
            <a:off x="5212080" y="4133088"/>
            <a:ext cx="402336" cy="402336"/>
          </a:xfrm>
          <a:prstGeom prst="rect">
            <a:avLst/>
          </a:prstGeom>
          <a:noFill/>
          <a:ln/>
        </p:spPr>
        <p:txBody>
          <a:bodyPr wrap="square" rtlCol="0" anchor="ctr"/>
          <a:lstStyle/>
          <a:p>
            <a:pPr algn="ctr" indent="0" marL="0">
              <a:buNone/>
            </a:pPr>
            <a:r>
              <a:rPr lang="en-US" sz="1400" b="1" dirty="0">
                <a:solidFill>
                  <a:srgbClr val="FFFFFF"/>
                </a:solidFill>
                <a:latin typeface="Segoe UI" pitchFamily="34" charset="0"/>
                <a:ea typeface="Segoe UI" pitchFamily="34" charset="-122"/>
                <a:cs typeface="Segoe UI" pitchFamily="34" charset="-120"/>
              </a:rPr>
              <a:t>4</a:t>
            </a:r>
            <a:endParaRPr lang="en-US" sz="1400" dirty="0"/>
          </a:p>
        </p:txBody>
      </p:sp>
      <p:sp>
        <p:nvSpPr>
          <p:cNvPr id="22" name="Text 20"/>
          <p:cNvSpPr/>
          <p:nvPr/>
        </p:nvSpPr>
        <p:spPr>
          <a:xfrm>
            <a:off x="594360" y="4105656"/>
            <a:ext cx="4480560" cy="457200"/>
          </a:xfrm>
          <a:prstGeom prst="rect">
            <a:avLst/>
          </a:prstGeom>
          <a:noFill/>
          <a:ln/>
        </p:spPr>
        <p:txBody>
          <a:bodyPr wrap="square" rtlCol="0" anchor="ctr"/>
          <a:lstStyle/>
          <a:p>
            <a:pPr rtl="1" algn="r" indent="0" marL="0">
              <a:buNone/>
            </a:pPr>
            <a:r>
              <a:rPr lang="en-US" sz="1250" dirty="0">
                <a:solidFill>
                  <a:srgbClr val="0F172A"/>
                </a:solidFill>
                <a:latin typeface="Segoe UI" pitchFamily="34" charset="0"/>
                <a:ea typeface="Segoe UI" pitchFamily="34" charset="-122"/>
                <a:cs typeface="Segoe UI" pitchFamily="34" charset="-120"/>
              </a:rPr>
              <a:t>مستجدات المتجر (Hub · عربة · RFQ · متاجر موردين…)</a:t>
            </a:r>
            <a:endParaRPr lang="en-US" sz="1250" dirty="0"/>
          </a:p>
        </p:txBody>
      </p:sp>
      <p:sp>
        <p:nvSpPr>
          <p:cNvPr id="23" name="Shape 21"/>
          <p:cNvSpPr/>
          <p:nvPr/>
        </p:nvSpPr>
        <p:spPr>
          <a:xfrm>
            <a:off x="411480" y="4800600"/>
            <a:ext cx="5394960" cy="713232"/>
          </a:xfrm>
          <a:prstGeom prst="roundRect">
            <a:avLst>
              <a:gd name="adj" fmla="val 12821"/>
            </a:avLst>
          </a:prstGeom>
          <a:solidFill>
            <a:srgbClr val="EEF6F5"/>
          </a:solidFill>
          <a:ln w="12700">
            <a:solidFill>
              <a:srgbClr val="CCFBF1"/>
            </a:solidFill>
            <a:prstDash val="solid"/>
          </a:ln>
        </p:spPr>
      </p:sp>
      <p:sp>
        <p:nvSpPr>
          <p:cNvPr id="24" name="Shape 22"/>
          <p:cNvSpPr/>
          <p:nvPr/>
        </p:nvSpPr>
        <p:spPr>
          <a:xfrm>
            <a:off x="5212080" y="4956048"/>
            <a:ext cx="402336" cy="402336"/>
          </a:xfrm>
          <a:prstGeom prst="ellipse">
            <a:avLst/>
          </a:prstGeom>
          <a:solidFill>
            <a:srgbClr val="0B1F4D"/>
          </a:solidFill>
          <a:ln/>
        </p:spPr>
      </p:sp>
      <p:sp>
        <p:nvSpPr>
          <p:cNvPr id="25" name="Text 23"/>
          <p:cNvSpPr/>
          <p:nvPr/>
        </p:nvSpPr>
        <p:spPr>
          <a:xfrm>
            <a:off x="5212080" y="4956048"/>
            <a:ext cx="402336" cy="402336"/>
          </a:xfrm>
          <a:prstGeom prst="rect">
            <a:avLst/>
          </a:prstGeom>
          <a:noFill/>
          <a:ln/>
        </p:spPr>
        <p:txBody>
          <a:bodyPr wrap="square" rtlCol="0" anchor="ctr"/>
          <a:lstStyle/>
          <a:p>
            <a:pPr algn="ctr" indent="0" marL="0">
              <a:buNone/>
            </a:pPr>
            <a:r>
              <a:rPr lang="en-US" sz="1400" b="1" dirty="0">
                <a:solidFill>
                  <a:srgbClr val="FFFFFF"/>
                </a:solidFill>
                <a:latin typeface="Segoe UI" pitchFamily="34" charset="0"/>
                <a:ea typeface="Segoe UI" pitchFamily="34" charset="-122"/>
                <a:cs typeface="Segoe UI" pitchFamily="34" charset="-120"/>
              </a:rPr>
              <a:t>5</a:t>
            </a:r>
            <a:endParaRPr lang="en-US" sz="1400" dirty="0"/>
          </a:p>
        </p:txBody>
      </p:sp>
      <p:sp>
        <p:nvSpPr>
          <p:cNvPr id="26" name="Text 24"/>
          <p:cNvSpPr/>
          <p:nvPr/>
        </p:nvSpPr>
        <p:spPr>
          <a:xfrm>
            <a:off x="594360" y="4928616"/>
            <a:ext cx="4480560" cy="457200"/>
          </a:xfrm>
          <a:prstGeom prst="rect">
            <a:avLst/>
          </a:prstGeom>
          <a:noFill/>
          <a:ln/>
        </p:spPr>
        <p:txBody>
          <a:bodyPr wrap="square" rtlCol="0" anchor="ctr"/>
          <a:lstStyle/>
          <a:p>
            <a:pPr rtl="1" algn="r" indent="0" marL="0">
              <a:buNone/>
            </a:pPr>
            <a:r>
              <a:rPr lang="en-US" sz="1250" dirty="0">
                <a:solidFill>
                  <a:srgbClr val="0F172A"/>
                </a:solidFill>
                <a:latin typeface="Segoe UI" pitchFamily="34" charset="0"/>
                <a:ea typeface="Segoe UI" pitchFamily="34" charset="-122"/>
                <a:cs typeface="Segoe UI" pitchFamily="34" charset="-120"/>
              </a:rPr>
              <a:t>١٥ قسماً + ماذا تنشر كمنتج؟</a:t>
            </a:r>
            <a:endParaRPr lang="en-US" sz="1250" dirty="0"/>
          </a:p>
        </p:txBody>
      </p:sp>
      <p:sp>
        <p:nvSpPr>
          <p:cNvPr id="27" name="Shape 25"/>
          <p:cNvSpPr/>
          <p:nvPr/>
        </p:nvSpPr>
        <p:spPr>
          <a:xfrm>
            <a:off x="6080760" y="1508760"/>
            <a:ext cx="5394960" cy="713232"/>
          </a:xfrm>
          <a:prstGeom prst="roundRect">
            <a:avLst>
              <a:gd name="adj" fmla="val 12821"/>
            </a:avLst>
          </a:prstGeom>
          <a:solidFill>
            <a:srgbClr val="EEF6F5"/>
          </a:solidFill>
          <a:ln w="12700">
            <a:solidFill>
              <a:srgbClr val="CCFBF1"/>
            </a:solidFill>
            <a:prstDash val="solid"/>
          </a:ln>
        </p:spPr>
      </p:sp>
      <p:sp>
        <p:nvSpPr>
          <p:cNvPr id="28" name="Shape 26"/>
          <p:cNvSpPr/>
          <p:nvPr/>
        </p:nvSpPr>
        <p:spPr>
          <a:xfrm>
            <a:off x="10881360" y="1664208"/>
            <a:ext cx="402336" cy="402336"/>
          </a:xfrm>
          <a:prstGeom prst="ellipse">
            <a:avLst/>
          </a:prstGeom>
          <a:solidFill>
            <a:srgbClr val="0B1F4D"/>
          </a:solidFill>
          <a:ln/>
        </p:spPr>
      </p:sp>
      <p:sp>
        <p:nvSpPr>
          <p:cNvPr id="29" name="Text 27"/>
          <p:cNvSpPr/>
          <p:nvPr/>
        </p:nvSpPr>
        <p:spPr>
          <a:xfrm>
            <a:off x="10881360" y="1664208"/>
            <a:ext cx="402336" cy="402336"/>
          </a:xfrm>
          <a:prstGeom prst="rect">
            <a:avLst/>
          </a:prstGeom>
          <a:noFill/>
          <a:ln/>
        </p:spPr>
        <p:txBody>
          <a:bodyPr wrap="square" rtlCol="0" anchor="ctr"/>
          <a:lstStyle/>
          <a:p>
            <a:pPr algn="ctr" indent="0" marL="0">
              <a:buNone/>
            </a:pPr>
            <a:r>
              <a:rPr lang="en-US" sz="1400" b="1" dirty="0">
                <a:solidFill>
                  <a:srgbClr val="FFFFFF"/>
                </a:solidFill>
                <a:latin typeface="Segoe UI" pitchFamily="34" charset="0"/>
                <a:ea typeface="Segoe UI" pitchFamily="34" charset="-122"/>
                <a:cs typeface="Segoe UI" pitchFamily="34" charset="-120"/>
              </a:rPr>
              <a:t>6</a:t>
            </a:r>
            <a:endParaRPr lang="en-US" sz="1400" dirty="0"/>
          </a:p>
        </p:txBody>
      </p:sp>
      <p:sp>
        <p:nvSpPr>
          <p:cNvPr id="30" name="Text 28"/>
          <p:cNvSpPr/>
          <p:nvPr/>
        </p:nvSpPr>
        <p:spPr>
          <a:xfrm>
            <a:off x="6263640" y="1636776"/>
            <a:ext cx="4480560" cy="457200"/>
          </a:xfrm>
          <a:prstGeom prst="rect">
            <a:avLst/>
          </a:prstGeom>
          <a:noFill/>
          <a:ln/>
        </p:spPr>
        <p:txBody>
          <a:bodyPr wrap="square" rtlCol="0" anchor="ctr"/>
          <a:lstStyle/>
          <a:p>
            <a:pPr rtl="1" algn="r" indent="0" marL="0">
              <a:buNone/>
            </a:pPr>
            <a:r>
              <a:rPr lang="en-US" sz="1250" dirty="0">
                <a:solidFill>
                  <a:srgbClr val="0F172A"/>
                </a:solidFill>
                <a:latin typeface="Segoe UI" pitchFamily="34" charset="0"/>
                <a:ea typeface="Segoe UI" pitchFamily="34" charset="-122"/>
                <a:cs typeface="Segoe UI" pitchFamily="34" charset="-120"/>
              </a:rPr>
              <a:t>دورة الطلب والضمان Escrow</a:t>
            </a:r>
            <a:endParaRPr lang="en-US" sz="1250" dirty="0"/>
          </a:p>
        </p:txBody>
      </p:sp>
      <p:sp>
        <p:nvSpPr>
          <p:cNvPr id="31" name="Shape 29"/>
          <p:cNvSpPr/>
          <p:nvPr/>
        </p:nvSpPr>
        <p:spPr>
          <a:xfrm>
            <a:off x="6080760" y="2331720"/>
            <a:ext cx="5394960" cy="713232"/>
          </a:xfrm>
          <a:prstGeom prst="roundRect">
            <a:avLst>
              <a:gd name="adj" fmla="val 12821"/>
            </a:avLst>
          </a:prstGeom>
          <a:solidFill>
            <a:srgbClr val="EEF6F5"/>
          </a:solidFill>
          <a:ln w="12700">
            <a:solidFill>
              <a:srgbClr val="CCFBF1"/>
            </a:solidFill>
            <a:prstDash val="solid"/>
          </a:ln>
        </p:spPr>
      </p:sp>
      <p:sp>
        <p:nvSpPr>
          <p:cNvPr id="32" name="Shape 30"/>
          <p:cNvSpPr/>
          <p:nvPr/>
        </p:nvSpPr>
        <p:spPr>
          <a:xfrm>
            <a:off x="10881360" y="2487168"/>
            <a:ext cx="402336" cy="402336"/>
          </a:xfrm>
          <a:prstGeom prst="ellipse">
            <a:avLst/>
          </a:prstGeom>
          <a:solidFill>
            <a:srgbClr val="0B1F4D"/>
          </a:solidFill>
          <a:ln/>
        </p:spPr>
      </p:sp>
      <p:sp>
        <p:nvSpPr>
          <p:cNvPr id="33" name="Text 31"/>
          <p:cNvSpPr/>
          <p:nvPr/>
        </p:nvSpPr>
        <p:spPr>
          <a:xfrm>
            <a:off x="10881360" y="2487168"/>
            <a:ext cx="402336" cy="402336"/>
          </a:xfrm>
          <a:prstGeom prst="rect">
            <a:avLst/>
          </a:prstGeom>
          <a:noFill/>
          <a:ln/>
        </p:spPr>
        <p:txBody>
          <a:bodyPr wrap="square" rtlCol="0" anchor="ctr"/>
          <a:lstStyle/>
          <a:p>
            <a:pPr algn="ctr" indent="0" marL="0">
              <a:buNone/>
            </a:pPr>
            <a:r>
              <a:rPr lang="en-US" sz="1400" b="1" dirty="0">
                <a:solidFill>
                  <a:srgbClr val="FFFFFF"/>
                </a:solidFill>
                <a:latin typeface="Segoe UI" pitchFamily="34" charset="0"/>
                <a:ea typeface="Segoe UI" pitchFamily="34" charset="-122"/>
                <a:cs typeface="Segoe UI" pitchFamily="34" charset="-120"/>
              </a:rPr>
              <a:t>7</a:t>
            </a:r>
            <a:endParaRPr lang="en-US" sz="1400" dirty="0"/>
          </a:p>
        </p:txBody>
      </p:sp>
      <p:sp>
        <p:nvSpPr>
          <p:cNvPr id="34" name="Text 32"/>
          <p:cNvSpPr/>
          <p:nvPr/>
        </p:nvSpPr>
        <p:spPr>
          <a:xfrm>
            <a:off x="6263640" y="2459736"/>
            <a:ext cx="4480560" cy="457200"/>
          </a:xfrm>
          <a:prstGeom prst="rect">
            <a:avLst/>
          </a:prstGeom>
          <a:noFill/>
          <a:ln/>
        </p:spPr>
        <p:txBody>
          <a:bodyPr wrap="square" rtlCol="0" anchor="ctr"/>
          <a:lstStyle/>
          <a:p>
            <a:pPr rtl="1" algn="r" indent="0" marL="0">
              <a:buNone/>
            </a:pPr>
            <a:r>
              <a:rPr lang="en-US" sz="1250" dirty="0">
                <a:solidFill>
                  <a:srgbClr val="0F172A"/>
                </a:solidFill>
                <a:latin typeface="Segoe UI" pitchFamily="34" charset="0"/>
                <a:ea typeface="Segoe UI" pitchFamily="34" charset="-122"/>
                <a:cs typeface="Segoe UI" pitchFamily="34" charset="-120"/>
              </a:rPr>
              <a:t>آلية الشراكة: ماذا نقدّم / ماذا تقدّم</a:t>
            </a:r>
            <a:endParaRPr lang="en-US" sz="1250" dirty="0"/>
          </a:p>
        </p:txBody>
      </p:sp>
      <p:sp>
        <p:nvSpPr>
          <p:cNvPr id="35" name="Shape 33"/>
          <p:cNvSpPr/>
          <p:nvPr/>
        </p:nvSpPr>
        <p:spPr>
          <a:xfrm>
            <a:off x="6080760" y="3154680"/>
            <a:ext cx="5394960" cy="713232"/>
          </a:xfrm>
          <a:prstGeom prst="roundRect">
            <a:avLst>
              <a:gd name="adj" fmla="val 12821"/>
            </a:avLst>
          </a:prstGeom>
          <a:solidFill>
            <a:srgbClr val="EEF6F5"/>
          </a:solidFill>
          <a:ln w="12700">
            <a:solidFill>
              <a:srgbClr val="CCFBF1"/>
            </a:solidFill>
            <a:prstDash val="solid"/>
          </a:ln>
        </p:spPr>
      </p:sp>
      <p:sp>
        <p:nvSpPr>
          <p:cNvPr id="36" name="Shape 34"/>
          <p:cNvSpPr/>
          <p:nvPr/>
        </p:nvSpPr>
        <p:spPr>
          <a:xfrm>
            <a:off x="10881360" y="3310128"/>
            <a:ext cx="402336" cy="402336"/>
          </a:xfrm>
          <a:prstGeom prst="ellipse">
            <a:avLst/>
          </a:prstGeom>
          <a:solidFill>
            <a:srgbClr val="0B1F4D"/>
          </a:solidFill>
          <a:ln/>
        </p:spPr>
      </p:sp>
      <p:sp>
        <p:nvSpPr>
          <p:cNvPr id="37" name="Text 35"/>
          <p:cNvSpPr/>
          <p:nvPr/>
        </p:nvSpPr>
        <p:spPr>
          <a:xfrm>
            <a:off x="10881360" y="3310128"/>
            <a:ext cx="402336" cy="402336"/>
          </a:xfrm>
          <a:prstGeom prst="rect">
            <a:avLst/>
          </a:prstGeom>
          <a:noFill/>
          <a:ln/>
        </p:spPr>
        <p:txBody>
          <a:bodyPr wrap="square" rtlCol="0" anchor="ctr"/>
          <a:lstStyle/>
          <a:p>
            <a:pPr algn="ctr" indent="0" marL="0">
              <a:buNone/>
            </a:pPr>
            <a:r>
              <a:rPr lang="en-US" sz="1400" b="1" dirty="0">
                <a:solidFill>
                  <a:srgbClr val="FFFFFF"/>
                </a:solidFill>
                <a:latin typeface="Segoe UI" pitchFamily="34" charset="0"/>
                <a:ea typeface="Segoe UI" pitchFamily="34" charset="-122"/>
                <a:cs typeface="Segoe UI" pitchFamily="34" charset="-120"/>
              </a:rPr>
              <a:t>8</a:t>
            </a:r>
            <a:endParaRPr lang="en-US" sz="1400" dirty="0"/>
          </a:p>
        </p:txBody>
      </p:sp>
      <p:sp>
        <p:nvSpPr>
          <p:cNvPr id="38" name="Text 36"/>
          <p:cNvSpPr/>
          <p:nvPr/>
        </p:nvSpPr>
        <p:spPr>
          <a:xfrm>
            <a:off x="6263640" y="3282696"/>
            <a:ext cx="4480560" cy="457200"/>
          </a:xfrm>
          <a:prstGeom prst="rect">
            <a:avLst/>
          </a:prstGeom>
          <a:noFill/>
          <a:ln/>
        </p:spPr>
        <p:txBody>
          <a:bodyPr wrap="square" rtlCol="0" anchor="ctr"/>
          <a:lstStyle/>
          <a:p>
            <a:pPr rtl="1" algn="r" indent="0" marL="0">
              <a:buNone/>
            </a:pPr>
            <a:r>
              <a:rPr lang="en-US" sz="1250" dirty="0">
                <a:solidFill>
                  <a:srgbClr val="0F172A"/>
                </a:solidFill>
                <a:latin typeface="Segoe UI" pitchFamily="34" charset="0"/>
                <a:ea typeface="Segoe UI" pitchFamily="34" charset="-122"/>
                <a:cs typeface="Segoe UI" pitchFamily="34" charset="-120"/>
              </a:rPr>
              <a:t>ماذا تفعل داخل التطبيق عملياً؟</a:t>
            </a:r>
            <a:endParaRPr lang="en-US" sz="1250" dirty="0"/>
          </a:p>
        </p:txBody>
      </p:sp>
      <p:sp>
        <p:nvSpPr>
          <p:cNvPr id="39" name="Shape 37"/>
          <p:cNvSpPr/>
          <p:nvPr/>
        </p:nvSpPr>
        <p:spPr>
          <a:xfrm>
            <a:off x="6080760" y="3977640"/>
            <a:ext cx="5394960" cy="713232"/>
          </a:xfrm>
          <a:prstGeom prst="roundRect">
            <a:avLst>
              <a:gd name="adj" fmla="val 12821"/>
            </a:avLst>
          </a:prstGeom>
          <a:solidFill>
            <a:srgbClr val="EEF6F5"/>
          </a:solidFill>
          <a:ln w="12700">
            <a:solidFill>
              <a:srgbClr val="CCFBF1"/>
            </a:solidFill>
            <a:prstDash val="solid"/>
          </a:ln>
        </p:spPr>
      </p:sp>
      <p:sp>
        <p:nvSpPr>
          <p:cNvPr id="40" name="Shape 38"/>
          <p:cNvSpPr/>
          <p:nvPr/>
        </p:nvSpPr>
        <p:spPr>
          <a:xfrm>
            <a:off x="10881360" y="4133088"/>
            <a:ext cx="402336" cy="402336"/>
          </a:xfrm>
          <a:prstGeom prst="ellipse">
            <a:avLst/>
          </a:prstGeom>
          <a:solidFill>
            <a:srgbClr val="0B1F4D"/>
          </a:solidFill>
          <a:ln/>
        </p:spPr>
      </p:sp>
      <p:sp>
        <p:nvSpPr>
          <p:cNvPr id="41" name="Text 39"/>
          <p:cNvSpPr/>
          <p:nvPr/>
        </p:nvSpPr>
        <p:spPr>
          <a:xfrm>
            <a:off x="10881360" y="4133088"/>
            <a:ext cx="402336" cy="402336"/>
          </a:xfrm>
          <a:prstGeom prst="rect">
            <a:avLst/>
          </a:prstGeom>
          <a:noFill/>
          <a:ln/>
        </p:spPr>
        <p:txBody>
          <a:bodyPr wrap="square" rtlCol="0" anchor="ctr"/>
          <a:lstStyle/>
          <a:p>
            <a:pPr algn="ctr" indent="0" marL="0">
              <a:buNone/>
            </a:pPr>
            <a:r>
              <a:rPr lang="en-US" sz="1400" b="1" dirty="0">
                <a:solidFill>
                  <a:srgbClr val="FFFFFF"/>
                </a:solidFill>
                <a:latin typeface="Segoe UI" pitchFamily="34" charset="0"/>
                <a:ea typeface="Segoe UI" pitchFamily="34" charset="-122"/>
                <a:cs typeface="Segoe UI" pitchFamily="34" charset="-120"/>
              </a:rPr>
              <a:t>9</a:t>
            </a:r>
            <a:endParaRPr lang="en-US" sz="1400" dirty="0"/>
          </a:p>
        </p:txBody>
      </p:sp>
      <p:sp>
        <p:nvSpPr>
          <p:cNvPr id="42" name="Text 40"/>
          <p:cNvSpPr/>
          <p:nvPr/>
        </p:nvSpPr>
        <p:spPr>
          <a:xfrm>
            <a:off x="6263640" y="4105656"/>
            <a:ext cx="4480560" cy="457200"/>
          </a:xfrm>
          <a:prstGeom prst="rect">
            <a:avLst/>
          </a:prstGeom>
          <a:noFill/>
          <a:ln/>
        </p:spPr>
        <p:txBody>
          <a:bodyPr wrap="square" rtlCol="0" anchor="ctr"/>
          <a:lstStyle/>
          <a:p>
            <a:pPr rtl="1" algn="r" indent="0" marL="0">
              <a:buNone/>
            </a:pPr>
            <a:r>
              <a:rPr lang="en-US" sz="1250" dirty="0">
                <a:solidFill>
                  <a:srgbClr val="0F172A"/>
                </a:solidFill>
                <a:latin typeface="Segoe UI" pitchFamily="34" charset="0"/>
                <a:ea typeface="Segoe UI" pitchFamily="34" charset="-122"/>
                <a:cs typeface="Segoe UI" pitchFamily="34" charset="-120"/>
              </a:rPr>
              <a:t>نموذج الإيرادات + بدائل ومقترحات</a:t>
            </a:r>
            <a:endParaRPr lang="en-US" sz="1250" dirty="0"/>
          </a:p>
        </p:txBody>
      </p:sp>
      <p:sp>
        <p:nvSpPr>
          <p:cNvPr id="43" name="Shape 41"/>
          <p:cNvSpPr/>
          <p:nvPr/>
        </p:nvSpPr>
        <p:spPr>
          <a:xfrm>
            <a:off x="6080760" y="4800600"/>
            <a:ext cx="5394960" cy="713232"/>
          </a:xfrm>
          <a:prstGeom prst="roundRect">
            <a:avLst>
              <a:gd name="adj" fmla="val 12821"/>
            </a:avLst>
          </a:prstGeom>
          <a:solidFill>
            <a:srgbClr val="EEF6F5"/>
          </a:solidFill>
          <a:ln w="12700">
            <a:solidFill>
              <a:srgbClr val="CCFBF1"/>
            </a:solidFill>
            <a:prstDash val="solid"/>
          </a:ln>
        </p:spPr>
      </p:sp>
      <p:sp>
        <p:nvSpPr>
          <p:cNvPr id="44" name="Shape 42"/>
          <p:cNvSpPr/>
          <p:nvPr/>
        </p:nvSpPr>
        <p:spPr>
          <a:xfrm>
            <a:off x="10881360" y="4956048"/>
            <a:ext cx="402336" cy="402336"/>
          </a:xfrm>
          <a:prstGeom prst="ellipse">
            <a:avLst/>
          </a:prstGeom>
          <a:solidFill>
            <a:srgbClr val="0B1F4D"/>
          </a:solidFill>
          <a:ln/>
        </p:spPr>
      </p:sp>
      <p:sp>
        <p:nvSpPr>
          <p:cNvPr id="45" name="Text 43"/>
          <p:cNvSpPr/>
          <p:nvPr/>
        </p:nvSpPr>
        <p:spPr>
          <a:xfrm>
            <a:off x="10881360" y="4956048"/>
            <a:ext cx="402336" cy="402336"/>
          </a:xfrm>
          <a:prstGeom prst="rect">
            <a:avLst/>
          </a:prstGeom>
          <a:noFill/>
          <a:ln/>
        </p:spPr>
        <p:txBody>
          <a:bodyPr wrap="square" rtlCol="0" anchor="ctr"/>
          <a:lstStyle/>
          <a:p>
            <a:pPr algn="ctr" indent="0" marL="0">
              <a:buNone/>
            </a:pPr>
            <a:r>
              <a:rPr lang="en-US" sz="1400" b="1" dirty="0">
                <a:solidFill>
                  <a:srgbClr val="FFFFFF"/>
                </a:solidFill>
                <a:latin typeface="Segoe UI" pitchFamily="34" charset="0"/>
                <a:ea typeface="Segoe UI" pitchFamily="34" charset="-122"/>
                <a:cs typeface="Segoe UI" pitchFamily="34" charset="-120"/>
              </a:rPr>
              <a:t>10</a:t>
            </a:r>
            <a:endParaRPr lang="en-US" sz="1400" dirty="0"/>
          </a:p>
        </p:txBody>
      </p:sp>
      <p:sp>
        <p:nvSpPr>
          <p:cNvPr id="46" name="Text 44"/>
          <p:cNvSpPr/>
          <p:nvPr/>
        </p:nvSpPr>
        <p:spPr>
          <a:xfrm>
            <a:off x="6263640" y="4928616"/>
            <a:ext cx="4480560" cy="457200"/>
          </a:xfrm>
          <a:prstGeom prst="rect">
            <a:avLst/>
          </a:prstGeom>
          <a:noFill/>
          <a:ln/>
        </p:spPr>
        <p:txBody>
          <a:bodyPr wrap="square" rtlCol="0" anchor="ctr"/>
          <a:lstStyle/>
          <a:p>
            <a:pPr rtl="1" algn="r" indent="0" marL="0">
              <a:buNone/>
            </a:pPr>
            <a:r>
              <a:rPr lang="en-US" sz="1250" dirty="0">
                <a:solidFill>
                  <a:srgbClr val="0F172A"/>
                </a:solidFill>
                <a:latin typeface="Segoe UI" pitchFamily="34" charset="0"/>
                <a:ea typeface="Segoe UI" pitchFamily="34" charset="-122"/>
                <a:cs typeface="Segoe UI" pitchFamily="34" charset="-120"/>
              </a:rPr>
              <a:t>أمور يجب معرفتها · لماذا الآن · ابدأ الشراكة</a:t>
            </a:r>
            <a:endParaRPr lang="en-US" sz="1250" dirty="0"/>
          </a:p>
        </p:txBody>
      </p:sp>
      <p:sp>
        <p:nvSpPr>
          <p:cNvPr id="47" name="Shape 45"/>
          <p:cNvSpPr/>
          <p:nvPr/>
        </p:nvSpPr>
        <p:spPr>
          <a:xfrm>
            <a:off x="0" y="6510528"/>
            <a:ext cx="12191695" cy="347472"/>
          </a:xfrm>
          <a:prstGeom prst="rect">
            <a:avLst/>
          </a:prstGeom>
          <a:solidFill>
            <a:srgbClr val="F8F5F0"/>
          </a:solidFill>
          <a:ln/>
        </p:spPr>
      </p:sp>
      <p:sp>
        <p:nvSpPr>
          <p:cNvPr id="48" name="Text 46"/>
          <p:cNvSpPr/>
          <p:nvPr/>
        </p:nvSpPr>
        <p:spPr>
          <a:xfrm>
            <a:off x="411480" y="6547104"/>
            <a:ext cx="8229600" cy="256032"/>
          </a:xfrm>
          <a:prstGeom prst="rect">
            <a:avLst/>
          </a:prstGeom>
          <a:noFill/>
          <a:ln/>
        </p:spPr>
        <p:txBody>
          <a:bodyPr wrap="square" rtlCol="0" anchor="ctr"/>
          <a:lstStyle/>
          <a:p>
            <a:pPr rtl="1" algn="r" indent="0" marL="0">
              <a:buNone/>
            </a:pPr>
            <a:r>
              <a:rPr lang="en-US" sz="1000" dirty="0">
                <a:solidFill>
                  <a:srgbClr val="475569"/>
                </a:solidFill>
                <a:latin typeface="Segoe UI" pitchFamily="34" charset="0"/>
                <a:ea typeface="Segoe UI" pitchFamily="34" charset="-122"/>
                <a:cs typeface="Segoe UI" pitchFamily="34" charset="-120"/>
              </a:rPr>
              <a:t>AcadeGate · عرض شراكة الموردين · محدّث ١٩ سبتمبر ٢٠٢٦</a:t>
            </a:r>
            <a:endParaRPr lang="en-US" sz="1000" dirty="0"/>
          </a:p>
        </p:txBody>
      </p:sp>
      <p:sp>
        <p:nvSpPr>
          <p:cNvPr id="49" name="Text 47"/>
          <p:cNvSpPr/>
          <p:nvPr/>
        </p:nvSpPr>
        <p:spPr>
          <a:xfrm>
            <a:off x="10682935" y="6547104"/>
            <a:ext cx="1097280" cy="256032"/>
          </a:xfrm>
          <a:prstGeom prst="rect">
            <a:avLst/>
          </a:prstGeom>
          <a:noFill/>
          <a:ln/>
        </p:spPr>
        <p:txBody>
          <a:bodyPr wrap="square" rtlCol="0" anchor="ctr"/>
          <a:lstStyle/>
          <a:p>
            <a:pPr algn="l" indent="0" marL="0">
              <a:buNone/>
            </a:pPr>
            <a:r>
              <a:rPr lang="en-US" sz="1000" dirty="0">
                <a:solidFill>
                  <a:srgbClr val="475569"/>
                </a:solidFill>
                <a:latin typeface="Segoe UI" pitchFamily="34" charset="0"/>
                <a:ea typeface="Segoe UI" pitchFamily="34" charset="-122"/>
                <a:cs typeface="Segoe UI" pitchFamily="34" charset="-120"/>
              </a:rPr>
              <a:t>2 / 16</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sp>
      <p:sp>
        <p:nvSpPr>
          <p:cNvPr id="3" name="Shape 1"/>
          <p:cNvSpPr/>
          <p:nvPr/>
        </p:nvSpPr>
        <p:spPr>
          <a:xfrm>
            <a:off x="411480" y="256032"/>
            <a:ext cx="109728" cy="502920"/>
          </a:xfrm>
          <a:prstGeom prst="rect">
            <a:avLst/>
          </a:prstGeom>
          <a:solidFill>
            <a:srgbClr val="0F766E"/>
          </a:solidFill>
          <a:ln/>
        </p:spPr>
      </p:sp>
      <p:sp>
        <p:nvSpPr>
          <p:cNvPr id="4" name="Text 2"/>
          <p:cNvSpPr/>
          <p:nvPr/>
        </p:nvSpPr>
        <p:spPr>
          <a:xfrm>
            <a:off x="612648" y="201168"/>
            <a:ext cx="11167567" cy="566928"/>
          </a:xfrm>
          <a:prstGeom prst="rect">
            <a:avLst/>
          </a:prstGeom>
          <a:noFill/>
          <a:ln/>
        </p:spPr>
        <p:txBody>
          <a:bodyPr wrap="square" rtlCol="0" anchor="ctr"/>
          <a:lstStyle/>
          <a:p>
            <a:pPr rtl="1" algn="r" indent="0" marL="0">
              <a:buNone/>
            </a:pPr>
            <a:r>
              <a:rPr lang="en-US" sz="2400" b="1" dirty="0">
                <a:solidFill>
                  <a:srgbClr val="0B1F4D"/>
                </a:solidFill>
                <a:latin typeface="Segoe UI" pitchFamily="34" charset="0"/>
                <a:ea typeface="Segoe UI" pitchFamily="34" charset="-122"/>
                <a:cs typeface="Segoe UI" pitchFamily="34" charset="-120"/>
              </a:rPr>
              <a:t>١ — فكرة التطبيق: لماذا AcadeGate؟</a:t>
            </a:r>
            <a:endParaRPr lang="en-US" sz="2400" dirty="0"/>
          </a:p>
        </p:txBody>
      </p:sp>
      <p:sp>
        <p:nvSpPr>
          <p:cNvPr id="5" name="Shape 3"/>
          <p:cNvSpPr/>
          <p:nvPr/>
        </p:nvSpPr>
        <p:spPr>
          <a:xfrm>
            <a:off x="411480" y="822960"/>
            <a:ext cx="11368735" cy="32004"/>
          </a:xfrm>
          <a:prstGeom prst="rect">
            <a:avLst/>
          </a:prstGeom>
          <a:solidFill>
            <a:srgbClr val="0F766E"/>
          </a:solidFill>
          <a:ln/>
        </p:spPr>
      </p:sp>
      <p:sp>
        <p:nvSpPr>
          <p:cNvPr id="6" name="Text 4"/>
          <p:cNvSpPr/>
          <p:nvPr/>
        </p:nvSpPr>
        <p:spPr>
          <a:xfrm>
            <a:off x="411480" y="960120"/>
            <a:ext cx="11368735" cy="457200"/>
          </a:xfrm>
          <a:prstGeom prst="rect">
            <a:avLst/>
          </a:prstGeom>
          <a:noFill/>
          <a:ln/>
        </p:spPr>
        <p:txBody>
          <a:bodyPr wrap="square" rtlCol="0" anchor="ctr"/>
          <a:lstStyle/>
          <a:p>
            <a:pPr rtl="1" algn="r" indent="0" marL="0">
              <a:buNone/>
            </a:pPr>
            <a:r>
              <a:rPr lang="en-US" sz="1300" dirty="0">
                <a:solidFill>
                  <a:srgbClr val="475569"/>
                </a:solidFill>
                <a:latin typeface="Segoe UI" pitchFamily="34" charset="0"/>
                <a:ea typeface="Segoe UI" pitchFamily="34" charset="-122"/>
                <a:cs typeface="Segoe UI" pitchFamily="34" charset="-120"/>
              </a:rPr>
              <a:t>قبل أن نتحدث عن عمولتك: هذه هي المشكلة التي نحلّها — ومنها يأتي عميلك إلى متجرك.</a:t>
            </a:r>
            <a:endParaRPr lang="en-US" sz="1300" dirty="0"/>
          </a:p>
        </p:txBody>
      </p:sp>
      <p:sp>
        <p:nvSpPr>
          <p:cNvPr id="7" name="Shape 5"/>
          <p:cNvSpPr/>
          <p:nvPr/>
        </p:nvSpPr>
        <p:spPr>
          <a:xfrm>
            <a:off x="411480" y="1508760"/>
            <a:ext cx="11368735" cy="1234440"/>
          </a:xfrm>
          <a:prstGeom prst="roundRect">
            <a:avLst>
              <a:gd name="adj" fmla="val 7407"/>
            </a:avLst>
          </a:prstGeom>
          <a:solidFill>
            <a:srgbClr val="EEF6F5"/>
          </a:solidFill>
          <a:ln w="12700">
            <a:solidFill>
              <a:srgbClr val="0F766E"/>
            </a:solidFill>
            <a:prstDash val="solid"/>
          </a:ln>
        </p:spPr>
      </p:sp>
      <p:sp>
        <p:nvSpPr>
          <p:cNvPr id="8" name="Text 6"/>
          <p:cNvSpPr/>
          <p:nvPr/>
        </p:nvSpPr>
        <p:spPr>
          <a:xfrm>
            <a:off x="640080" y="1645920"/>
            <a:ext cx="10911535" cy="960120"/>
          </a:xfrm>
          <a:prstGeom prst="rect">
            <a:avLst/>
          </a:prstGeom>
          <a:noFill/>
          <a:ln/>
        </p:spPr>
        <p:txBody>
          <a:bodyPr wrap="square" rtlCol="0" anchor="ctr"/>
          <a:lstStyle/>
          <a:p>
            <a:pPr rtl="1" algn="r" indent="0" marL="0">
              <a:buNone/>
            </a:pPr>
            <a:r>
              <a:rPr lang="en-US" sz="1400" dirty="0">
                <a:solidFill>
                  <a:srgbClr val="0F172A"/>
                </a:solidFill>
                <a:latin typeface="Segoe UI" pitchFamily="34" charset="0"/>
                <a:ea typeface="Segoe UI" pitchFamily="34" charset="-122"/>
                <a:cs typeface="Segoe UI" pitchFamily="34" charset="-120"/>
              </a:rPr>
              <a:t>المشكلة: طالب الدراسات العليا والباحث العربي يحتاج مشرفاً، فكرة، مختبراً، معدات، كتابة، ومجتمعاً — لكنه يبحث عنها في قنوات متفرقة (واتساب، مجموعات، مواقع عامة) بلا ضمان ولا مسار واحد.</a:t>
            </a:r>
            <a:endParaRPr lang="en-US" sz="1400" dirty="0"/>
          </a:p>
        </p:txBody>
      </p:sp>
      <p:sp>
        <p:nvSpPr>
          <p:cNvPr id="9" name="Text 7"/>
          <p:cNvSpPr/>
          <p:nvPr/>
        </p:nvSpPr>
        <p:spPr>
          <a:xfrm>
            <a:off x="411480" y="2926080"/>
            <a:ext cx="11368735" cy="320040"/>
          </a:xfrm>
          <a:prstGeom prst="rect">
            <a:avLst/>
          </a:prstGeom>
          <a:noFill/>
          <a:ln/>
        </p:spPr>
        <p:txBody>
          <a:bodyPr wrap="square" rtlCol="0" anchor="ctr"/>
          <a:lstStyle/>
          <a:p>
            <a:pPr rtl="1" algn="r" indent="0" marL="0">
              <a:buNone/>
            </a:pPr>
            <a:r>
              <a:rPr lang="en-US" sz="1500" b="1" dirty="0">
                <a:solidFill>
                  <a:srgbClr val="0B1F4D"/>
                </a:solidFill>
                <a:latin typeface="Segoe UI" pitchFamily="34" charset="0"/>
                <a:ea typeface="Segoe UI" pitchFamily="34" charset="-122"/>
                <a:cs typeface="Segoe UI" pitchFamily="34" charset="-120"/>
              </a:rPr>
              <a:t>الحل: رحلة واحدة مترابطة داخل المنصة</a:t>
            </a:r>
            <a:endParaRPr lang="en-US" sz="1500" dirty="0"/>
          </a:p>
        </p:txBody>
      </p:sp>
      <p:sp>
        <p:nvSpPr>
          <p:cNvPr id="10" name="Shape 8"/>
          <p:cNvSpPr/>
          <p:nvPr/>
        </p:nvSpPr>
        <p:spPr>
          <a:xfrm>
            <a:off x="411480" y="3337560"/>
            <a:ext cx="1783080" cy="960120"/>
          </a:xfrm>
          <a:prstGeom prst="roundRect">
            <a:avLst>
              <a:gd name="adj" fmla="val 9524"/>
            </a:avLst>
          </a:prstGeom>
          <a:solidFill>
            <a:srgbClr val="EEF6F5"/>
          </a:solidFill>
          <a:ln w="12700">
            <a:solidFill>
              <a:srgbClr val="CCFBF1"/>
            </a:solidFill>
            <a:prstDash val="solid"/>
          </a:ln>
        </p:spPr>
      </p:sp>
      <p:sp>
        <p:nvSpPr>
          <p:cNvPr id="11" name="Text 9"/>
          <p:cNvSpPr/>
          <p:nvPr/>
        </p:nvSpPr>
        <p:spPr>
          <a:xfrm>
            <a:off x="411480" y="3401568"/>
            <a:ext cx="1783080" cy="274320"/>
          </a:xfrm>
          <a:prstGeom prst="rect">
            <a:avLst/>
          </a:prstGeom>
          <a:noFill/>
          <a:ln/>
        </p:spPr>
        <p:txBody>
          <a:bodyPr wrap="square" rtlCol="0" anchor="ctr"/>
          <a:lstStyle/>
          <a:p>
            <a:pPr algn="ctr" indent="0" marL="0">
              <a:buNone/>
            </a:pPr>
            <a:r>
              <a:rPr lang="en-US" sz="1100" b="1" dirty="0">
                <a:solidFill>
                  <a:srgbClr val="0F766E"/>
                </a:solidFill>
                <a:latin typeface="Segoe UI" pitchFamily="34" charset="0"/>
                <a:ea typeface="Segoe UI" pitchFamily="34" charset="-122"/>
                <a:cs typeface="Segoe UI" pitchFamily="34" charset="-120"/>
              </a:rPr>
              <a:t>1</a:t>
            </a:r>
            <a:endParaRPr lang="en-US" sz="1100" dirty="0"/>
          </a:p>
        </p:txBody>
      </p:sp>
      <p:sp>
        <p:nvSpPr>
          <p:cNvPr id="12" name="Text 10"/>
          <p:cNvSpPr/>
          <p:nvPr/>
        </p:nvSpPr>
        <p:spPr>
          <a:xfrm>
            <a:off x="457200" y="3703320"/>
            <a:ext cx="1691640" cy="457200"/>
          </a:xfrm>
          <a:prstGeom prst="rect">
            <a:avLst/>
          </a:prstGeom>
          <a:noFill/>
          <a:ln/>
        </p:spPr>
        <p:txBody>
          <a:bodyPr wrap="square" rtlCol="0" anchor="ctr"/>
          <a:lstStyle/>
          <a:p>
            <a:pPr rtl="1" algn="ctr" indent="0" marL="0">
              <a:buNone/>
            </a:pPr>
            <a:r>
              <a:rPr lang="en-US" sz="1200" b="1" dirty="0">
                <a:solidFill>
                  <a:srgbClr val="0B1F4D"/>
                </a:solidFill>
                <a:latin typeface="Segoe UI" pitchFamily="34" charset="0"/>
                <a:ea typeface="Segoe UI" pitchFamily="34" charset="-122"/>
                <a:cs typeface="Segoe UI" pitchFamily="34" charset="-120"/>
              </a:rPr>
              <a:t>فكرة بحثية</a:t>
            </a:r>
            <a:endParaRPr lang="en-US" sz="1200" dirty="0"/>
          </a:p>
        </p:txBody>
      </p:sp>
      <p:sp>
        <p:nvSpPr>
          <p:cNvPr id="13" name="Shape 11"/>
          <p:cNvSpPr/>
          <p:nvPr/>
        </p:nvSpPr>
        <p:spPr>
          <a:xfrm>
            <a:off x="2331720" y="3337560"/>
            <a:ext cx="1783080" cy="960120"/>
          </a:xfrm>
          <a:prstGeom prst="roundRect">
            <a:avLst>
              <a:gd name="adj" fmla="val 9524"/>
            </a:avLst>
          </a:prstGeom>
          <a:solidFill>
            <a:srgbClr val="EEF6F5"/>
          </a:solidFill>
          <a:ln w="12700">
            <a:solidFill>
              <a:srgbClr val="CCFBF1"/>
            </a:solidFill>
            <a:prstDash val="solid"/>
          </a:ln>
        </p:spPr>
      </p:sp>
      <p:sp>
        <p:nvSpPr>
          <p:cNvPr id="14" name="Text 12"/>
          <p:cNvSpPr/>
          <p:nvPr/>
        </p:nvSpPr>
        <p:spPr>
          <a:xfrm>
            <a:off x="2331720" y="3401568"/>
            <a:ext cx="1783080" cy="274320"/>
          </a:xfrm>
          <a:prstGeom prst="rect">
            <a:avLst/>
          </a:prstGeom>
          <a:noFill/>
          <a:ln/>
        </p:spPr>
        <p:txBody>
          <a:bodyPr wrap="square" rtlCol="0" anchor="ctr"/>
          <a:lstStyle/>
          <a:p>
            <a:pPr algn="ctr" indent="0" marL="0">
              <a:buNone/>
            </a:pPr>
            <a:r>
              <a:rPr lang="en-US" sz="1100" b="1" dirty="0">
                <a:solidFill>
                  <a:srgbClr val="0F766E"/>
                </a:solidFill>
                <a:latin typeface="Segoe UI" pitchFamily="34" charset="0"/>
                <a:ea typeface="Segoe UI" pitchFamily="34" charset="-122"/>
                <a:cs typeface="Segoe UI" pitchFamily="34" charset="-120"/>
              </a:rPr>
              <a:t>2</a:t>
            </a:r>
            <a:endParaRPr lang="en-US" sz="1100" dirty="0"/>
          </a:p>
        </p:txBody>
      </p:sp>
      <p:sp>
        <p:nvSpPr>
          <p:cNvPr id="15" name="Text 13"/>
          <p:cNvSpPr/>
          <p:nvPr/>
        </p:nvSpPr>
        <p:spPr>
          <a:xfrm>
            <a:off x="2377440" y="3703320"/>
            <a:ext cx="1691640" cy="457200"/>
          </a:xfrm>
          <a:prstGeom prst="rect">
            <a:avLst/>
          </a:prstGeom>
          <a:noFill/>
          <a:ln/>
        </p:spPr>
        <p:txBody>
          <a:bodyPr wrap="square" rtlCol="0" anchor="ctr"/>
          <a:lstStyle/>
          <a:p>
            <a:pPr rtl="1" algn="ctr" indent="0" marL="0">
              <a:buNone/>
            </a:pPr>
            <a:r>
              <a:rPr lang="en-US" sz="1200" b="1" dirty="0">
                <a:solidFill>
                  <a:srgbClr val="0B1F4D"/>
                </a:solidFill>
                <a:latin typeface="Segoe UI" pitchFamily="34" charset="0"/>
                <a:ea typeface="Segoe UI" pitchFamily="34" charset="-122"/>
                <a:cs typeface="Segoe UI" pitchFamily="34" charset="-120"/>
              </a:rPr>
              <a:t>مشرف</a:t>
            </a:r>
            <a:endParaRPr lang="en-US" sz="1200" dirty="0"/>
          </a:p>
        </p:txBody>
      </p:sp>
      <p:sp>
        <p:nvSpPr>
          <p:cNvPr id="16" name="Shape 14"/>
          <p:cNvSpPr/>
          <p:nvPr/>
        </p:nvSpPr>
        <p:spPr>
          <a:xfrm>
            <a:off x="4251960" y="3337560"/>
            <a:ext cx="1783080" cy="960120"/>
          </a:xfrm>
          <a:prstGeom prst="roundRect">
            <a:avLst>
              <a:gd name="adj" fmla="val 9524"/>
            </a:avLst>
          </a:prstGeom>
          <a:solidFill>
            <a:srgbClr val="EEF6F5"/>
          </a:solidFill>
          <a:ln w="12700">
            <a:solidFill>
              <a:srgbClr val="CCFBF1"/>
            </a:solidFill>
            <a:prstDash val="solid"/>
          </a:ln>
        </p:spPr>
      </p:sp>
      <p:sp>
        <p:nvSpPr>
          <p:cNvPr id="17" name="Text 15"/>
          <p:cNvSpPr/>
          <p:nvPr/>
        </p:nvSpPr>
        <p:spPr>
          <a:xfrm>
            <a:off x="4251960" y="3401568"/>
            <a:ext cx="1783080" cy="274320"/>
          </a:xfrm>
          <a:prstGeom prst="rect">
            <a:avLst/>
          </a:prstGeom>
          <a:noFill/>
          <a:ln/>
        </p:spPr>
        <p:txBody>
          <a:bodyPr wrap="square" rtlCol="0" anchor="ctr"/>
          <a:lstStyle/>
          <a:p>
            <a:pPr algn="ctr" indent="0" marL="0">
              <a:buNone/>
            </a:pPr>
            <a:r>
              <a:rPr lang="en-US" sz="1100" b="1" dirty="0">
                <a:solidFill>
                  <a:srgbClr val="0F766E"/>
                </a:solidFill>
                <a:latin typeface="Segoe UI" pitchFamily="34" charset="0"/>
                <a:ea typeface="Segoe UI" pitchFamily="34" charset="-122"/>
                <a:cs typeface="Segoe UI" pitchFamily="34" charset="-120"/>
              </a:rPr>
              <a:t>3</a:t>
            </a:r>
            <a:endParaRPr lang="en-US" sz="1100" dirty="0"/>
          </a:p>
        </p:txBody>
      </p:sp>
      <p:sp>
        <p:nvSpPr>
          <p:cNvPr id="18" name="Text 16"/>
          <p:cNvSpPr/>
          <p:nvPr/>
        </p:nvSpPr>
        <p:spPr>
          <a:xfrm>
            <a:off x="4297680" y="3703320"/>
            <a:ext cx="1691640" cy="457200"/>
          </a:xfrm>
          <a:prstGeom prst="rect">
            <a:avLst/>
          </a:prstGeom>
          <a:noFill/>
          <a:ln/>
        </p:spPr>
        <p:txBody>
          <a:bodyPr wrap="square" rtlCol="0" anchor="ctr"/>
          <a:lstStyle/>
          <a:p>
            <a:pPr rtl="1" algn="ctr" indent="0" marL="0">
              <a:buNone/>
            </a:pPr>
            <a:r>
              <a:rPr lang="en-US" sz="1200" b="1" dirty="0">
                <a:solidFill>
                  <a:srgbClr val="0B1F4D"/>
                </a:solidFill>
                <a:latin typeface="Segoe UI" pitchFamily="34" charset="0"/>
                <a:ea typeface="Segoe UI" pitchFamily="34" charset="-122"/>
                <a:cs typeface="Segoe UI" pitchFamily="34" charset="-120"/>
              </a:rPr>
              <a:t>مختبر</a:t>
            </a:r>
            <a:endParaRPr lang="en-US" sz="1200" dirty="0"/>
          </a:p>
        </p:txBody>
      </p:sp>
      <p:sp>
        <p:nvSpPr>
          <p:cNvPr id="19" name="Shape 17"/>
          <p:cNvSpPr/>
          <p:nvPr/>
        </p:nvSpPr>
        <p:spPr>
          <a:xfrm>
            <a:off x="6172200" y="3337560"/>
            <a:ext cx="1783080" cy="960120"/>
          </a:xfrm>
          <a:prstGeom prst="roundRect">
            <a:avLst>
              <a:gd name="adj" fmla="val 9524"/>
            </a:avLst>
          </a:prstGeom>
          <a:solidFill>
            <a:srgbClr val="FFFBEB"/>
          </a:solidFill>
          <a:ln w="12700">
            <a:solidFill>
              <a:srgbClr val="B45309"/>
            </a:solidFill>
            <a:prstDash val="solid"/>
          </a:ln>
        </p:spPr>
      </p:sp>
      <p:sp>
        <p:nvSpPr>
          <p:cNvPr id="20" name="Text 18"/>
          <p:cNvSpPr/>
          <p:nvPr/>
        </p:nvSpPr>
        <p:spPr>
          <a:xfrm>
            <a:off x="6172200" y="3401568"/>
            <a:ext cx="1783080" cy="274320"/>
          </a:xfrm>
          <a:prstGeom prst="rect">
            <a:avLst/>
          </a:prstGeom>
          <a:noFill/>
          <a:ln/>
        </p:spPr>
        <p:txBody>
          <a:bodyPr wrap="square" rtlCol="0" anchor="ctr"/>
          <a:lstStyle/>
          <a:p>
            <a:pPr algn="ctr" indent="0" marL="0">
              <a:buNone/>
            </a:pPr>
            <a:r>
              <a:rPr lang="en-US" sz="1100" b="1" dirty="0">
                <a:solidFill>
                  <a:srgbClr val="0F766E"/>
                </a:solidFill>
                <a:latin typeface="Segoe UI" pitchFamily="34" charset="0"/>
                <a:ea typeface="Segoe UI" pitchFamily="34" charset="-122"/>
                <a:cs typeface="Segoe UI" pitchFamily="34" charset="-120"/>
              </a:rPr>
              <a:t>4</a:t>
            </a:r>
            <a:endParaRPr lang="en-US" sz="1100" dirty="0"/>
          </a:p>
        </p:txBody>
      </p:sp>
      <p:sp>
        <p:nvSpPr>
          <p:cNvPr id="21" name="Text 19"/>
          <p:cNvSpPr/>
          <p:nvPr/>
        </p:nvSpPr>
        <p:spPr>
          <a:xfrm>
            <a:off x="6217920" y="3703320"/>
            <a:ext cx="1691640" cy="457200"/>
          </a:xfrm>
          <a:prstGeom prst="rect">
            <a:avLst/>
          </a:prstGeom>
          <a:noFill/>
          <a:ln/>
        </p:spPr>
        <p:txBody>
          <a:bodyPr wrap="square" rtlCol="0" anchor="ctr"/>
          <a:lstStyle/>
          <a:p>
            <a:pPr rtl="1" algn="ctr" indent="0" marL="0">
              <a:buNone/>
            </a:pPr>
            <a:r>
              <a:rPr lang="en-US" sz="1200" b="1" dirty="0">
                <a:solidFill>
                  <a:srgbClr val="0B1F4D"/>
                </a:solidFill>
                <a:latin typeface="Segoe UI" pitchFamily="34" charset="0"/>
                <a:ea typeface="Segoe UI" pitchFamily="34" charset="-122"/>
                <a:cs typeface="Segoe UI" pitchFamily="34" charset="-120"/>
              </a:rPr>
              <a:t>معدات (متجرك)</a:t>
            </a:r>
            <a:endParaRPr lang="en-US" sz="1200" dirty="0"/>
          </a:p>
        </p:txBody>
      </p:sp>
      <p:sp>
        <p:nvSpPr>
          <p:cNvPr id="22" name="Shape 20"/>
          <p:cNvSpPr/>
          <p:nvPr/>
        </p:nvSpPr>
        <p:spPr>
          <a:xfrm>
            <a:off x="8092440" y="3337560"/>
            <a:ext cx="1783080" cy="960120"/>
          </a:xfrm>
          <a:prstGeom prst="roundRect">
            <a:avLst>
              <a:gd name="adj" fmla="val 9524"/>
            </a:avLst>
          </a:prstGeom>
          <a:solidFill>
            <a:srgbClr val="EEF6F5"/>
          </a:solidFill>
          <a:ln w="12700">
            <a:solidFill>
              <a:srgbClr val="CCFBF1"/>
            </a:solidFill>
            <a:prstDash val="solid"/>
          </a:ln>
        </p:spPr>
      </p:sp>
      <p:sp>
        <p:nvSpPr>
          <p:cNvPr id="23" name="Text 21"/>
          <p:cNvSpPr/>
          <p:nvPr/>
        </p:nvSpPr>
        <p:spPr>
          <a:xfrm>
            <a:off x="8092440" y="3401568"/>
            <a:ext cx="1783080" cy="274320"/>
          </a:xfrm>
          <a:prstGeom prst="rect">
            <a:avLst/>
          </a:prstGeom>
          <a:noFill/>
          <a:ln/>
        </p:spPr>
        <p:txBody>
          <a:bodyPr wrap="square" rtlCol="0" anchor="ctr"/>
          <a:lstStyle/>
          <a:p>
            <a:pPr algn="ctr" indent="0" marL="0">
              <a:buNone/>
            </a:pPr>
            <a:r>
              <a:rPr lang="en-US" sz="1100" b="1" dirty="0">
                <a:solidFill>
                  <a:srgbClr val="0F766E"/>
                </a:solidFill>
                <a:latin typeface="Segoe UI" pitchFamily="34" charset="0"/>
                <a:ea typeface="Segoe UI" pitchFamily="34" charset="-122"/>
                <a:cs typeface="Segoe UI" pitchFamily="34" charset="-120"/>
              </a:rPr>
              <a:t>5</a:t>
            </a:r>
            <a:endParaRPr lang="en-US" sz="1100" dirty="0"/>
          </a:p>
        </p:txBody>
      </p:sp>
      <p:sp>
        <p:nvSpPr>
          <p:cNvPr id="24" name="Text 22"/>
          <p:cNvSpPr/>
          <p:nvPr/>
        </p:nvSpPr>
        <p:spPr>
          <a:xfrm>
            <a:off x="8138160" y="3703320"/>
            <a:ext cx="1691640" cy="457200"/>
          </a:xfrm>
          <a:prstGeom prst="rect">
            <a:avLst/>
          </a:prstGeom>
          <a:noFill/>
          <a:ln/>
        </p:spPr>
        <p:txBody>
          <a:bodyPr wrap="square" rtlCol="0" anchor="ctr"/>
          <a:lstStyle/>
          <a:p>
            <a:pPr rtl="1" algn="ctr" indent="0" marL="0">
              <a:buNone/>
            </a:pPr>
            <a:r>
              <a:rPr lang="en-US" sz="1200" b="1" dirty="0">
                <a:solidFill>
                  <a:srgbClr val="0B1F4D"/>
                </a:solidFill>
                <a:latin typeface="Segoe UI" pitchFamily="34" charset="0"/>
                <a:ea typeface="Segoe UI" pitchFamily="34" charset="-122"/>
                <a:cs typeface="Segoe UI" pitchFamily="34" charset="-120"/>
              </a:rPr>
              <a:t>كتابة</a:t>
            </a:r>
            <a:endParaRPr lang="en-US" sz="1200" dirty="0"/>
          </a:p>
        </p:txBody>
      </p:sp>
      <p:sp>
        <p:nvSpPr>
          <p:cNvPr id="25" name="Shape 23"/>
          <p:cNvSpPr/>
          <p:nvPr/>
        </p:nvSpPr>
        <p:spPr>
          <a:xfrm>
            <a:off x="10012680" y="3337560"/>
            <a:ext cx="1783080" cy="960120"/>
          </a:xfrm>
          <a:prstGeom prst="roundRect">
            <a:avLst>
              <a:gd name="adj" fmla="val 9524"/>
            </a:avLst>
          </a:prstGeom>
          <a:solidFill>
            <a:srgbClr val="EEF6F5"/>
          </a:solidFill>
          <a:ln w="12700">
            <a:solidFill>
              <a:srgbClr val="CCFBF1"/>
            </a:solidFill>
            <a:prstDash val="solid"/>
          </a:ln>
        </p:spPr>
      </p:sp>
      <p:sp>
        <p:nvSpPr>
          <p:cNvPr id="26" name="Text 24"/>
          <p:cNvSpPr/>
          <p:nvPr/>
        </p:nvSpPr>
        <p:spPr>
          <a:xfrm>
            <a:off x="10012680" y="3401568"/>
            <a:ext cx="1783080" cy="274320"/>
          </a:xfrm>
          <a:prstGeom prst="rect">
            <a:avLst/>
          </a:prstGeom>
          <a:noFill/>
          <a:ln/>
        </p:spPr>
        <p:txBody>
          <a:bodyPr wrap="square" rtlCol="0" anchor="ctr"/>
          <a:lstStyle/>
          <a:p>
            <a:pPr algn="ctr" indent="0" marL="0">
              <a:buNone/>
            </a:pPr>
            <a:r>
              <a:rPr lang="en-US" sz="1100" b="1" dirty="0">
                <a:solidFill>
                  <a:srgbClr val="0F766E"/>
                </a:solidFill>
                <a:latin typeface="Segoe UI" pitchFamily="34" charset="0"/>
                <a:ea typeface="Segoe UI" pitchFamily="34" charset="-122"/>
                <a:cs typeface="Segoe UI" pitchFamily="34" charset="-120"/>
              </a:rPr>
              <a:t>6</a:t>
            </a:r>
            <a:endParaRPr lang="en-US" sz="1100" dirty="0"/>
          </a:p>
        </p:txBody>
      </p:sp>
      <p:sp>
        <p:nvSpPr>
          <p:cNvPr id="27" name="Text 25"/>
          <p:cNvSpPr/>
          <p:nvPr/>
        </p:nvSpPr>
        <p:spPr>
          <a:xfrm>
            <a:off x="10058400" y="3703320"/>
            <a:ext cx="1691640" cy="457200"/>
          </a:xfrm>
          <a:prstGeom prst="rect">
            <a:avLst/>
          </a:prstGeom>
          <a:noFill/>
          <a:ln/>
        </p:spPr>
        <p:txBody>
          <a:bodyPr wrap="square" rtlCol="0" anchor="ctr"/>
          <a:lstStyle/>
          <a:p>
            <a:pPr rtl="1" algn="ctr" indent="0" marL="0">
              <a:buNone/>
            </a:pPr>
            <a:r>
              <a:rPr lang="en-US" sz="1200" b="1" dirty="0">
                <a:solidFill>
                  <a:srgbClr val="0B1F4D"/>
                </a:solidFill>
                <a:latin typeface="Segoe UI" pitchFamily="34" charset="0"/>
                <a:ea typeface="Segoe UI" pitchFamily="34" charset="-122"/>
                <a:cs typeface="Segoe UI" pitchFamily="34" charset="-120"/>
              </a:rPr>
              <a:t>مجتمع + AI</a:t>
            </a:r>
            <a:endParaRPr lang="en-US" sz="1200" dirty="0"/>
          </a:p>
        </p:txBody>
      </p:sp>
      <p:sp>
        <p:nvSpPr>
          <p:cNvPr id="28" name="Shape 26"/>
          <p:cNvSpPr/>
          <p:nvPr/>
        </p:nvSpPr>
        <p:spPr>
          <a:xfrm>
            <a:off x="411480" y="4572000"/>
            <a:ext cx="11368735" cy="1417320"/>
          </a:xfrm>
          <a:prstGeom prst="roundRect">
            <a:avLst>
              <a:gd name="adj" fmla="val 6452"/>
            </a:avLst>
          </a:prstGeom>
          <a:solidFill>
            <a:srgbClr val="FFFBEB"/>
          </a:solidFill>
          <a:ln w="12700">
            <a:solidFill>
              <a:srgbClr val="B45309"/>
            </a:solidFill>
            <a:prstDash val="solid"/>
          </a:ln>
        </p:spPr>
      </p:sp>
      <p:sp>
        <p:nvSpPr>
          <p:cNvPr id="29" name="Text 27"/>
          <p:cNvSpPr/>
          <p:nvPr/>
        </p:nvSpPr>
        <p:spPr>
          <a:xfrm>
            <a:off x="640080" y="4709160"/>
            <a:ext cx="10911535" cy="320040"/>
          </a:xfrm>
          <a:prstGeom prst="rect">
            <a:avLst/>
          </a:prstGeom>
          <a:noFill/>
          <a:ln/>
        </p:spPr>
        <p:txBody>
          <a:bodyPr wrap="square" rtlCol="0" anchor="ctr"/>
          <a:lstStyle/>
          <a:p>
            <a:pPr rtl="1" algn="r" indent="0" marL="0">
              <a:buNone/>
            </a:pPr>
            <a:r>
              <a:rPr lang="en-US" sz="1400" b="1" dirty="0">
                <a:solidFill>
                  <a:srgbClr val="B45309"/>
                </a:solidFill>
                <a:latin typeface="Segoe UI" pitchFamily="34" charset="0"/>
                <a:ea typeface="Segoe UI" pitchFamily="34" charset="-122"/>
                <a:cs typeface="Segoe UI" pitchFamily="34" charset="-120"/>
              </a:rPr>
              <a:t>ماذا يعني ذلك للمورد؟</a:t>
            </a:r>
            <a:endParaRPr lang="en-US" sz="1400" dirty="0"/>
          </a:p>
        </p:txBody>
      </p:sp>
      <p:sp>
        <p:nvSpPr>
          <p:cNvPr id="30" name="Text 28"/>
          <p:cNvSpPr/>
          <p:nvPr/>
        </p:nvSpPr>
        <p:spPr>
          <a:xfrm>
            <a:off x="640080" y="5074920"/>
            <a:ext cx="10911535" cy="777240"/>
          </a:xfrm>
          <a:prstGeom prst="rect">
            <a:avLst/>
          </a:prstGeom>
          <a:noFill/>
          <a:ln/>
        </p:spPr>
        <p:txBody>
          <a:bodyPr wrap="square" rtlCol="0" anchor="ctr"/>
          <a:lstStyle/>
          <a:p>
            <a:pPr rtl="1" algn="r" indent="0" marL="0">
              <a:buNone/>
            </a:pPr>
            <a:r>
              <a:rPr lang="en-US" sz="1300" dirty="0">
                <a:solidFill>
                  <a:srgbClr val="0F172A"/>
                </a:solidFill>
                <a:latin typeface="Segoe UI" pitchFamily="34" charset="0"/>
                <a:ea typeface="Segoe UI" pitchFamily="34" charset="-122"/>
                <a:cs typeface="Segoe UI" pitchFamily="34" charset="-120"/>
              </a:rPr>
              <a:t>المتجر ليس «إعلاناً منفصلاً». الباحث يعيش أسابيع داخل المنصة (ملف أكاديمي · مسار بحث · مختبرات · AI) — وعندما يحتاج كواشف أو أجهزة يصل إليك داخل نفس الرحلة، مع ثقة Escrow.</a:t>
            </a:r>
            <a:endParaRPr lang="en-US" sz="1300" dirty="0"/>
          </a:p>
        </p:txBody>
      </p:sp>
      <p:sp>
        <p:nvSpPr>
          <p:cNvPr id="31" name="Shape 29"/>
          <p:cNvSpPr/>
          <p:nvPr/>
        </p:nvSpPr>
        <p:spPr>
          <a:xfrm>
            <a:off x="0" y="6510528"/>
            <a:ext cx="12191695" cy="347472"/>
          </a:xfrm>
          <a:prstGeom prst="rect">
            <a:avLst/>
          </a:prstGeom>
          <a:solidFill>
            <a:srgbClr val="F8F5F0"/>
          </a:solidFill>
          <a:ln/>
        </p:spPr>
      </p:sp>
      <p:sp>
        <p:nvSpPr>
          <p:cNvPr id="32" name="Text 30"/>
          <p:cNvSpPr/>
          <p:nvPr/>
        </p:nvSpPr>
        <p:spPr>
          <a:xfrm>
            <a:off x="411480" y="6547104"/>
            <a:ext cx="8229600" cy="256032"/>
          </a:xfrm>
          <a:prstGeom prst="rect">
            <a:avLst/>
          </a:prstGeom>
          <a:noFill/>
          <a:ln/>
        </p:spPr>
        <p:txBody>
          <a:bodyPr wrap="square" rtlCol="0" anchor="ctr"/>
          <a:lstStyle/>
          <a:p>
            <a:pPr rtl="1" algn="r" indent="0" marL="0">
              <a:buNone/>
            </a:pPr>
            <a:r>
              <a:rPr lang="en-US" sz="1000" dirty="0">
                <a:solidFill>
                  <a:srgbClr val="475569"/>
                </a:solidFill>
                <a:latin typeface="Segoe UI" pitchFamily="34" charset="0"/>
                <a:ea typeface="Segoe UI" pitchFamily="34" charset="-122"/>
                <a:cs typeface="Segoe UI" pitchFamily="34" charset="-120"/>
              </a:rPr>
              <a:t>AcadeGate · عرض شراكة الموردين · محدّث ١٩ سبتمبر ٢٠٢٦</a:t>
            </a:r>
            <a:endParaRPr lang="en-US" sz="1000" dirty="0"/>
          </a:p>
        </p:txBody>
      </p:sp>
      <p:sp>
        <p:nvSpPr>
          <p:cNvPr id="33" name="Text 31"/>
          <p:cNvSpPr/>
          <p:nvPr/>
        </p:nvSpPr>
        <p:spPr>
          <a:xfrm>
            <a:off x="10682935" y="6547104"/>
            <a:ext cx="1097280" cy="256032"/>
          </a:xfrm>
          <a:prstGeom prst="rect">
            <a:avLst/>
          </a:prstGeom>
          <a:noFill/>
          <a:ln/>
        </p:spPr>
        <p:txBody>
          <a:bodyPr wrap="square" rtlCol="0" anchor="ctr"/>
          <a:lstStyle/>
          <a:p>
            <a:pPr algn="l" indent="0" marL="0">
              <a:buNone/>
            </a:pPr>
            <a:r>
              <a:rPr lang="en-US" sz="1000" dirty="0">
                <a:solidFill>
                  <a:srgbClr val="475569"/>
                </a:solidFill>
                <a:latin typeface="Segoe UI" pitchFamily="34" charset="0"/>
                <a:ea typeface="Segoe UI" pitchFamily="34" charset="-122"/>
                <a:cs typeface="Segoe UI" pitchFamily="34" charset="-120"/>
              </a:rPr>
              <a:t>3 / 16</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sp>
      <p:sp>
        <p:nvSpPr>
          <p:cNvPr id="3" name="Shape 1"/>
          <p:cNvSpPr/>
          <p:nvPr/>
        </p:nvSpPr>
        <p:spPr>
          <a:xfrm>
            <a:off x="411480" y="256032"/>
            <a:ext cx="109728" cy="502920"/>
          </a:xfrm>
          <a:prstGeom prst="rect">
            <a:avLst/>
          </a:prstGeom>
          <a:solidFill>
            <a:srgbClr val="0F766E"/>
          </a:solidFill>
          <a:ln/>
        </p:spPr>
      </p:sp>
      <p:sp>
        <p:nvSpPr>
          <p:cNvPr id="4" name="Text 2"/>
          <p:cNvSpPr/>
          <p:nvPr/>
        </p:nvSpPr>
        <p:spPr>
          <a:xfrm>
            <a:off x="612648" y="201168"/>
            <a:ext cx="11167567" cy="566928"/>
          </a:xfrm>
          <a:prstGeom prst="rect">
            <a:avLst/>
          </a:prstGeom>
          <a:noFill/>
          <a:ln/>
        </p:spPr>
        <p:txBody>
          <a:bodyPr wrap="square" rtlCol="0" anchor="ctr"/>
          <a:lstStyle/>
          <a:p>
            <a:pPr rtl="1" algn="r" indent="0" marL="0">
              <a:buNone/>
            </a:pPr>
            <a:r>
              <a:rPr lang="en-US" sz="2400" b="1" dirty="0">
                <a:solidFill>
                  <a:srgbClr val="0B1F4D"/>
                </a:solidFill>
                <a:latin typeface="Segoe UI" pitchFamily="34" charset="0"/>
                <a:ea typeface="Segoe UI" pitchFamily="34" charset="-122"/>
                <a:cs typeface="Segoe UI" pitchFamily="34" charset="-120"/>
              </a:rPr>
              <a:t>٢ — لماذا AcadeGate فرصة للمورد؟</a:t>
            </a:r>
            <a:endParaRPr lang="en-US" sz="2400" dirty="0"/>
          </a:p>
        </p:txBody>
      </p:sp>
      <p:sp>
        <p:nvSpPr>
          <p:cNvPr id="5" name="Shape 3"/>
          <p:cNvSpPr/>
          <p:nvPr/>
        </p:nvSpPr>
        <p:spPr>
          <a:xfrm>
            <a:off x="411480" y="822960"/>
            <a:ext cx="11368735" cy="32004"/>
          </a:xfrm>
          <a:prstGeom prst="rect">
            <a:avLst/>
          </a:prstGeom>
          <a:solidFill>
            <a:srgbClr val="0F766E"/>
          </a:solidFill>
          <a:ln/>
        </p:spPr>
      </p:sp>
      <p:sp>
        <p:nvSpPr>
          <p:cNvPr id="6" name="Text 4"/>
          <p:cNvSpPr/>
          <p:nvPr/>
        </p:nvSpPr>
        <p:spPr>
          <a:xfrm>
            <a:off x="411480" y="960120"/>
            <a:ext cx="11368735" cy="457200"/>
          </a:xfrm>
          <a:prstGeom prst="rect">
            <a:avLst/>
          </a:prstGeom>
          <a:noFill/>
          <a:ln/>
        </p:spPr>
        <p:txBody>
          <a:bodyPr wrap="square" rtlCol="0" anchor="ctr"/>
          <a:lstStyle/>
          <a:p>
            <a:pPr rtl="1" algn="r" indent="0" marL="0">
              <a:buNone/>
            </a:pPr>
            <a:r>
              <a:rPr lang="en-US" sz="1300" dirty="0">
                <a:solidFill>
                  <a:srgbClr val="475569"/>
                </a:solidFill>
                <a:latin typeface="Segoe UI" pitchFamily="34" charset="0"/>
                <a:ea typeface="Segoe UI" pitchFamily="34" charset="-122"/>
                <a:cs typeface="Segoe UI" pitchFamily="34" charset="-120"/>
              </a:rPr>
              <a:t>المشتري الأكاديمي يشتري بشكل متكرر لكنه مشتت بين واتساب ومجموعات ومواقع لا تفهم احتياجاته.</a:t>
            </a:r>
            <a:endParaRPr lang="en-US" sz="1300" dirty="0"/>
          </a:p>
        </p:txBody>
      </p:sp>
      <p:sp>
        <p:nvSpPr>
          <p:cNvPr id="7" name="Shape 5"/>
          <p:cNvSpPr/>
          <p:nvPr/>
        </p:nvSpPr>
        <p:spPr>
          <a:xfrm>
            <a:off x="411480" y="1554480"/>
            <a:ext cx="3611880" cy="1371600"/>
          </a:xfrm>
          <a:prstGeom prst="roundRect">
            <a:avLst>
              <a:gd name="adj" fmla="val 6667"/>
            </a:avLst>
          </a:prstGeom>
          <a:solidFill>
            <a:srgbClr val="EEF6F5"/>
          </a:solidFill>
          <a:ln w="12700">
            <a:solidFill>
              <a:srgbClr val="CCFBF1"/>
            </a:solidFill>
            <a:prstDash val="solid"/>
          </a:ln>
        </p:spPr>
      </p:sp>
      <p:sp>
        <p:nvSpPr>
          <p:cNvPr id="8" name="Text 6"/>
          <p:cNvSpPr/>
          <p:nvPr/>
        </p:nvSpPr>
        <p:spPr>
          <a:xfrm>
            <a:off x="548640" y="1691640"/>
            <a:ext cx="3337560" cy="411480"/>
          </a:xfrm>
          <a:prstGeom prst="rect">
            <a:avLst/>
          </a:prstGeom>
          <a:noFill/>
          <a:ln/>
        </p:spPr>
        <p:txBody>
          <a:bodyPr wrap="square" rtlCol="0" anchor="ctr"/>
          <a:lstStyle/>
          <a:p>
            <a:pPr rtl="1" algn="ctr" indent="0" marL="0">
              <a:buNone/>
            </a:pPr>
            <a:r>
              <a:rPr lang="en-US" sz="1800" b="1" dirty="0">
                <a:solidFill>
                  <a:srgbClr val="0B1F4D"/>
                </a:solidFill>
                <a:latin typeface="Segoe UI" pitchFamily="34" charset="0"/>
                <a:ea typeface="Segoe UI" pitchFamily="34" charset="-122"/>
                <a:cs typeface="Segoe UI" pitchFamily="34" charset="-120"/>
              </a:rPr>
              <a:t>عميل مقصود</a:t>
            </a:r>
            <a:endParaRPr lang="en-US" sz="1800" dirty="0"/>
          </a:p>
        </p:txBody>
      </p:sp>
      <p:sp>
        <p:nvSpPr>
          <p:cNvPr id="9" name="Text 7"/>
          <p:cNvSpPr/>
          <p:nvPr/>
        </p:nvSpPr>
        <p:spPr>
          <a:xfrm>
            <a:off x="548640" y="2194560"/>
            <a:ext cx="3337560" cy="502920"/>
          </a:xfrm>
          <a:prstGeom prst="rect">
            <a:avLst/>
          </a:prstGeom>
          <a:noFill/>
          <a:ln/>
        </p:spPr>
        <p:txBody>
          <a:bodyPr wrap="square" rtlCol="0" anchor="ctr"/>
          <a:lstStyle/>
          <a:p>
            <a:pPr rtl="1" algn="ctr" indent="0" marL="0">
              <a:buNone/>
            </a:pPr>
            <a:r>
              <a:rPr lang="en-US" sz="1200" dirty="0">
                <a:solidFill>
                  <a:srgbClr val="475569"/>
                </a:solidFill>
                <a:latin typeface="Segoe UI" pitchFamily="34" charset="0"/>
                <a:ea typeface="Segoe UI" pitchFamily="34" charset="-122"/>
                <a:cs typeface="Segoe UI" pitchFamily="34" charset="-120"/>
              </a:rPr>
              <a:t>باحث يبحث عن منتج محدد، لا متصفح عشوائي</a:t>
            </a:r>
            <a:endParaRPr lang="en-US" sz="1200" dirty="0"/>
          </a:p>
        </p:txBody>
      </p:sp>
      <p:sp>
        <p:nvSpPr>
          <p:cNvPr id="10" name="Shape 8"/>
          <p:cNvSpPr/>
          <p:nvPr/>
        </p:nvSpPr>
        <p:spPr>
          <a:xfrm>
            <a:off x="4206240" y="1554480"/>
            <a:ext cx="3611880" cy="1371600"/>
          </a:xfrm>
          <a:prstGeom prst="roundRect">
            <a:avLst>
              <a:gd name="adj" fmla="val 6667"/>
            </a:avLst>
          </a:prstGeom>
          <a:solidFill>
            <a:srgbClr val="EEF6F5"/>
          </a:solidFill>
          <a:ln w="12700">
            <a:solidFill>
              <a:srgbClr val="CCFBF1"/>
            </a:solidFill>
            <a:prstDash val="solid"/>
          </a:ln>
        </p:spPr>
      </p:sp>
      <p:sp>
        <p:nvSpPr>
          <p:cNvPr id="11" name="Text 9"/>
          <p:cNvSpPr/>
          <p:nvPr/>
        </p:nvSpPr>
        <p:spPr>
          <a:xfrm>
            <a:off x="4343400" y="1691640"/>
            <a:ext cx="3337560" cy="411480"/>
          </a:xfrm>
          <a:prstGeom prst="rect">
            <a:avLst/>
          </a:prstGeom>
          <a:noFill/>
          <a:ln/>
        </p:spPr>
        <p:txBody>
          <a:bodyPr wrap="square" rtlCol="0" anchor="ctr"/>
          <a:lstStyle/>
          <a:p>
            <a:pPr rtl="1" algn="ctr" indent="0" marL="0">
              <a:buNone/>
            </a:pPr>
            <a:r>
              <a:rPr lang="en-US" sz="1800" b="1" dirty="0">
                <a:solidFill>
                  <a:srgbClr val="0B1F4D"/>
                </a:solidFill>
                <a:latin typeface="Segoe UI" pitchFamily="34" charset="0"/>
                <a:ea typeface="Segoe UI" pitchFamily="34" charset="-122"/>
                <a:cs typeface="Segoe UI" pitchFamily="34" charset="-120"/>
              </a:rPr>
              <a:t>ثقة أعلى</a:t>
            </a:r>
            <a:endParaRPr lang="en-US" sz="1800" dirty="0"/>
          </a:p>
        </p:txBody>
      </p:sp>
      <p:sp>
        <p:nvSpPr>
          <p:cNvPr id="12" name="Text 10"/>
          <p:cNvSpPr/>
          <p:nvPr/>
        </p:nvSpPr>
        <p:spPr>
          <a:xfrm>
            <a:off x="4343400" y="2194560"/>
            <a:ext cx="3337560" cy="502920"/>
          </a:xfrm>
          <a:prstGeom prst="rect">
            <a:avLst/>
          </a:prstGeom>
          <a:noFill/>
          <a:ln/>
        </p:spPr>
        <p:txBody>
          <a:bodyPr wrap="square" rtlCol="0" anchor="ctr"/>
          <a:lstStyle/>
          <a:p>
            <a:pPr rtl="1" algn="ctr" indent="0" marL="0">
              <a:buNone/>
            </a:pPr>
            <a:r>
              <a:rPr lang="en-US" sz="1200" dirty="0">
                <a:solidFill>
                  <a:srgbClr val="475569"/>
                </a:solidFill>
                <a:latin typeface="Segoe UI" pitchFamily="34" charset="0"/>
                <a:ea typeface="Segoe UI" pitchFamily="34" charset="-122"/>
                <a:cs typeface="Segoe UI" pitchFamily="34" charset="-120"/>
              </a:rPr>
              <a:t>ضمان حجز المبلغ حتى تأكيد الاستلام</a:t>
            </a:r>
            <a:endParaRPr lang="en-US" sz="1200" dirty="0"/>
          </a:p>
        </p:txBody>
      </p:sp>
      <p:sp>
        <p:nvSpPr>
          <p:cNvPr id="13" name="Shape 11"/>
          <p:cNvSpPr/>
          <p:nvPr/>
        </p:nvSpPr>
        <p:spPr>
          <a:xfrm>
            <a:off x="8001000" y="1554480"/>
            <a:ext cx="3611880" cy="1371600"/>
          </a:xfrm>
          <a:prstGeom prst="roundRect">
            <a:avLst>
              <a:gd name="adj" fmla="val 6667"/>
            </a:avLst>
          </a:prstGeom>
          <a:solidFill>
            <a:srgbClr val="EEF6F5"/>
          </a:solidFill>
          <a:ln w="12700">
            <a:solidFill>
              <a:srgbClr val="CCFBF1"/>
            </a:solidFill>
            <a:prstDash val="solid"/>
          </a:ln>
        </p:spPr>
      </p:sp>
      <p:sp>
        <p:nvSpPr>
          <p:cNvPr id="14" name="Text 12"/>
          <p:cNvSpPr/>
          <p:nvPr/>
        </p:nvSpPr>
        <p:spPr>
          <a:xfrm>
            <a:off x="8138160" y="1691640"/>
            <a:ext cx="3337560" cy="411480"/>
          </a:xfrm>
          <a:prstGeom prst="rect">
            <a:avLst/>
          </a:prstGeom>
          <a:noFill/>
          <a:ln/>
        </p:spPr>
        <p:txBody>
          <a:bodyPr wrap="square" rtlCol="0" anchor="ctr"/>
          <a:lstStyle/>
          <a:p>
            <a:pPr rtl="1" algn="ctr" indent="0" marL="0">
              <a:buNone/>
            </a:pPr>
            <a:r>
              <a:rPr lang="en-US" sz="1800" b="1" dirty="0">
                <a:solidFill>
                  <a:srgbClr val="0B1F4D"/>
                </a:solidFill>
                <a:latin typeface="Segoe UI" pitchFamily="34" charset="0"/>
                <a:ea typeface="Segoe UI" pitchFamily="34" charset="-122"/>
                <a:cs typeface="Segoe UI" pitchFamily="34" charset="-120"/>
              </a:rPr>
              <a:t>ظهور متخصص</a:t>
            </a:r>
            <a:endParaRPr lang="en-US" sz="1800" dirty="0"/>
          </a:p>
        </p:txBody>
      </p:sp>
      <p:sp>
        <p:nvSpPr>
          <p:cNvPr id="15" name="Text 13"/>
          <p:cNvSpPr/>
          <p:nvPr/>
        </p:nvSpPr>
        <p:spPr>
          <a:xfrm>
            <a:off x="8138160" y="2194560"/>
            <a:ext cx="3337560" cy="502920"/>
          </a:xfrm>
          <a:prstGeom prst="rect">
            <a:avLst/>
          </a:prstGeom>
          <a:noFill/>
          <a:ln/>
        </p:spPr>
        <p:txBody>
          <a:bodyPr wrap="square" rtlCol="0" anchor="ctr"/>
          <a:lstStyle/>
          <a:p>
            <a:pPr rtl="1" algn="ctr" indent="0" marL="0">
              <a:buNone/>
            </a:pPr>
            <a:r>
              <a:rPr lang="en-US" sz="1200" dirty="0">
                <a:solidFill>
                  <a:srgbClr val="475569"/>
                </a:solidFill>
                <a:latin typeface="Segoe UI" pitchFamily="34" charset="0"/>
                <a:ea typeface="Segoe UI" pitchFamily="34" charset="-122"/>
                <a:cs typeface="Segoe UI" pitchFamily="34" charset="-120"/>
              </a:rPr>
              <a:t>١٥ قسماً أكاديمياً — لا منافسة سوبرماركت</a:t>
            </a:r>
            <a:endParaRPr lang="en-US" sz="1200" dirty="0"/>
          </a:p>
        </p:txBody>
      </p:sp>
      <p:sp>
        <p:nvSpPr>
          <p:cNvPr id="16" name="Text 14"/>
          <p:cNvSpPr/>
          <p:nvPr/>
        </p:nvSpPr>
        <p:spPr>
          <a:xfrm>
            <a:off x="411480" y="3200400"/>
            <a:ext cx="11368735" cy="320040"/>
          </a:xfrm>
          <a:prstGeom prst="rect">
            <a:avLst/>
          </a:prstGeom>
          <a:noFill/>
          <a:ln/>
        </p:spPr>
        <p:txBody>
          <a:bodyPr wrap="square" rtlCol="0" anchor="ctr"/>
          <a:lstStyle/>
          <a:p>
            <a:pPr rtl="1" algn="r" indent="0" marL="0">
              <a:buNone/>
            </a:pPr>
            <a:r>
              <a:rPr lang="en-US" sz="1500" b="1" dirty="0">
                <a:solidFill>
                  <a:srgbClr val="0F766E"/>
                </a:solidFill>
                <a:latin typeface="Segoe UI" pitchFamily="34" charset="0"/>
                <a:ea typeface="Segoe UI" pitchFamily="34" charset="-122"/>
                <a:cs typeface="Segoe UI" pitchFamily="34" charset="-120"/>
              </a:rPr>
              <a:t>ما الذي نخسره اليوم بدون منصة؟</a:t>
            </a:r>
            <a:endParaRPr lang="en-US" sz="1500" dirty="0"/>
          </a:p>
        </p:txBody>
      </p:sp>
      <p:sp>
        <p:nvSpPr>
          <p:cNvPr id="17" name="Shape 15"/>
          <p:cNvSpPr/>
          <p:nvPr/>
        </p:nvSpPr>
        <p:spPr>
          <a:xfrm>
            <a:off x="411480" y="3657600"/>
            <a:ext cx="2743200" cy="2148840"/>
          </a:xfrm>
          <a:prstGeom prst="roundRect">
            <a:avLst>
              <a:gd name="adj" fmla="val 4255"/>
            </a:avLst>
          </a:prstGeom>
          <a:solidFill>
            <a:srgbClr val="FFFFFF"/>
          </a:solidFill>
          <a:ln w="12700">
            <a:solidFill>
              <a:srgbClr val="D6D3D1"/>
            </a:solidFill>
            <a:prstDash val="solid"/>
          </a:ln>
        </p:spPr>
      </p:sp>
      <p:sp>
        <p:nvSpPr>
          <p:cNvPr id="18" name="Text 16"/>
          <p:cNvSpPr/>
          <p:nvPr/>
        </p:nvSpPr>
        <p:spPr>
          <a:xfrm>
            <a:off x="548640" y="3886200"/>
            <a:ext cx="2468880" cy="640080"/>
          </a:xfrm>
          <a:prstGeom prst="rect">
            <a:avLst/>
          </a:prstGeom>
          <a:noFill/>
          <a:ln/>
        </p:spPr>
        <p:txBody>
          <a:bodyPr wrap="square" rtlCol="0" anchor="ctr"/>
          <a:lstStyle/>
          <a:p>
            <a:pPr rtl="1" algn="r" indent="0" marL="0">
              <a:buNone/>
            </a:pPr>
            <a:r>
              <a:rPr lang="en-US" sz="1400" b="1" dirty="0">
                <a:solidFill>
                  <a:srgbClr val="0B1F4D"/>
                </a:solidFill>
                <a:latin typeface="Segoe UI" pitchFamily="34" charset="0"/>
                <a:ea typeface="Segoe UI" pitchFamily="34" charset="-122"/>
                <a:cs typeface="Segoe UI" pitchFamily="34" charset="-120"/>
              </a:rPr>
              <a:t>قنوات غير منظمة</a:t>
            </a:r>
            <a:endParaRPr lang="en-US" sz="1400" dirty="0"/>
          </a:p>
        </p:txBody>
      </p:sp>
      <p:sp>
        <p:nvSpPr>
          <p:cNvPr id="19" name="Text 17"/>
          <p:cNvSpPr/>
          <p:nvPr/>
        </p:nvSpPr>
        <p:spPr>
          <a:xfrm>
            <a:off x="548640" y="4663440"/>
            <a:ext cx="2468880" cy="822960"/>
          </a:xfrm>
          <a:prstGeom prst="rect">
            <a:avLst/>
          </a:prstGeom>
          <a:noFill/>
          <a:ln/>
        </p:spPr>
        <p:txBody>
          <a:bodyPr wrap="square" rtlCol="0" anchor="ctr"/>
          <a:lstStyle/>
          <a:p>
            <a:pPr rtl="1" algn="r" indent="0" marL="0">
              <a:buNone/>
            </a:pPr>
            <a:r>
              <a:rPr lang="en-US" sz="1300" dirty="0">
                <a:solidFill>
                  <a:srgbClr val="475569"/>
                </a:solidFill>
                <a:latin typeface="Segoe UI" pitchFamily="34" charset="0"/>
                <a:ea typeface="Segoe UI" pitchFamily="34" charset="-122"/>
                <a:cs typeface="Segoe UI" pitchFamily="34" charset="-120"/>
              </a:rPr>
              <a:t>طلبات بلا سجل ولا متابعة</a:t>
            </a:r>
            <a:endParaRPr lang="en-US" sz="1300" dirty="0"/>
          </a:p>
        </p:txBody>
      </p:sp>
      <p:sp>
        <p:nvSpPr>
          <p:cNvPr id="20" name="Shape 18"/>
          <p:cNvSpPr/>
          <p:nvPr/>
        </p:nvSpPr>
        <p:spPr>
          <a:xfrm>
            <a:off x="3291840" y="3657600"/>
            <a:ext cx="2743200" cy="2148840"/>
          </a:xfrm>
          <a:prstGeom prst="roundRect">
            <a:avLst>
              <a:gd name="adj" fmla="val 4255"/>
            </a:avLst>
          </a:prstGeom>
          <a:solidFill>
            <a:srgbClr val="FFFFFF"/>
          </a:solidFill>
          <a:ln w="12700">
            <a:solidFill>
              <a:srgbClr val="D6D3D1"/>
            </a:solidFill>
            <a:prstDash val="solid"/>
          </a:ln>
        </p:spPr>
      </p:sp>
      <p:sp>
        <p:nvSpPr>
          <p:cNvPr id="21" name="Text 19"/>
          <p:cNvSpPr/>
          <p:nvPr/>
        </p:nvSpPr>
        <p:spPr>
          <a:xfrm>
            <a:off x="3429000" y="3886200"/>
            <a:ext cx="2468880" cy="640080"/>
          </a:xfrm>
          <a:prstGeom prst="rect">
            <a:avLst/>
          </a:prstGeom>
          <a:noFill/>
          <a:ln/>
        </p:spPr>
        <p:txBody>
          <a:bodyPr wrap="square" rtlCol="0" anchor="ctr"/>
          <a:lstStyle/>
          <a:p>
            <a:pPr rtl="1" algn="r" indent="0" marL="0">
              <a:buNone/>
            </a:pPr>
            <a:r>
              <a:rPr lang="en-US" sz="1400" b="1" dirty="0">
                <a:solidFill>
                  <a:srgbClr val="0B1F4D"/>
                </a:solidFill>
                <a:latin typeface="Segoe UI" pitchFamily="34" charset="0"/>
                <a:ea typeface="Segoe UI" pitchFamily="34" charset="-122"/>
                <a:cs typeface="Segoe UI" pitchFamily="34" charset="-120"/>
              </a:rPr>
              <a:t>خلافات دفع</a:t>
            </a:r>
            <a:endParaRPr lang="en-US" sz="1400" dirty="0"/>
          </a:p>
        </p:txBody>
      </p:sp>
      <p:sp>
        <p:nvSpPr>
          <p:cNvPr id="22" name="Text 20"/>
          <p:cNvSpPr/>
          <p:nvPr/>
        </p:nvSpPr>
        <p:spPr>
          <a:xfrm>
            <a:off x="3429000" y="4663440"/>
            <a:ext cx="2468880" cy="822960"/>
          </a:xfrm>
          <a:prstGeom prst="rect">
            <a:avLst/>
          </a:prstGeom>
          <a:noFill/>
          <a:ln/>
        </p:spPr>
        <p:txBody>
          <a:bodyPr wrap="square" rtlCol="0" anchor="ctr"/>
          <a:lstStyle/>
          <a:p>
            <a:pPr rtl="1" algn="r" indent="0" marL="0">
              <a:buNone/>
            </a:pPr>
            <a:r>
              <a:rPr lang="en-US" sz="1300" dirty="0">
                <a:solidFill>
                  <a:srgbClr val="475569"/>
                </a:solidFill>
                <a:latin typeface="Segoe UI" pitchFamily="34" charset="0"/>
                <a:ea typeface="Segoe UI" pitchFamily="34" charset="-122"/>
                <a:cs typeface="Segoe UI" pitchFamily="34" charset="-120"/>
              </a:rPr>
              <a:t>بدون وسيط محايد عند التحويل</a:t>
            </a:r>
            <a:endParaRPr lang="en-US" sz="1300" dirty="0"/>
          </a:p>
        </p:txBody>
      </p:sp>
      <p:sp>
        <p:nvSpPr>
          <p:cNvPr id="23" name="Shape 21"/>
          <p:cNvSpPr/>
          <p:nvPr/>
        </p:nvSpPr>
        <p:spPr>
          <a:xfrm>
            <a:off x="6172200" y="3657600"/>
            <a:ext cx="2743200" cy="2148840"/>
          </a:xfrm>
          <a:prstGeom prst="roundRect">
            <a:avLst>
              <a:gd name="adj" fmla="val 4255"/>
            </a:avLst>
          </a:prstGeom>
          <a:solidFill>
            <a:srgbClr val="FFFFFF"/>
          </a:solidFill>
          <a:ln w="12700">
            <a:solidFill>
              <a:srgbClr val="D6D3D1"/>
            </a:solidFill>
            <a:prstDash val="solid"/>
          </a:ln>
        </p:spPr>
      </p:sp>
      <p:sp>
        <p:nvSpPr>
          <p:cNvPr id="24" name="Text 22"/>
          <p:cNvSpPr/>
          <p:nvPr/>
        </p:nvSpPr>
        <p:spPr>
          <a:xfrm>
            <a:off x="6309360" y="3886200"/>
            <a:ext cx="2468880" cy="640080"/>
          </a:xfrm>
          <a:prstGeom prst="rect">
            <a:avLst/>
          </a:prstGeom>
          <a:noFill/>
          <a:ln/>
        </p:spPr>
        <p:txBody>
          <a:bodyPr wrap="square" rtlCol="0" anchor="ctr"/>
          <a:lstStyle/>
          <a:p>
            <a:pPr rtl="1" algn="r" indent="0" marL="0">
              <a:buNone/>
            </a:pPr>
            <a:r>
              <a:rPr lang="en-US" sz="1400" b="1" dirty="0">
                <a:solidFill>
                  <a:srgbClr val="0B1F4D"/>
                </a:solidFill>
                <a:latin typeface="Segoe UI" pitchFamily="34" charset="0"/>
                <a:ea typeface="Segoe UI" pitchFamily="34" charset="-122"/>
                <a:cs typeface="Segoe UI" pitchFamily="34" charset="-120"/>
              </a:rPr>
              <a:t>وصول محدود</a:t>
            </a:r>
            <a:endParaRPr lang="en-US" sz="1400" dirty="0"/>
          </a:p>
        </p:txBody>
      </p:sp>
      <p:sp>
        <p:nvSpPr>
          <p:cNvPr id="25" name="Text 23"/>
          <p:cNvSpPr/>
          <p:nvPr/>
        </p:nvSpPr>
        <p:spPr>
          <a:xfrm>
            <a:off x="6309360" y="4663440"/>
            <a:ext cx="2468880" cy="822960"/>
          </a:xfrm>
          <a:prstGeom prst="rect">
            <a:avLst/>
          </a:prstGeom>
          <a:noFill/>
          <a:ln/>
        </p:spPr>
        <p:txBody>
          <a:bodyPr wrap="square" rtlCol="0" anchor="ctr"/>
          <a:lstStyle/>
          <a:p>
            <a:pPr rtl="1" algn="r" indent="0" marL="0">
              <a:buNone/>
            </a:pPr>
            <a:r>
              <a:rPr lang="en-US" sz="1300" dirty="0">
                <a:solidFill>
                  <a:srgbClr val="475569"/>
                </a:solidFill>
                <a:latin typeface="Segoe UI" pitchFamily="34" charset="0"/>
                <a:ea typeface="Segoe UI" pitchFamily="34" charset="-122"/>
                <a:cs typeface="Segoe UI" pitchFamily="34" charset="-120"/>
              </a:rPr>
              <a:t>خارج شبكة علاقاتك الحالية</a:t>
            </a:r>
            <a:endParaRPr lang="en-US" sz="1300" dirty="0"/>
          </a:p>
        </p:txBody>
      </p:sp>
      <p:sp>
        <p:nvSpPr>
          <p:cNvPr id="26" name="Shape 24"/>
          <p:cNvSpPr/>
          <p:nvPr/>
        </p:nvSpPr>
        <p:spPr>
          <a:xfrm>
            <a:off x="9052560" y="3657600"/>
            <a:ext cx="2743200" cy="2148840"/>
          </a:xfrm>
          <a:prstGeom prst="roundRect">
            <a:avLst>
              <a:gd name="adj" fmla="val 4255"/>
            </a:avLst>
          </a:prstGeom>
          <a:solidFill>
            <a:srgbClr val="FFFFFF"/>
          </a:solidFill>
          <a:ln w="12700">
            <a:solidFill>
              <a:srgbClr val="D6D3D1"/>
            </a:solidFill>
            <a:prstDash val="solid"/>
          </a:ln>
        </p:spPr>
      </p:sp>
      <p:sp>
        <p:nvSpPr>
          <p:cNvPr id="27" name="Text 25"/>
          <p:cNvSpPr/>
          <p:nvPr/>
        </p:nvSpPr>
        <p:spPr>
          <a:xfrm>
            <a:off x="9189720" y="3886200"/>
            <a:ext cx="2468880" cy="640080"/>
          </a:xfrm>
          <a:prstGeom prst="rect">
            <a:avLst/>
          </a:prstGeom>
          <a:noFill/>
          <a:ln/>
        </p:spPr>
        <p:txBody>
          <a:bodyPr wrap="square" rtlCol="0" anchor="ctr"/>
          <a:lstStyle/>
          <a:p>
            <a:pPr rtl="1" algn="r" indent="0" marL="0">
              <a:buNone/>
            </a:pPr>
            <a:r>
              <a:rPr lang="en-US" sz="1400" b="1" dirty="0">
                <a:solidFill>
                  <a:srgbClr val="0B1F4D"/>
                </a:solidFill>
                <a:latin typeface="Segoe UI" pitchFamily="34" charset="0"/>
                <a:ea typeface="Segoe UI" pitchFamily="34" charset="-122"/>
                <a:cs typeface="Segoe UI" pitchFamily="34" charset="-120"/>
              </a:rPr>
              <a:t>بلا سمعة رقمية</a:t>
            </a:r>
            <a:endParaRPr lang="en-US" sz="1400" dirty="0"/>
          </a:p>
        </p:txBody>
      </p:sp>
      <p:sp>
        <p:nvSpPr>
          <p:cNvPr id="28" name="Text 26"/>
          <p:cNvSpPr/>
          <p:nvPr/>
        </p:nvSpPr>
        <p:spPr>
          <a:xfrm>
            <a:off x="9189720" y="4663440"/>
            <a:ext cx="2468880" cy="822960"/>
          </a:xfrm>
          <a:prstGeom prst="rect">
            <a:avLst/>
          </a:prstGeom>
          <a:noFill/>
          <a:ln/>
        </p:spPr>
        <p:txBody>
          <a:bodyPr wrap="square" rtlCol="0" anchor="ctr"/>
          <a:lstStyle/>
          <a:p>
            <a:pPr rtl="1" algn="r" indent="0" marL="0">
              <a:buNone/>
            </a:pPr>
            <a:r>
              <a:rPr lang="en-US" sz="1300" dirty="0">
                <a:solidFill>
                  <a:srgbClr val="475569"/>
                </a:solidFill>
                <a:latin typeface="Segoe UI" pitchFamily="34" charset="0"/>
                <a:ea typeface="Segoe UI" pitchFamily="34" charset="-122"/>
                <a:cs typeface="Segoe UI" pitchFamily="34" charset="-120"/>
              </a:rPr>
              <a:t>لا تقييم أكاديمي لمنتجاتك</a:t>
            </a:r>
            <a:endParaRPr lang="en-US" sz="1300" dirty="0"/>
          </a:p>
        </p:txBody>
      </p:sp>
      <p:sp>
        <p:nvSpPr>
          <p:cNvPr id="29" name="Shape 27"/>
          <p:cNvSpPr/>
          <p:nvPr/>
        </p:nvSpPr>
        <p:spPr>
          <a:xfrm>
            <a:off x="0" y="6510528"/>
            <a:ext cx="12191695" cy="347472"/>
          </a:xfrm>
          <a:prstGeom prst="rect">
            <a:avLst/>
          </a:prstGeom>
          <a:solidFill>
            <a:srgbClr val="F8F5F0"/>
          </a:solidFill>
          <a:ln/>
        </p:spPr>
      </p:sp>
      <p:sp>
        <p:nvSpPr>
          <p:cNvPr id="30" name="Text 28"/>
          <p:cNvSpPr/>
          <p:nvPr/>
        </p:nvSpPr>
        <p:spPr>
          <a:xfrm>
            <a:off x="411480" y="6547104"/>
            <a:ext cx="8229600" cy="256032"/>
          </a:xfrm>
          <a:prstGeom prst="rect">
            <a:avLst/>
          </a:prstGeom>
          <a:noFill/>
          <a:ln/>
        </p:spPr>
        <p:txBody>
          <a:bodyPr wrap="square" rtlCol="0" anchor="ctr"/>
          <a:lstStyle/>
          <a:p>
            <a:pPr rtl="1" algn="r" indent="0" marL="0">
              <a:buNone/>
            </a:pPr>
            <a:r>
              <a:rPr lang="en-US" sz="1000" dirty="0">
                <a:solidFill>
                  <a:srgbClr val="475569"/>
                </a:solidFill>
                <a:latin typeface="Segoe UI" pitchFamily="34" charset="0"/>
                <a:ea typeface="Segoe UI" pitchFamily="34" charset="-122"/>
                <a:cs typeface="Segoe UI" pitchFamily="34" charset="-120"/>
              </a:rPr>
              <a:t>AcadeGate · عرض شراكة الموردين · محدّث ١٩ سبتمبر ٢٠٢٦</a:t>
            </a:r>
            <a:endParaRPr lang="en-US" sz="1000" dirty="0"/>
          </a:p>
        </p:txBody>
      </p:sp>
      <p:sp>
        <p:nvSpPr>
          <p:cNvPr id="31" name="Text 29"/>
          <p:cNvSpPr/>
          <p:nvPr/>
        </p:nvSpPr>
        <p:spPr>
          <a:xfrm>
            <a:off x="10682935" y="6547104"/>
            <a:ext cx="1097280" cy="256032"/>
          </a:xfrm>
          <a:prstGeom prst="rect">
            <a:avLst/>
          </a:prstGeom>
          <a:noFill/>
          <a:ln/>
        </p:spPr>
        <p:txBody>
          <a:bodyPr wrap="square" rtlCol="0" anchor="ctr"/>
          <a:lstStyle/>
          <a:p>
            <a:pPr algn="l" indent="0" marL="0">
              <a:buNone/>
            </a:pPr>
            <a:r>
              <a:rPr lang="en-US" sz="1000" dirty="0">
                <a:solidFill>
                  <a:srgbClr val="475569"/>
                </a:solidFill>
                <a:latin typeface="Segoe UI" pitchFamily="34" charset="0"/>
                <a:ea typeface="Segoe UI" pitchFamily="34" charset="-122"/>
                <a:cs typeface="Segoe UI" pitchFamily="34" charset="-120"/>
              </a:rPr>
              <a:t>4 / 16</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sp>
      <p:sp>
        <p:nvSpPr>
          <p:cNvPr id="3" name="Shape 1"/>
          <p:cNvSpPr/>
          <p:nvPr/>
        </p:nvSpPr>
        <p:spPr>
          <a:xfrm>
            <a:off x="411480" y="256032"/>
            <a:ext cx="109728" cy="502920"/>
          </a:xfrm>
          <a:prstGeom prst="rect">
            <a:avLst/>
          </a:prstGeom>
          <a:solidFill>
            <a:srgbClr val="0F766E"/>
          </a:solidFill>
          <a:ln/>
        </p:spPr>
      </p:sp>
      <p:sp>
        <p:nvSpPr>
          <p:cNvPr id="4" name="Text 2"/>
          <p:cNvSpPr/>
          <p:nvPr/>
        </p:nvSpPr>
        <p:spPr>
          <a:xfrm>
            <a:off x="612648" y="201168"/>
            <a:ext cx="11167567" cy="566928"/>
          </a:xfrm>
          <a:prstGeom prst="rect">
            <a:avLst/>
          </a:prstGeom>
          <a:noFill/>
          <a:ln/>
        </p:spPr>
        <p:txBody>
          <a:bodyPr wrap="square" rtlCol="0" anchor="ctr"/>
          <a:lstStyle/>
          <a:p>
            <a:pPr rtl="1" algn="r" indent="0" marL="0">
              <a:buNone/>
            </a:pPr>
            <a:r>
              <a:rPr lang="en-US" sz="2400" b="1" dirty="0">
                <a:solidFill>
                  <a:srgbClr val="0B1F4D"/>
                </a:solidFill>
                <a:latin typeface="Segoe UI" pitchFamily="34" charset="0"/>
                <a:ea typeface="Segoe UI" pitchFamily="34" charset="-122"/>
                <a:cs typeface="Segoe UI" pitchFamily="34" charset="-120"/>
              </a:rPr>
              <a:t>٣ — ماذا تقدّم المنصة ككل؟</a:t>
            </a:r>
            <a:endParaRPr lang="en-US" sz="2400" dirty="0"/>
          </a:p>
        </p:txBody>
      </p:sp>
      <p:sp>
        <p:nvSpPr>
          <p:cNvPr id="5" name="Shape 3"/>
          <p:cNvSpPr/>
          <p:nvPr/>
        </p:nvSpPr>
        <p:spPr>
          <a:xfrm>
            <a:off x="411480" y="822960"/>
            <a:ext cx="11368735" cy="32004"/>
          </a:xfrm>
          <a:prstGeom prst="rect">
            <a:avLst/>
          </a:prstGeom>
          <a:solidFill>
            <a:srgbClr val="0F766E"/>
          </a:solidFill>
          <a:ln/>
        </p:spPr>
      </p:sp>
      <p:sp>
        <p:nvSpPr>
          <p:cNvPr id="6" name="Text 4"/>
          <p:cNvSpPr/>
          <p:nvPr/>
        </p:nvSpPr>
        <p:spPr>
          <a:xfrm>
            <a:off x="411480" y="960120"/>
            <a:ext cx="11368735" cy="457200"/>
          </a:xfrm>
          <a:prstGeom prst="rect">
            <a:avLst/>
          </a:prstGeom>
          <a:noFill/>
          <a:ln/>
        </p:spPr>
        <p:txBody>
          <a:bodyPr wrap="square" rtlCol="0" anchor="ctr"/>
          <a:lstStyle/>
          <a:p>
            <a:pPr rtl="1" algn="r" indent="0" marL="0">
              <a:buNone/>
            </a:pPr>
            <a:r>
              <a:rPr lang="en-US" sz="1300" dirty="0">
                <a:solidFill>
                  <a:srgbClr val="475569"/>
                </a:solidFill>
                <a:latin typeface="Segoe UI" pitchFamily="34" charset="0"/>
                <a:ea typeface="Segoe UI" pitchFamily="34" charset="-122"/>
                <a:cs typeface="Segoe UI" pitchFamily="34" charset="-120"/>
              </a:rPr>
              <a:t>قوة المتجر = الباحث يعيش داخل المنصة أسابيع — لا زيارة واحدة ويختفي.</a:t>
            </a:r>
            <a:endParaRPr lang="en-US" sz="1300" dirty="0"/>
          </a:p>
        </p:txBody>
      </p:sp>
      <p:sp>
        <p:nvSpPr>
          <p:cNvPr id="7" name="Shape 5"/>
          <p:cNvSpPr/>
          <p:nvPr/>
        </p:nvSpPr>
        <p:spPr>
          <a:xfrm>
            <a:off x="411480" y="1508760"/>
            <a:ext cx="5440680" cy="1280160"/>
          </a:xfrm>
          <a:prstGeom prst="roundRect">
            <a:avLst>
              <a:gd name="adj" fmla="val 7143"/>
            </a:avLst>
          </a:prstGeom>
          <a:solidFill>
            <a:srgbClr val="FFFFFF"/>
          </a:solidFill>
          <a:ln w="12700">
            <a:solidFill>
              <a:srgbClr val="D6D3D1"/>
            </a:solidFill>
            <a:prstDash val="solid"/>
          </a:ln>
        </p:spPr>
      </p:sp>
      <p:sp>
        <p:nvSpPr>
          <p:cNvPr id="8" name="Shape 6"/>
          <p:cNvSpPr/>
          <p:nvPr/>
        </p:nvSpPr>
        <p:spPr>
          <a:xfrm>
            <a:off x="5212080" y="1691640"/>
            <a:ext cx="457200" cy="457200"/>
          </a:xfrm>
          <a:prstGeom prst="roundRect">
            <a:avLst>
              <a:gd name="adj" fmla="val 16000"/>
            </a:avLst>
          </a:prstGeom>
          <a:solidFill>
            <a:srgbClr val="0B1F4D"/>
          </a:solidFill>
          <a:ln/>
        </p:spPr>
      </p:sp>
      <p:sp>
        <p:nvSpPr>
          <p:cNvPr id="9" name="Text 7"/>
          <p:cNvSpPr/>
          <p:nvPr/>
        </p:nvSpPr>
        <p:spPr>
          <a:xfrm>
            <a:off x="5212080" y="1691640"/>
            <a:ext cx="457200" cy="457200"/>
          </a:xfrm>
          <a:prstGeom prst="rect">
            <a:avLst/>
          </a:prstGeom>
          <a:noFill/>
          <a:ln/>
        </p:spPr>
        <p:txBody>
          <a:bodyPr wrap="square" rtlCol="0" anchor="ctr"/>
          <a:lstStyle/>
          <a:p>
            <a:pPr algn="ctr" indent="0" marL="0">
              <a:buNone/>
            </a:pPr>
            <a:r>
              <a:rPr lang="en-US" sz="1600" b="1" dirty="0">
                <a:solidFill>
                  <a:srgbClr val="FFFFFF"/>
                </a:solidFill>
              </a:rPr>
              <a:t>١</a:t>
            </a:r>
            <a:endParaRPr lang="en-US" sz="1600" dirty="0"/>
          </a:p>
        </p:txBody>
      </p:sp>
      <p:sp>
        <p:nvSpPr>
          <p:cNvPr id="10" name="Text 8"/>
          <p:cNvSpPr/>
          <p:nvPr/>
        </p:nvSpPr>
        <p:spPr>
          <a:xfrm>
            <a:off x="594360" y="1645920"/>
            <a:ext cx="4480560" cy="365760"/>
          </a:xfrm>
          <a:prstGeom prst="rect">
            <a:avLst/>
          </a:prstGeom>
          <a:noFill/>
          <a:ln/>
        </p:spPr>
        <p:txBody>
          <a:bodyPr wrap="square" rtlCol="0" anchor="ctr"/>
          <a:lstStyle/>
          <a:p>
            <a:pPr rtl="1" algn="r" indent="0" marL="0">
              <a:buNone/>
            </a:pPr>
            <a:r>
              <a:rPr lang="en-US" sz="1500" b="1" dirty="0">
                <a:solidFill>
                  <a:srgbClr val="0B1F4D"/>
                </a:solidFill>
                <a:latin typeface="Segoe UI" pitchFamily="34" charset="0"/>
                <a:ea typeface="Segoe UI" pitchFamily="34" charset="-122"/>
                <a:cs typeface="Segoe UI" pitchFamily="34" charset="-120"/>
              </a:rPr>
              <a:t>بوابة الباحث / الطالب</a:t>
            </a:r>
            <a:endParaRPr lang="en-US" sz="1500" dirty="0"/>
          </a:p>
        </p:txBody>
      </p:sp>
      <p:sp>
        <p:nvSpPr>
          <p:cNvPr id="11" name="Text 9"/>
          <p:cNvSpPr/>
          <p:nvPr/>
        </p:nvSpPr>
        <p:spPr>
          <a:xfrm>
            <a:off x="594360" y="2103120"/>
            <a:ext cx="4480560" cy="502920"/>
          </a:xfrm>
          <a:prstGeom prst="rect">
            <a:avLst/>
          </a:prstGeom>
          <a:noFill/>
          <a:ln/>
        </p:spPr>
        <p:txBody>
          <a:bodyPr wrap="square" rtlCol="0" anchor="ctr"/>
          <a:lstStyle/>
          <a:p>
            <a:pPr rtl="1" algn="r" indent="0" marL="0">
              <a:buNone/>
            </a:pPr>
            <a:r>
              <a:rPr lang="en-US" sz="1200" dirty="0">
                <a:solidFill>
                  <a:srgbClr val="475569"/>
                </a:solidFill>
                <a:latin typeface="Segoe UI" pitchFamily="34" charset="0"/>
                <a:ea typeface="Segoe UI" pitchFamily="34" charset="-122"/>
                <a:cs typeface="Segoe UI" pitchFamily="34" charset="-120"/>
              </a:rPr>
              <a:t>مشرفون · أفكار · مختبرات · متجر · كتابة · مجتمع · AI · أخبار · تمويل · نشر</a:t>
            </a:r>
            <a:endParaRPr lang="en-US" sz="1200" dirty="0"/>
          </a:p>
        </p:txBody>
      </p:sp>
      <p:sp>
        <p:nvSpPr>
          <p:cNvPr id="12" name="Shape 10"/>
          <p:cNvSpPr/>
          <p:nvPr/>
        </p:nvSpPr>
        <p:spPr>
          <a:xfrm>
            <a:off x="6080760" y="1508760"/>
            <a:ext cx="5440680" cy="1280160"/>
          </a:xfrm>
          <a:prstGeom prst="roundRect">
            <a:avLst>
              <a:gd name="adj" fmla="val 7143"/>
            </a:avLst>
          </a:prstGeom>
          <a:solidFill>
            <a:srgbClr val="FFFFFF"/>
          </a:solidFill>
          <a:ln w="12700">
            <a:solidFill>
              <a:srgbClr val="D6D3D1"/>
            </a:solidFill>
            <a:prstDash val="solid"/>
          </a:ln>
        </p:spPr>
      </p:sp>
      <p:sp>
        <p:nvSpPr>
          <p:cNvPr id="13" name="Shape 11"/>
          <p:cNvSpPr/>
          <p:nvPr/>
        </p:nvSpPr>
        <p:spPr>
          <a:xfrm>
            <a:off x="10881360" y="1691640"/>
            <a:ext cx="457200" cy="457200"/>
          </a:xfrm>
          <a:prstGeom prst="roundRect">
            <a:avLst>
              <a:gd name="adj" fmla="val 16000"/>
            </a:avLst>
          </a:prstGeom>
          <a:solidFill>
            <a:srgbClr val="0B1F4D"/>
          </a:solidFill>
          <a:ln/>
        </p:spPr>
      </p:sp>
      <p:sp>
        <p:nvSpPr>
          <p:cNvPr id="14" name="Text 12"/>
          <p:cNvSpPr/>
          <p:nvPr/>
        </p:nvSpPr>
        <p:spPr>
          <a:xfrm>
            <a:off x="10881360" y="1691640"/>
            <a:ext cx="457200" cy="457200"/>
          </a:xfrm>
          <a:prstGeom prst="rect">
            <a:avLst/>
          </a:prstGeom>
          <a:noFill/>
          <a:ln/>
        </p:spPr>
        <p:txBody>
          <a:bodyPr wrap="square" rtlCol="0" anchor="ctr"/>
          <a:lstStyle/>
          <a:p>
            <a:pPr algn="ctr" indent="0" marL="0">
              <a:buNone/>
            </a:pPr>
            <a:r>
              <a:rPr lang="en-US" sz="1600" b="1" dirty="0">
                <a:solidFill>
                  <a:srgbClr val="FFFFFF"/>
                </a:solidFill>
              </a:rPr>
              <a:t>٢</a:t>
            </a:r>
            <a:endParaRPr lang="en-US" sz="1600" dirty="0"/>
          </a:p>
        </p:txBody>
      </p:sp>
      <p:sp>
        <p:nvSpPr>
          <p:cNvPr id="15" name="Text 13"/>
          <p:cNvSpPr/>
          <p:nvPr/>
        </p:nvSpPr>
        <p:spPr>
          <a:xfrm>
            <a:off x="6263640" y="1645920"/>
            <a:ext cx="4480560" cy="365760"/>
          </a:xfrm>
          <a:prstGeom prst="rect">
            <a:avLst/>
          </a:prstGeom>
          <a:noFill/>
          <a:ln/>
        </p:spPr>
        <p:txBody>
          <a:bodyPr wrap="square" rtlCol="0" anchor="ctr"/>
          <a:lstStyle/>
          <a:p>
            <a:pPr rtl="1" algn="r" indent="0" marL="0">
              <a:buNone/>
            </a:pPr>
            <a:r>
              <a:rPr lang="en-US" sz="1500" b="1" dirty="0">
                <a:solidFill>
                  <a:srgbClr val="0B1F4D"/>
                </a:solidFill>
                <a:latin typeface="Segoe UI" pitchFamily="34" charset="0"/>
                <a:ea typeface="Segoe UI" pitchFamily="34" charset="-122"/>
                <a:cs typeface="Segoe UI" pitchFamily="34" charset="-120"/>
              </a:rPr>
              <a:t>بوابة مقدم الخدمة</a:t>
            </a:r>
            <a:endParaRPr lang="en-US" sz="1500" dirty="0"/>
          </a:p>
        </p:txBody>
      </p:sp>
      <p:sp>
        <p:nvSpPr>
          <p:cNvPr id="16" name="Text 14"/>
          <p:cNvSpPr/>
          <p:nvPr/>
        </p:nvSpPr>
        <p:spPr>
          <a:xfrm>
            <a:off x="6263640" y="2103120"/>
            <a:ext cx="4480560" cy="502920"/>
          </a:xfrm>
          <a:prstGeom prst="rect">
            <a:avLst/>
          </a:prstGeom>
          <a:noFill/>
          <a:ln/>
        </p:spPr>
        <p:txBody>
          <a:bodyPr wrap="square" rtlCol="0" anchor="ctr"/>
          <a:lstStyle/>
          <a:p>
            <a:pPr rtl="1" algn="r" indent="0" marL="0">
              <a:buNone/>
            </a:pPr>
            <a:r>
              <a:rPr lang="en-US" sz="1200" dirty="0">
                <a:solidFill>
                  <a:srgbClr val="475569"/>
                </a:solidFill>
                <a:latin typeface="Segoe UI" pitchFamily="34" charset="0"/>
                <a:ea typeface="Segoe UI" pitchFamily="34" charset="-122"/>
                <a:cs typeface="Segoe UI" pitchFamily="34" charset="-120"/>
              </a:rPr>
              <a:t>للمورد والمختبر والكاتب: طلبات واردة · نشر · متابعة · رسائل · لوحة مساهمة</a:t>
            </a:r>
            <a:endParaRPr lang="en-US" sz="1200" dirty="0"/>
          </a:p>
        </p:txBody>
      </p:sp>
      <p:sp>
        <p:nvSpPr>
          <p:cNvPr id="17" name="Shape 15"/>
          <p:cNvSpPr/>
          <p:nvPr/>
        </p:nvSpPr>
        <p:spPr>
          <a:xfrm>
            <a:off x="411480" y="3017520"/>
            <a:ext cx="3611880" cy="1280160"/>
          </a:xfrm>
          <a:prstGeom prst="roundRect">
            <a:avLst>
              <a:gd name="adj" fmla="val 7143"/>
            </a:avLst>
          </a:prstGeom>
          <a:solidFill>
            <a:srgbClr val="FFFFFF"/>
          </a:solidFill>
          <a:ln w="12700">
            <a:solidFill>
              <a:srgbClr val="D6D3D1"/>
            </a:solidFill>
            <a:prstDash val="solid"/>
          </a:ln>
        </p:spPr>
      </p:sp>
      <p:sp>
        <p:nvSpPr>
          <p:cNvPr id="18" name="Text 16"/>
          <p:cNvSpPr/>
          <p:nvPr/>
        </p:nvSpPr>
        <p:spPr>
          <a:xfrm>
            <a:off x="594360" y="3291840"/>
            <a:ext cx="3246120" cy="365760"/>
          </a:xfrm>
          <a:prstGeom prst="rect">
            <a:avLst/>
          </a:prstGeom>
          <a:noFill/>
          <a:ln/>
        </p:spPr>
        <p:txBody>
          <a:bodyPr wrap="square" rtlCol="0" anchor="ctr"/>
          <a:lstStyle/>
          <a:p>
            <a:pPr rtl="1" algn="r" indent="0" marL="0">
              <a:buNone/>
            </a:pPr>
            <a:r>
              <a:rPr lang="en-US" sz="1400" b="1" dirty="0">
                <a:solidFill>
                  <a:srgbClr val="0B1F4D"/>
                </a:solidFill>
                <a:latin typeface="Segoe UI" pitchFamily="34" charset="0"/>
                <a:ea typeface="Segoe UI" pitchFamily="34" charset="-122"/>
                <a:cs typeface="Segoe UI" pitchFamily="34" charset="-120"/>
              </a:rPr>
              <a:t>المشرفون</a:t>
            </a:r>
            <a:endParaRPr lang="en-US" sz="1400" dirty="0"/>
          </a:p>
        </p:txBody>
      </p:sp>
      <p:sp>
        <p:nvSpPr>
          <p:cNvPr id="19" name="Text 17"/>
          <p:cNvSpPr/>
          <p:nvPr/>
        </p:nvSpPr>
        <p:spPr>
          <a:xfrm>
            <a:off x="594360" y="3749040"/>
            <a:ext cx="3246120" cy="365760"/>
          </a:xfrm>
          <a:prstGeom prst="rect">
            <a:avLst/>
          </a:prstGeom>
          <a:noFill/>
          <a:ln/>
        </p:spPr>
        <p:txBody>
          <a:bodyPr wrap="square" rtlCol="0" anchor="ctr"/>
          <a:lstStyle/>
          <a:p>
            <a:pPr rtl="1" algn="r" indent="0" marL="0">
              <a:buNone/>
            </a:pPr>
            <a:r>
              <a:rPr lang="en-US" sz="1200" dirty="0">
                <a:solidFill>
                  <a:srgbClr val="475569"/>
                </a:solidFill>
                <a:latin typeface="Segoe UI" pitchFamily="34" charset="0"/>
                <a:ea typeface="Segoe UI" pitchFamily="34" charset="-122"/>
                <a:cs typeface="Segoe UI" pitchFamily="34" charset="-120"/>
              </a:rPr>
              <a:t>طلاب مشاريع تحتاج معدات</a:t>
            </a:r>
            <a:endParaRPr lang="en-US" sz="1200" dirty="0"/>
          </a:p>
        </p:txBody>
      </p:sp>
      <p:sp>
        <p:nvSpPr>
          <p:cNvPr id="20" name="Shape 18"/>
          <p:cNvSpPr/>
          <p:nvPr/>
        </p:nvSpPr>
        <p:spPr>
          <a:xfrm>
            <a:off x="4206240" y="3017520"/>
            <a:ext cx="3611880" cy="1280160"/>
          </a:xfrm>
          <a:prstGeom prst="roundRect">
            <a:avLst>
              <a:gd name="adj" fmla="val 7143"/>
            </a:avLst>
          </a:prstGeom>
          <a:solidFill>
            <a:srgbClr val="FFFFFF"/>
          </a:solidFill>
          <a:ln w="12700">
            <a:solidFill>
              <a:srgbClr val="D6D3D1"/>
            </a:solidFill>
            <a:prstDash val="solid"/>
          </a:ln>
        </p:spPr>
      </p:sp>
      <p:sp>
        <p:nvSpPr>
          <p:cNvPr id="21" name="Text 19"/>
          <p:cNvSpPr/>
          <p:nvPr/>
        </p:nvSpPr>
        <p:spPr>
          <a:xfrm>
            <a:off x="4389120" y="3291840"/>
            <a:ext cx="3246120" cy="365760"/>
          </a:xfrm>
          <a:prstGeom prst="rect">
            <a:avLst/>
          </a:prstGeom>
          <a:noFill/>
          <a:ln/>
        </p:spPr>
        <p:txBody>
          <a:bodyPr wrap="square" rtlCol="0" anchor="ctr"/>
          <a:lstStyle/>
          <a:p>
            <a:pPr rtl="1" algn="r" indent="0" marL="0">
              <a:buNone/>
            </a:pPr>
            <a:r>
              <a:rPr lang="en-US" sz="1400" b="1" dirty="0">
                <a:solidFill>
                  <a:srgbClr val="0B1F4D"/>
                </a:solidFill>
                <a:latin typeface="Segoe UI" pitchFamily="34" charset="0"/>
                <a:ea typeface="Segoe UI" pitchFamily="34" charset="-122"/>
                <a:cs typeface="Segoe UI" pitchFamily="34" charset="-120"/>
              </a:rPr>
              <a:t>مسار البحث</a:t>
            </a:r>
            <a:endParaRPr lang="en-US" sz="1400" dirty="0"/>
          </a:p>
        </p:txBody>
      </p:sp>
      <p:sp>
        <p:nvSpPr>
          <p:cNvPr id="22" name="Text 20"/>
          <p:cNvSpPr/>
          <p:nvPr/>
        </p:nvSpPr>
        <p:spPr>
          <a:xfrm>
            <a:off x="4389120" y="3749040"/>
            <a:ext cx="3246120" cy="365760"/>
          </a:xfrm>
          <a:prstGeom prst="rect">
            <a:avLst/>
          </a:prstGeom>
          <a:noFill/>
          <a:ln/>
        </p:spPr>
        <p:txBody>
          <a:bodyPr wrap="square" rtlCol="0" anchor="ctr"/>
          <a:lstStyle/>
          <a:p>
            <a:pPr rtl="1" algn="r" indent="0" marL="0">
              <a:buNone/>
            </a:pPr>
            <a:r>
              <a:rPr lang="en-US" sz="1200" dirty="0">
                <a:solidFill>
                  <a:srgbClr val="475569"/>
                </a:solidFill>
                <a:latin typeface="Segoe UI" pitchFamily="34" charset="0"/>
                <a:ea typeface="Segoe UI" pitchFamily="34" charset="-122"/>
                <a:cs typeface="Segoe UI" pitchFamily="34" charset="-120"/>
              </a:rPr>
              <a:t>يقترح منتجات ضمن الحزمة</a:t>
            </a:r>
            <a:endParaRPr lang="en-US" sz="1200" dirty="0"/>
          </a:p>
        </p:txBody>
      </p:sp>
      <p:sp>
        <p:nvSpPr>
          <p:cNvPr id="23" name="Shape 21"/>
          <p:cNvSpPr/>
          <p:nvPr/>
        </p:nvSpPr>
        <p:spPr>
          <a:xfrm>
            <a:off x="8001000" y="3017520"/>
            <a:ext cx="3611880" cy="1280160"/>
          </a:xfrm>
          <a:prstGeom prst="roundRect">
            <a:avLst>
              <a:gd name="adj" fmla="val 7143"/>
            </a:avLst>
          </a:prstGeom>
          <a:solidFill>
            <a:srgbClr val="FFFFFF"/>
          </a:solidFill>
          <a:ln w="12700">
            <a:solidFill>
              <a:srgbClr val="D6D3D1"/>
            </a:solidFill>
            <a:prstDash val="solid"/>
          </a:ln>
        </p:spPr>
      </p:sp>
      <p:sp>
        <p:nvSpPr>
          <p:cNvPr id="24" name="Text 22"/>
          <p:cNvSpPr/>
          <p:nvPr/>
        </p:nvSpPr>
        <p:spPr>
          <a:xfrm>
            <a:off x="8183880" y="3291840"/>
            <a:ext cx="3246120" cy="365760"/>
          </a:xfrm>
          <a:prstGeom prst="rect">
            <a:avLst/>
          </a:prstGeom>
          <a:noFill/>
          <a:ln/>
        </p:spPr>
        <p:txBody>
          <a:bodyPr wrap="square" rtlCol="0" anchor="ctr"/>
          <a:lstStyle/>
          <a:p>
            <a:pPr rtl="1" algn="r" indent="0" marL="0">
              <a:buNone/>
            </a:pPr>
            <a:r>
              <a:rPr lang="en-US" sz="1400" b="1" dirty="0">
                <a:solidFill>
                  <a:srgbClr val="0B1F4D"/>
                </a:solidFill>
                <a:latin typeface="Segoe UI" pitchFamily="34" charset="0"/>
                <a:ea typeface="Segoe UI" pitchFamily="34" charset="-122"/>
                <a:cs typeface="Segoe UI" pitchFamily="34" charset="-120"/>
              </a:rPr>
              <a:t>المختبرات</a:t>
            </a:r>
            <a:endParaRPr lang="en-US" sz="1400" dirty="0"/>
          </a:p>
        </p:txBody>
      </p:sp>
      <p:sp>
        <p:nvSpPr>
          <p:cNvPr id="25" name="Text 23"/>
          <p:cNvSpPr/>
          <p:nvPr/>
        </p:nvSpPr>
        <p:spPr>
          <a:xfrm>
            <a:off x="8183880" y="3749040"/>
            <a:ext cx="3246120" cy="365760"/>
          </a:xfrm>
          <a:prstGeom prst="rect">
            <a:avLst/>
          </a:prstGeom>
          <a:noFill/>
          <a:ln/>
        </p:spPr>
        <p:txBody>
          <a:bodyPr wrap="square" rtlCol="0" anchor="ctr"/>
          <a:lstStyle/>
          <a:p>
            <a:pPr rtl="1" algn="r" indent="0" marL="0">
              <a:buNone/>
            </a:pPr>
            <a:r>
              <a:rPr lang="en-US" sz="1200" dirty="0">
                <a:solidFill>
                  <a:srgbClr val="475569"/>
                </a:solidFill>
                <a:latin typeface="Segoe UI" pitchFamily="34" charset="0"/>
                <a:ea typeface="Segoe UI" pitchFamily="34" charset="-122"/>
                <a:cs typeface="Segoe UI" pitchFamily="34" charset="-120"/>
              </a:rPr>
              <a:t>مشترون متكررون للمستهلكات</a:t>
            </a:r>
            <a:endParaRPr lang="en-US" sz="1200" dirty="0"/>
          </a:p>
        </p:txBody>
      </p:sp>
      <p:sp>
        <p:nvSpPr>
          <p:cNvPr id="26" name="Shape 24"/>
          <p:cNvSpPr/>
          <p:nvPr/>
        </p:nvSpPr>
        <p:spPr>
          <a:xfrm>
            <a:off x="411480" y="4434840"/>
            <a:ext cx="3611880" cy="1280160"/>
          </a:xfrm>
          <a:prstGeom prst="roundRect">
            <a:avLst>
              <a:gd name="adj" fmla="val 7143"/>
            </a:avLst>
          </a:prstGeom>
          <a:solidFill>
            <a:srgbClr val="FFFFFF"/>
          </a:solidFill>
          <a:ln w="12700">
            <a:solidFill>
              <a:srgbClr val="D6D3D1"/>
            </a:solidFill>
            <a:prstDash val="solid"/>
          </a:ln>
        </p:spPr>
      </p:sp>
      <p:sp>
        <p:nvSpPr>
          <p:cNvPr id="27" name="Text 25"/>
          <p:cNvSpPr/>
          <p:nvPr/>
        </p:nvSpPr>
        <p:spPr>
          <a:xfrm>
            <a:off x="594360" y="4709160"/>
            <a:ext cx="3246120" cy="365760"/>
          </a:xfrm>
          <a:prstGeom prst="rect">
            <a:avLst/>
          </a:prstGeom>
          <a:noFill/>
          <a:ln/>
        </p:spPr>
        <p:txBody>
          <a:bodyPr wrap="square" rtlCol="0" anchor="ctr"/>
          <a:lstStyle/>
          <a:p>
            <a:pPr rtl="1" algn="r" indent="0" marL="0">
              <a:buNone/>
            </a:pPr>
            <a:r>
              <a:rPr lang="en-US" sz="1400" b="1" dirty="0">
                <a:solidFill>
                  <a:srgbClr val="0B1F4D"/>
                </a:solidFill>
                <a:latin typeface="Segoe UI" pitchFamily="34" charset="0"/>
                <a:ea typeface="Segoe UI" pitchFamily="34" charset="-122"/>
                <a:cs typeface="Segoe UI" pitchFamily="34" charset="-120"/>
              </a:rPr>
              <a:t>الكتابة والمجتمع</a:t>
            </a:r>
            <a:endParaRPr lang="en-US" sz="1400" dirty="0"/>
          </a:p>
        </p:txBody>
      </p:sp>
      <p:sp>
        <p:nvSpPr>
          <p:cNvPr id="28" name="Text 26"/>
          <p:cNvSpPr/>
          <p:nvPr/>
        </p:nvSpPr>
        <p:spPr>
          <a:xfrm>
            <a:off x="594360" y="5166360"/>
            <a:ext cx="3246120" cy="365760"/>
          </a:xfrm>
          <a:prstGeom prst="rect">
            <a:avLst/>
          </a:prstGeom>
          <a:noFill/>
          <a:ln/>
        </p:spPr>
        <p:txBody>
          <a:bodyPr wrap="square" rtlCol="0" anchor="ctr"/>
          <a:lstStyle/>
          <a:p>
            <a:pPr rtl="1" algn="r" indent="0" marL="0">
              <a:buNone/>
            </a:pPr>
            <a:r>
              <a:rPr lang="en-US" sz="1200" dirty="0">
                <a:solidFill>
                  <a:srgbClr val="475569"/>
                </a:solidFill>
                <a:latin typeface="Segoe UI" pitchFamily="34" charset="0"/>
                <a:ea typeface="Segoe UI" pitchFamily="34" charset="-122"/>
                <a:cs typeface="Segoe UI" pitchFamily="34" charset="-120"/>
              </a:rPr>
              <a:t>يزيد وقت البقاء والشراء</a:t>
            </a:r>
            <a:endParaRPr lang="en-US" sz="1200" dirty="0"/>
          </a:p>
        </p:txBody>
      </p:sp>
      <p:sp>
        <p:nvSpPr>
          <p:cNvPr id="29" name="Shape 27"/>
          <p:cNvSpPr/>
          <p:nvPr/>
        </p:nvSpPr>
        <p:spPr>
          <a:xfrm>
            <a:off x="4206240" y="4434840"/>
            <a:ext cx="3611880" cy="1280160"/>
          </a:xfrm>
          <a:prstGeom prst="roundRect">
            <a:avLst>
              <a:gd name="adj" fmla="val 7143"/>
            </a:avLst>
          </a:prstGeom>
          <a:solidFill>
            <a:srgbClr val="FFFFFF"/>
          </a:solidFill>
          <a:ln w="12700">
            <a:solidFill>
              <a:srgbClr val="D6D3D1"/>
            </a:solidFill>
            <a:prstDash val="solid"/>
          </a:ln>
        </p:spPr>
      </p:sp>
      <p:sp>
        <p:nvSpPr>
          <p:cNvPr id="30" name="Text 28"/>
          <p:cNvSpPr/>
          <p:nvPr/>
        </p:nvSpPr>
        <p:spPr>
          <a:xfrm>
            <a:off x="4389120" y="4709160"/>
            <a:ext cx="3246120" cy="365760"/>
          </a:xfrm>
          <a:prstGeom prst="rect">
            <a:avLst/>
          </a:prstGeom>
          <a:noFill/>
          <a:ln/>
        </p:spPr>
        <p:txBody>
          <a:bodyPr wrap="square" rtlCol="0" anchor="ctr"/>
          <a:lstStyle/>
          <a:p>
            <a:pPr rtl="1" algn="r" indent="0" marL="0">
              <a:buNone/>
            </a:pPr>
            <a:r>
              <a:rPr lang="en-US" sz="1400" b="1" dirty="0">
                <a:solidFill>
                  <a:srgbClr val="0B1F4D"/>
                </a:solidFill>
                <a:latin typeface="Segoe UI" pitchFamily="34" charset="0"/>
                <a:ea typeface="Segoe UI" pitchFamily="34" charset="-122"/>
                <a:cs typeface="Segoe UI" pitchFamily="34" charset="-120"/>
              </a:rPr>
              <a:t>المساعد AI</a:t>
            </a:r>
            <a:endParaRPr lang="en-US" sz="1400" dirty="0"/>
          </a:p>
        </p:txBody>
      </p:sp>
      <p:sp>
        <p:nvSpPr>
          <p:cNvPr id="31" name="Text 29"/>
          <p:cNvSpPr/>
          <p:nvPr/>
        </p:nvSpPr>
        <p:spPr>
          <a:xfrm>
            <a:off x="4389120" y="5166360"/>
            <a:ext cx="3246120" cy="365760"/>
          </a:xfrm>
          <a:prstGeom prst="rect">
            <a:avLst/>
          </a:prstGeom>
          <a:noFill/>
          <a:ln/>
        </p:spPr>
        <p:txBody>
          <a:bodyPr wrap="square" rtlCol="0" anchor="ctr"/>
          <a:lstStyle/>
          <a:p>
            <a:pPr rtl="1" algn="r" indent="0" marL="0">
              <a:buNone/>
            </a:pPr>
            <a:r>
              <a:rPr lang="en-US" sz="1200" dirty="0">
                <a:solidFill>
                  <a:srgbClr val="475569"/>
                </a:solidFill>
                <a:latin typeface="Segoe UI" pitchFamily="34" charset="0"/>
                <a:ea typeface="Segoe UI" pitchFamily="34" charset="-122"/>
                <a:cs typeface="Segoe UI" pitchFamily="34" charset="-120"/>
              </a:rPr>
              <a:t>يوجّه لموارد التنفيذ</a:t>
            </a:r>
            <a:endParaRPr lang="en-US" sz="1200" dirty="0"/>
          </a:p>
        </p:txBody>
      </p:sp>
      <p:sp>
        <p:nvSpPr>
          <p:cNvPr id="32" name="Shape 30"/>
          <p:cNvSpPr/>
          <p:nvPr/>
        </p:nvSpPr>
        <p:spPr>
          <a:xfrm>
            <a:off x="8001000" y="4434840"/>
            <a:ext cx="3611880" cy="1280160"/>
          </a:xfrm>
          <a:prstGeom prst="roundRect">
            <a:avLst>
              <a:gd name="adj" fmla="val 7143"/>
            </a:avLst>
          </a:prstGeom>
          <a:solidFill>
            <a:srgbClr val="FFFFFF"/>
          </a:solidFill>
          <a:ln w="12700">
            <a:solidFill>
              <a:srgbClr val="D6D3D1"/>
            </a:solidFill>
            <a:prstDash val="solid"/>
          </a:ln>
        </p:spPr>
      </p:sp>
      <p:sp>
        <p:nvSpPr>
          <p:cNvPr id="33" name="Text 31"/>
          <p:cNvSpPr/>
          <p:nvPr/>
        </p:nvSpPr>
        <p:spPr>
          <a:xfrm>
            <a:off x="8183880" y="4709160"/>
            <a:ext cx="3246120" cy="365760"/>
          </a:xfrm>
          <a:prstGeom prst="rect">
            <a:avLst/>
          </a:prstGeom>
          <a:noFill/>
          <a:ln/>
        </p:spPr>
        <p:txBody>
          <a:bodyPr wrap="square" rtlCol="0" anchor="ctr"/>
          <a:lstStyle/>
          <a:p>
            <a:pPr rtl="1" algn="r" indent="0" marL="0">
              <a:buNone/>
            </a:pPr>
            <a:r>
              <a:rPr lang="en-US" sz="1400" b="1" dirty="0">
                <a:solidFill>
                  <a:srgbClr val="0B1F4D"/>
                </a:solidFill>
                <a:latin typeface="Segoe UI" pitchFamily="34" charset="0"/>
                <a:ea typeface="Segoe UI" pitchFamily="34" charset="-122"/>
                <a:cs typeface="Segoe UI" pitchFamily="34" charset="-120"/>
              </a:rPr>
              <a:t>النزاهة والتمويل</a:t>
            </a:r>
            <a:endParaRPr lang="en-US" sz="1400" dirty="0"/>
          </a:p>
        </p:txBody>
      </p:sp>
      <p:sp>
        <p:nvSpPr>
          <p:cNvPr id="34" name="Text 32"/>
          <p:cNvSpPr/>
          <p:nvPr/>
        </p:nvSpPr>
        <p:spPr>
          <a:xfrm>
            <a:off x="8183880" y="5166360"/>
            <a:ext cx="3246120" cy="365760"/>
          </a:xfrm>
          <a:prstGeom prst="rect">
            <a:avLst/>
          </a:prstGeom>
          <a:noFill/>
          <a:ln/>
        </p:spPr>
        <p:txBody>
          <a:bodyPr wrap="square" rtlCol="0" anchor="ctr"/>
          <a:lstStyle/>
          <a:p>
            <a:pPr rtl="1" algn="r" indent="0" marL="0">
              <a:buNone/>
            </a:pPr>
            <a:r>
              <a:rPr lang="en-US" sz="1200" dirty="0">
                <a:solidFill>
                  <a:srgbClr val="475569"/>
                </a:solidFill>
                <a:latin typeface="Segoe UI" pitchFamily="34" charset="0"/>
                <a:ea typeface="Segoe UI" pitchFamily="34" charset="-122"/>
                <a:cs typeface="Segoe UI" pitchFamily="34" charset="-120"/>
              </a:rPr>
              <a:t>تكمل دورة الباحث</a:t>
            </a:r>
            <a:endParaRPr lang="en-US" sz="1200" dirty="0"/>
          </a:p>
        </p:txBody>
      </p:sp>
      <p:sp>
        <p:nvSpPr>
          <p:cNvPr id="35" name="Shape 33"/>
          <p:cNvSpPr/>
          <p:nvPr/>
        </p:nvSpPr>
        <p:spPr>
          <a:xfrm>
            <a:off x="0" y="6510528"/>
            <a:ext cx="12191695" cy="347472"/>
          </a:xfrm>
          <a:prstGeom prst="rect">
            <a:avLst/>
          </a:prstGeom>
          <a:solidFill>
            <a:srgbClr val="F8F5F0"/>
          </a:solidFill>
          <a:ln/>
        </p:spPr>
      </p:sp>
      <p:sp>
        <p:nvSpPr>
          <p:cNvPr id="36" name="Text 34"/>
          <p:cNvSpPr/>
          <p:nvPr/>
        </p:nvSpPr>
        <p:spPr>
          <a:xfrm>
            <a:off x="411480" y="6547104"/>
            <a:ext cx="8229600" cy="256032"/>
          </a:xfrm>
          <a:prstGeom prst="rect">
            <a:avLst/>
          </a:prstGeom>
          <a:noFill/>
          <a:ln/>
        </p:spPr>
        <p:txBody>
          <a:bodyPr wrap="square" rtlCol="0" anchor="ctr"/>
          <a:lstStyle/>
          <a:p>
            <a:pPr rtl="1" algn="r" indent="0" marL="0">
              <a:buNone/>
            </a:pPr>
            <a:r>
              <a:rPr lang="en-US" sz="1000" dirty="0">
                <a:solidFill>
                  <a:srgbClr val="475569"/>
                </a:solidFill>
                <a:latin typeface="Segoe UI" pitchFamily="34" charset="0"/>
                <a:ea typeface="Segoe UI" pitchFamily="34" charset="-122"/>
                <a:cs typeface="Segoe UI" pitchFamily="34" charset="-120"/>
              </a:rPr>
              <a:t>AcadeGate · عرض شراكة الموردين · محدّث ١٩ سبتمبر ٢٠٢٦</a:t>
            </a:r>
            <a:endParaRPr lang="en-US" sz="1000" dirty="0"/>
          </a:p>
        </p:txBody>
      </p:sp>
      <p:sp>
        <p:nvSpPr>
          <p:cNvPr id="37" name="Text 35"/>
          <p:cNvSpPr/>
          <p:nvPr/>
        </p:nvSpPr>
        <p:spPr>
          <a:xfrm>
            <a:off x="10682935" y="6547104"/>
            <a:ext cx="1097280" cy="256032"/>
          </a:xfrm>
          <a:prstGeom prst="rect">
            <a:avLst/>
          </a:prstGeom>
          <a:noFill/>
          <a:ln/>
        </p:spPr>
        <p:txBody>
          <a:bodyPr wrap="square" rtlCol="0" anchor="ctr"/>
          <a:lstStyle/>
          <a:p>
            <a:pPr algn="l" indent="0" marL="0">
              <a:buNone/>
            </a:pPr>
            <a:r>
              <a:rPr lang="en-US" sz="1000" dirty="0">
                <a:solidFill>
                  <a:srgbClr val="475569"/>
                </a:solidFill>
                <a:latin typeface="Segoe UI" pitchFamily="34" charset="0"/>
                <a:ea typeface="Segoe UI" pitchFamily="34" charset="-122"/>
                <a:cs typeface="Segoe UI" pitchFamily="34" charset="-120"/>
              </a:rPr>
              <a:t>5 / 16</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sp>
      <p:sp>
        <p:nvSpPr>
          <p:cNvPr id="3" name="Shape 1"/>
          <p:cNvSpPr/>
          <p:nvPr/>
        </p:nvSpPr>
        <p:spPr>
          <a:xfrm>
            <a:off x="411480" y="256032"/>
            <a:ext cx="109728" cy="502920"/>
          </a:xfrm>
          <a:prstGeom prst="rect">
            <a:avLst/>
          </a:prstGeom>
          <a:solidFill>
            <a:srgbClr val="0F766E"/>
          </a:solidFill>
          <a:ln/>
        </p:spPr>
      </p:sp>
      <p:sp>
        <p:nvSpPr>
          <p:cNvPr id="4" name="Text 2"/>
          <p:cNvSpPr/>
          <p:nvPr/>
        </p:nvSpPr>
        <p:spPr>
          <a:xfrm>
            <a:off x="612648" y="201168"/>
            <a:ext cx="11167567" cy="566928"/>
          </a:xfrm>
          <a:prstGeom prst="rect">
            <a:avLst/>
          </a:prstGeom>
          <a:noFill/>
          <a:ln/>
        </p:spPr>
        <p:txBody>
          <a:bodyPr wrap="square" rtlCol="0" anchor="ctr"/>
          <a:lstStyle/>
          <a:p>
            <a:pPr rtl="1" algn="r" indent="0" marL="0">
              <a:buNone/>
            </a:pPr>
            <a:r>
              <a:rPr lang="en-US" sz="2400" b="1" dirty="0">
                <a:solidFill>
                  <a:srgbClr val="0B1F4D"/>
                </a:solidFill>
                <a:latin typeface="Segoe UI" pitchFamily="34" charset="0"/>
                <a:ea typeface="Segoe UI" pitchFamily="34" charset="-122"/>
                <a:cs typeface="Segoe UI" pitchFamily="34" charset="-120"/>
              </a:rPr>
              <a:t>٤ — مستجدات المتجر (ما تغيّر للمورد والمشتري)</a:t>
            </a:r>
            <a:endParaRPr lang="en-US" sz="2400" dirty="0"/>
          </a:p>
        </p:txBody>
      </p:sp>
      <p:sp>
        <p:nvSpPr>
          <p:cNvPr id="5" name="Shape 3"/>
          <p:cNvSpPr/>
          <p:nvPr/>
        </p:nvSpPr>
        <p:spPr>
          <a:xfrm>
            <a:off x="411480" y="822960"/>
            <a:ext cx="11368735" cy="32004"/>
          </a:xfrm>
          <a:prstGeom prst="rect">
            <a:avLst/>
          </a:prstGeom>
          <a:solidFill>
            <a:srgbClr val="0F766E"/>
          </a:solidFill>
          <a:ln/>
        </p:spPr>
      </p:sp>
      <p:sp>
        <p:nvSpPr>
          <p:cNvPr id="6" name="Text 4"/>
          <p:cNvSpPr/>
          <p:nvPr/>
        </p:nvSpPr>
        <p:spPr>
          <a:xfrm>
            <a:off x="411480" y="960120"/>
            <a:ext cx="11368735" cy="457200"/>
          </a:xfrm>
          <a:prstGeom prst="rect">
            <a:avLst/>
          </a:prstGeom>
          <a:noFill/>
          <a:ln/>
        </p:spPr>
        <p:txBody>
          <a:bodyPr wrap="square" rtlCol="0" anchor="ctr"/>
          <a:lstStyle/>
          <a:p>
            <a:pPr rtl="1" algn="r" indent="0" marL="0">
              <a:buNone/>
            </a:pPr>
            <a:r>
              <a:rPr lang="en-US" sz="1300" dirty="0">
                <a:solidFill>
                  <a:srgbClr val="475569"/>
                </a:solidFill>
                <a:latin typeface="Segoe UI" pitchFamily="34" charset="0"/>
                <a:ea typeface="Segoe UI" pitchFamily="34" charset="-122"/>
                <a:cs typeface="Segoe UI" pitchFamily="34" charset="-120"/>
              </a:rPr>
              <a:t>تطويرات حديثة تجعل تجربة السوق أقرب للمنصات التجارية — مع هوية أكاديمية.</a:t>
            </a:r>
            <a:endParaRPr lang="en-US" sz="1300" dirty="0"/>
          </a:p>
        </p:txBody>
      </p:sp>
      <p:sp>
        <p:nvSpPr>
          <p:cNvPr id="7" name="Shape 5"/>
          <p:cNvSpPr/>
          <p:nvPr/>
        </p:nvSpPr>
        <p:spPr>
          <a:xfrm>
            <a:off x="411480" y="1508760"/>
            <a:ext cx="2743200" cy="2011680"/>
          </a:xfrm>
          <a:prstGeom prst="roundRect">
            <a:avLst>
              <a:gd name="adj" fmla="val 4545"/>
            </a:avLst>
          </a:prstGeom>
          <a:solidFill>
            <a:srgbClr val="EEF6F5"/>
          </a:solidFill>
          <a:ln w="12700">
            <a:solidFill>
              <a:srgbClr val="CCFBF1"/>
            </a:solidFill>
            <a:prstDash val="solid"/>
          </a:ln>
        </p:spPr>
      </p:sp>
      <p:sp>
        <p:nvSpPr>
          <p:cNvPr id="8" name="Text 6"/>
          <p:cNvSpPr/>
          <p:nvPr/>
        </p:nvSpPr>
        <p:spPr>
          <a:xfrm>
            <a:off x="548640" y="1737360"/>
            <a:ext cx="2468880" cy="594360"/>
          </a:xfrm>
          <a:prstGeom prst="rect">
            <a:avLst/>
          </a:prstGeom>
          <a:noFill/>
          <a:ln/>
        </p:spPr>
        <p:txBody>
          <a:bodyPr wrap="square" rtlCol="0" anchor="ctr"/>
          <a:lstStyle/>
          <a:p>
            <a:pPr rtl="1" algn="r" indent="0" marL="0">
              <a:buNone/>
            </a:pPr>
            <a:r>
              <a:rPr lang="en-US" sz="1300" b="1" dirty="0">
                <a:solidFill>
                  <a:srgbClr val="0B1F4D"/>
                </a:solidFill>
                <a:latin typeface="Segoe UI" pitchFamily="34" charset="0"/>
                <a:ea typeface="Segoe UI" pitchFamily="34" charset="-122"/>
                <a:cs typeface="Segoe UI" pitchFamily="34" charset="-120"/>
              </a:rPr>
              <a:t>واجهة سوق (Store Hub)</a:t>
            </a:r>
            <a:endParaRPr lang="en-US" sz="1300" dirty="0"/>
          </a:p>
        </p:txBody>
      </p:sp>
      <p:sp>
        <p:nvSpPr>
          <p:cNvPr id="9" name="Text 7"/>
          <p:cNvSpPr/>
          <p:nvPr/>
        </p:nvSpPr>
        <p:spPr>
          <a:xfrm>
            <a:off x="548640" y="2423160"/>
            <a:ext cx="2468880" cy="868680"/>
          </a:xfrm>
          <a:prstGeom prst="rect">
            <a:avLst/>
          </a:prstGeom>
          <a:noFill/>
          <a:ln/>
        </p:spPr>
        <p:txBody>
          <a:bodyPr wrap="square" rtlCol="0" anchor="ctr"/>
          <a:lstStyle/>
          <a:p>
            <a:pPr rtl="1" algn="r" indent="0" marL="0">
              <a:buNone/>
            </a:pPr>
            <a:r>
              <a:rPr lang="en-US" sz="1200" dirty="0">
                <a:solidFill>
                  <a:srgbClr val="475569"/>
                </a:solidFill>
                <a:latin typeface="Segoe UI" pitchFamily="34" charset="0"/>
                <a:ea typeface="Segoe UI" pitchFamily="34" charset="-122"/>
                <a:cs typeface="Segoe UI" pitchFamily="34" charset="-120"/>
              </a:rPr>
              <a:t>بحث · الأكثر طلباً · جديد هذا الأسبوع · أقسام · موردون موثّقون</a:t>
            </a:r>
            <a:endParaRPr lang="en-US" sz="1200" dirty="0"/>
          </a:p>
        </p:txBody>
      </p:sp>
      <p:sp>
        <p:nvSpPr>
          <p:cNvPr id="10" name="Shape 8"/>
          <p:cNvSpPr/>
          <p:nvPr/>
        </p:nvSpPr>
        <p:spPr>
          <a:xfrm>
            <a:off x="3291840" y="1508760"/>
            <a:ext cx="2743200" cy="2011680"/>
          </a:xfrm>
          <a:prstGeom prst="roundRect">
            <a:avLst>
              <a:gd name="adj" fmla="val 4545"/>
            </a:avLst>
          </a:prstGeom>
          <a:solidFill>
            <a:srgbClr val="EEF6F5"/>
          </a:solidFill>
          <a:ln w="12700">
            <a:solidFill>
              <a:srgbClr val="CCFBF1"/>
            </a:solidFill>
            <a:prstDash val="solid"/>
          </a:ln>
        </p:spPr>
      </p:sp>
      <p:sp>
        <p:nvSpPr>
          <p:cNvPr id="11" name="Text 9"/>
          <p:cNvSpPr/>
          <p:nvPr/>
        </p:nvSpPr>
        <p:spPr>
          <a:xfrm>
            <a:off x="3429000" y="1737360"/>
            <a:ext cx="2468880" cy="594360"/>
          </a:xfrm>
          <a:prstGeom prst="rect">
            <a:avLst/>
          </a:prstGeom>
          <a:noFill/>
          <a:ln/>
        </p:spPr>
        <p:txBody>
          <a:bodyPr wrap="square" rtlCol="0" anchor="ctr"/>
          <a:lstStyle/>
          <a:p>
            <a:pPr rtl="1" algn="r" indent="0" marL="0">
              <a:buNone/>
            </a:pPr>
            <a:r>
              <a:rPr lang="en-US" sz="1300" b="1" dirty="0">
                <a:solidFill>
                  <a:srgbClr val="0B1F4D"/>
                </a:solidFill>
                <a:latin typeface="Segoe UI" pitchFamily="34" charset="0"/>
                <a:ea typeface="Segoe UI" pitchFamily="34" charset="-122"/>
                <a:cs typeface="Segoe UI" pitchFamily="34" charset="-120"/>
              </a:rPr>
              <a:t>صفحة منتج غنية</a:t>
            </a:r>
            <a:endParaRPr lang="en-US" sz="1300" dirty="0"/>
          </a:p>
        </p:txBody>
      </p:sp>
      <p:sp>
        <p:nvSpPr>
          <p:cNvPr id="12" name="Text 10"/>
          <p:cNvSpPr/>
          <p:nvPr/>
        </p:nvSpPr>
        <p:spPr>
          <a:xfrm>
            <a:off x="3429000" y="2423160"/>
            <a:ext cx="2468880" cy="868680"/>
          </a:xfrm>
          <a:prstGeom prst="rect">
            <a:avLst/>
          </a:prstGeom>
          <a:noFill/>
          <a:ln/>
        </p:spPr>
        <p:txBody>
          <a:bodyPr wrap="square" rtlCol="0" anchor="ctr"/>
          <a:lstStyle/>
          <a:p>
            <a:pPr rtl="1" algn="r" indent="0" marL="0">
              <a:buNone/>
            </a:pPr>
            <a:r>
              <a:rPr lang="en-US" sz="1200" dirty="0">
                <a:solidFill>
                  <a:srgbClr val="475569"/>
                </a:solidFill>
                <a:latin typeface="Segoe UI" pitchFamily="34" charset="0"/>
                <a:ea typeface="Segoe UI" pitchFamily="34" charset="-122"/>
                <a:cs typeface="Segoe UI" pitchFamily="34" charset="-120"/>
              </a:rPr>
              <a:t>SKU · المنشأ · معرض صور · أسئلة وأجوبة · منتجات مشابهة</a:t>
            </a:r>
            <a:endParaRPr lang="en-US" sz="1200" dirty="0"/>
          </a:p>
        </p:txBody>
      </p:sp>
      <p:sp>
        <p:nvSpPr>
          <p:cNvPr id="13" name="Shape 11"/>
          <p:cNvSpPr/>
          <p:nvPr/>
        </p:nvSpPr>
        <p:spPr>
          <a:xfrm>
            <a:off x="6172200" y="1508760"/>
            <a:ext cx="2743200" cy="2011680"/>
          </a:xfrm>
          <a:prstGeom prst="roundRect">
            <a:avLst>
              <a:gd name="adj" fmla="val 4545"/>
            </a:avLst>
          </a:prstGeom>
          <a:solidFill>
            <a:srgbClr val="EEF6F5"/>
          </a:solidFill>
          <a:ln w="12700">
            <a:solidFill>
              <a:srgbClr val="CCFBF1"/>
            </a:solidFill>
            <a:prstDash val="solid"/>
          </a:ln>
        </p:spPr>
      </p:sp>
      <p:sp>
        <p:nvSpPr>
          <p:cNvPr id="14" name="Text 12"/>
          <p:cNvSpPr/>
          <p:nvPr/>
        </p:nvSpPr>
        <p:spPr>
          <a:xfrm>
            <a:off x="6309360" y="1737360"/>
            <a:ext cx="2468880" cy="594360"/>
          </a:xfrm>
          <a:prstGeom prst="rect">
            <a:avLst/>
          </a:prstGeom>
          <a:noFill/>
          <a:ln/>
        </p:spPr>
        <p:txBody>
          <a:bodyPr wrap="square" rtlCol="0" anchor="ctr"/>
          <a:lstStyle/>
          <a:p>
            <a:pPr rtl="1" algn="r" indent="0" marL="0">
              <a:buNone/>
            </a:pPr>
            <a:r>
              <a:rPr lang="en-US" sz="1300" b="1" dirty="0">
                <a:solidFill>
                  <a:srgbClr val="0B1F4D"/>
                </a:solidFill>
                <a:latin typeface="Segoe UI" pitchFamily="34" charset="0"/>
                <a:ea typeface="Segoe UI" pitchFamily="34" charset="-122"/>
                <a:cs typeface="Segoe UI" pitchFamily="34" charset="-120"/>
              </a:rPr>
              <a:t>فلاتر متقدمة</a:t>
            </a:r>
            <a:endParaRPr lang="en-US" sz="1300" dirty="0"/>
          </a:p>
        </p:txBody>
      </p:sp>
      <p:sp>
        <p:nvSpPr>
          <p:cNvPr id="15" name="Text 13"/>
          <p:cNvSpPr/>
          <p:nvPr/>
        </p:nvSpPr>
        <p:spPr>
          <a:xfrm>
            <a:off x="6309360" y="2423160"/>
            <a:ext cx="2468880" cy="868680"/>
          </a:xfrm>
          <a:prstGeom prst="rect">
            <a:avLst/>
          </a:prstGeom>
          <a:noFill/>
          <a:ln/>
        </p:spPr>
        <p:txBody>
          <a:bodyPr wrap="square" rtlCol="0" anchor="ctr"/>
          <a:lstStyle/>
          <a:p>
            <a:pPr rtl="1" algn="r" indent="0" marL="0">
              <a:buNone/>
            </a:pPr>
            <a:r>
              <a:rPr lang="en-US" sz="1200" dirty="0">
                <a:solidFill>
                  <a:srgbClr val="475569"/>
                </a:solidFill>
                <a:latin typeface="Segoe UI" pitchFamily="34" charset="0"/>
                <a:ea typeface="Segoe UI" pitchFamily="34" charset="-122"/>
                <a:cs typeface="Segoe UI" pitchFamily="34" charset="-120"/>
              </a:rPr>
              <a:t>توفر · شحن سريع · موثّق · نقاء · سعر · مدينة · ترتيب</a:t>
            </a:r>
            <a:endParaRPr lang="en-US" sz="1200" dirty="0"/>
          </a:p>
        </p:txBody>
      </p:sp>
      <p:sp>
        <p:nvSpPr>
          <p:cNvPr id="16" name="Shape 14"/>
          <p:cNvSpPr/>
          <p:nvPr/>
        </p:nvSpPr>
        <p:spPr>
          <a:xfrm>
            <a:off x="9052560" y="1508760"/>
            <a:ext cx="2743200" cy="2011680"/>
          </a:xfrm>
          <a:prstGeom prst="roundRect">
            <a:avLst>
              <a:gd name="adj" fmla="val 4545"/>
            </a:avLst>
          </a:prstGeom>
          <a:solidFill>
            <a:srgbClr val="EEF6F5"/>
          </a:solidFill>
          <a:ln w="12700">
            <a:solidFill>
              <a:srgbClr val="CCFBF1"/>
            </a:solidFill>
            <a:prstDash val="solid"/>
          </a:ln>
        </p:spPr>
      </p:sp>
      <p:sp>
        <p:nvSpPr>
          <p:cNvPr id="17" name="Text 15"/>
          <p:cNvSpPr/>
          <p:nvPr/>
        </p:nvSpPr>
        <p:spPr>
          <a:xfrm>
            <a:off x="9189720" y="1737360"/>
            <a:ext cx="2468880" cy="594360"/>
          </a:xfrm>
          <a:prstGeom prst="rect">
            <a:avLst/>
          </a:prstGeom>
          <a:noFill/>
          <a:ln/>
        </p:spPr>
        <p:txBody>
          <a:bodyPr wrap="square" rtlCol="0" anchor="ctr"/>
          <a:lstStyle/>
          <a:p>
            <a:pPr rtl="1" algn="r" indent="0" marL="0">
              <a:buNone/>
            </a:pPr>
            <a:r>
              <a:rPr lang="en-US" sz="1300" b="1" dirty="0">
                <a:solidFill>
                  <a:srgbClr val="0B1F4D"/>
                </a:solidFill>
                <a:latin typeface="Segoe UI" pitchFamily="34" charset="0"/>
                <a:ea typeface="Segoe UI" pitchFamily="34" charset="-122"/>
                <a:cs typeface="Segoe UI" pitchFamily="34" charset="-120"/>
              </a:rPr>
              <a:t>متجر المورد العام</a:t>
            </a:r>
            <a:endParaRPr lang="en-US" sz="1300" dirty="0"/>
          </a:p>
        </p:txBody>
      </p:sp>
      <p:sp>
        <p:nvSpPr>
          <p:cNvPr id="18" name="Text 16"/>
          <p:cNvSpPr/>
          <p:nvPr/>
        </p:nvSpPr>
        <p:spPr>
          <a:xfrm>
            <a:off x="9189720" y="2423160"/>
            <a:ext cx="2468880" cy="868680"/>
          </a:xfrm>
          <a:prstGeom prst="rect">
            <a:avLst/>
          </a:prstGeom>
          <a:noFill/>
          <a:ln/>
        </p:spPr>
        <p:txBody>
          <a:bodyPr wrap="square" rtlCol="0" anchor="ctr"/>
          <a:lstStyle/>
          <a:p>
            <a:pPr rtl="1" algn="r" indent="0" marL="0">
              <a:buNone/>
            </a:pPr>
            <a:r>
              <a:rPr lang="en-US" sz="1200" dirty="0">
                <a:solidFill>
                  <a:srgbClr val="475569"/>
                </a:solidFill>
                <a:latin typeface="Segoe UI" pitchFamily="34" charset="0"/>
                <a:ea typeface="Segoe UI" pitchFamily="34" charset="-122"/>
                <a:cs typeface="Segoe UI" pitchFamily="34" charset="-120"/>
              </a:rPr>
              <a:t>صفحة كتالوج لكل بائع + سياسة تسليم مبسّطة</a:t>
            </a:r>
            <a:endParaRPr lang="en-US" sz="1200" dirty="0"/>
          </a:p>
        </p:txBody>
      </p:sp>
      <p:sp>
        <p:nvSpPr>
          <p:cNvPr id="19" name="Shape 17"/>
          <p:cNvSpPr/>
          <p:nvPr/>
        </p:nvSpPr>
        <p:spPr>
          <a:xfrm>
            <a:off x="411480" y="3703320"/>
            <a:ext cx="2743200" cy="2011680"/>
          </a:xfrm>
          <a:prstGeom prst="roundRect">
            <a:avLst>
              <a:gd name="adj" fmla="val 4545"/>
            </a:avLst>
          </a:prstGeom>
          <a:solidFill>
            <a:srgbClr val="FFFFFF"/>
          </a:solidFill>
          <a:ln w="12700">
            <a:solidFill>
              <a:srgbClr val="D6D3D1"/>
            </a:solidFill>
            <a:prstDash val="solid"/>
          </a:ln>
        </p:spPr>
      </p:sp>
      <p:sp>
        <p:nvSpPr>
          <p:cNvPr id="20" name="Text 18"/>
          <p:cNvSpPr/>
          <p:nvPr/>
        </p:nvSpPr>
        <p:spPr>
          <a:xfrm>
            <a:off x="548640" y="3931920"/>
            <a:ext cx="2468880" cy="594360"/>
          </a:xfrm>
          <a:prstGeom prst="rect">
            <a:avLst/>
          </a:prstGeom>
          <a:noFill/>
          <a:ln/>
        </p:spPr>
        <p:txBody>
          <a:bodyPr wrap="square" rtlCol="0" anchor="ctr"/>
          <a:lstStyle/>
          <a:p>
            <a:pPr rtl="1" algn="r" indent="0" marL="0">
              <a:buNone/>
            </a:pPr>
            <a:r>
              <a:rPr lang="en-US" sz="1300" b="1" dirty="0">
                <a:solidFill>
                  <a:srgbClr val="0B1F4D"/>
                </a:solidFill>
                <a:latin typeface="Segoe UI" pitchFamily="34" charset="0"/>
                <a:ea typeface="Segoe UI" pitchFamily="34" charset="-122"/>
                <a:cs typeface="Segoe UI" pitchFamily="34" charset="-120"/>
              </a:rPr>
              <a:t>عربة + طلبات متعددة</a:t>
            </a:r>
            <a:endParaRPr lang="en-US" sz="1300" dirty="0"/>
          </a:p>
        </p:txBody>
      </p:sp>
      <p:sp>
        <p:nvSpPr>
          <p:cNvPr id="21" name="Text 19"/>
          <p:cNvSpPr/>
          <p:nvPr/>
        </p:nvSpPr>
        <p:spPr>
          <a:xfrm>
            <a:off x="548640" y="4617720"/>
            <a:ext cx="2468880" cy="868680"/>
          </a:xfrm>
          <a:prstGeom prst="rect">
            <a:avLst/>
          </a:prstGeom>
          <a:noFill/>
          <a:ln/>
        </p:spPr>
        <p:txBody>
          <a:bodyPr wrap="square" rtlCol="0" anchor="ctr"/>
          <a:lstStyle/>
          <a:p>
            <a:pPr rtl="1" algn="r" indent="0" marL="0">
              <a:buNone/>
            </a:pPr>
            <a:r>
              <a:rPr lang="en-US" sz="1200" dirty="0">
                <a:solidFill>
                  <a:srgbClr val="475569"/>
                </a:solidFill>
                <a:latin typeface="Segoe UI" pitchFamily="34" charset="0"/>
                <a:ea typeface="Segoe UI" pitchFamily="34" charset="-122"/>
                <a:cs typeface="Segoe UI" pitchFamily="34" charset="-120"/>
              </a:rPr>
              <a:t>Escrow لكل صنف/مورد · دفع يدوي أو Paymob</a:t>
            </a:r>
            <a:endParaRPr lang="en-US" sz="1200" dirty="0"/>
          </a:p>
        </p:txBody>
      </p:sp>
      <p:sp>
        <p:nvSpPr>
          <p:cNvPr id="22" name="Shape 20"/>
          <p:cNvSpPr/>
          <p:nvPr/>
        </p:nvSpPr>
        <p:spPr>
          <a:xfrm>
            <a:off x="3291840" y="3703320"/>
            <a:ext cx="2743200" cy="2011680"/>
          </a:xfrm>
          <a:prstGeom prst="roundRect">
            <a:avLst>
              <a:gd name="adj" fmla="val 4545"/>
            </a:avLst>
          </a:prstGeom>
          <a:solidFill>
            <a:srgbClr val="FFFFFF"/>
          </a:solidFill>
          <a:ln w="12700">
            <a:solidFill>
              <a:srgbClr val="D6D3D1"/>
            </a:solidFill>
            <a:prstDash val="solid"/>
          </a:ln>
        </p:spPr>
      </p:sp>
      <p:sp>
        <p:nvSpPr>
          <p:cNvPr id="23" name="Text 21"/>
          <p:cNvSpPr/>
          <p:nvPr/>
        </p:nvSpPr>
        <p:spPr>
          <a:xfrm>
            <a:off x="3429000" y="3931920"/>
            <a:ext cx="2468880" cy="594360"/>
          </a:xfrm>
          <a:prstGeom prst="rect">
            <a:avLst/>
          </a:prstGeom>
          <a:noFill/>
          <a:ln/>
        </p:spPr>
        <p:txBody>
          <a:bodyPr wrap="square" rtlCol="0" anchor="ctr"/>
          <a:lstStyle/>
          <a:p>
            <a:pPr rtl="1" algn="r" indent="0" marL="0">
              <a:buNone/>
            </a:pPr>
            <a:r>
              <a:rPr lang="en-US" sz="1300" b="1" dirty="0">
                <a:solidFill>
                  <a:srgbClr val="0B1F4D"/>
                </a:solidFill>
                <a:latin typeface="Segoe UI" pitchFamily="34" charset="0"/>
                <a:ea typeface="Segoe UI" pitchFamily="34" charset="-122"/>
                <a:cs typeface="Segoe UI" pitchFamily="34" charset="-120"/>
              </a:rPr>
              <a:t>توصيات بحثية</a:t>
            </a:r>
            <a:endParaRPr lang="en-US" sz="1300" dirty="0"/>
          </a:p>
        </p:txBody>
      </p:sp>
      <p:sp>
        <p:nvSpPr>
          <p:cNvPr id="24" name="Text 22"/>
          <p:cNvSpPr/>
          <p:nvPr/>
        </p:nvSpPr>
        <p:spPr>
          <a:xfrm>
            <a:off x="3429000" y="4617720"/>
            <a:ext cx="2468880" cy="868680"/>
          </a:xfrm>
          <a:prstGeom prst="rect">
            <a:avLst/>
          </a:prstGeom>
          <a:noFill/>
          <a:ln/>
        </p:spPr>
        <p:txBody>
          <a:bodyPr wrap="square" rtlCol="0" anchor="ctr"/>
          <a:lstStyle/>
          <a:p>
            <a:pPr rtl="1" algn="r" indent="0" marL="0">
              <a:buNone/>
            </a:pPr>
            <a:r>
              <a:rPr lang="en-US" sz="1200" dirty="0">
                <a:solidFill>
                  <a:srgbClr val="475569"/>
                </a:solidFill>
                <a:latin typeface="Segoe UI" pitchFamily="34" charset="0"/>
                <a:ea typeface="Segoe UI" pitchFamily="34" charset="-122"/>
                <a:cs typeface="Segoe UI" pitchFamily="34" charset="-120"/>
              </a:rPr>
              <a:t>«معدات تناسب رسالتك» من الملف الأكاديمي</a:t>
            </a:r>
            <a:endParaRPr lang="en-US" sz="1200" dirty="0"/>
          </a:p>
        </p:txBody>
      </p:sp>
      <p:sp>
        <p:nvSpPr>
          <p:cNvPr id="25" name="Shape 23"/>
          <p:cNvSpPr/>
          <p:nvPr/>
        </p:nvSpPr>
        <p:spPr>
          <a:xfrm>
            <a:off x="6172200" y="3703320"/>
            <a:ext cx="2743200" cy="2011680"/>
          </a:xfrm>
          <a:prstGeom prst="roundRect">
            <a:avLst>
              <a:gd name="adj" fmla="val 4545"/>
            </a:avLst>
          </a:prstGeom>
          <a:solidFill>
            <a:srgbClr val="FFFFFF"/>
          </a:solidFill>
          <a:ln w="12700">
            <a:solidFill>
              <a:srgbClr val="D6D3D1"/>
            </a:solidFill>
            <a:prstDash val="solid"/>
          </a:ln>
        </p:spPr>
      </p:sp>
      <p:sp>
        <p:nvSpPr>
          <p:cNvPr id="26" name="Text 24"/>
          <p:cNvSpPr/>
          <p:nvPr/>
        </p:nvSpPr>
        <p:spPr>
          <a:xfrm>
            <a:off x="6309360" y="3931920"/>
            <a:ext cx="2468880" cy="594360"/>
          </a:xfrm>
          <a:prstGeom prst="rect">
            <a:avLst/>
          </a:prstGeom>
          <a:noFill/>
          <a:ln/>
        </p:spPr>
        <p:txBody>
          <a:bodyPr wrap="square" rtlCol="0" anchor="ctr"/>
          <a:lstStyle/>
          <a:p>
            <a:pPr rtl="1" algn="r" indent="0" marL="0">
              <a:buNone/>
            </a:pPr>
            <a:r>
              <a:rPr lang="en-US" sz="1300" b="1" dirty="0">
                <a:solidFill>
                  <a:srgbClr val="0B1F4D"/>
                </a:solidFill>
                <a:latin typeface="Segoe UI" pitchFamily="34" charset="0"/>
                <a:ea typeface="Segoe UI" pitchFamily="34" charset="-122"/>
                <a:cs typeface="Segoe UI" pitchFamily="34" charset="-120"/>
              </a:rPr>
              <a:t>شارات ثقة + RFQ</a:t>
            </a:r>
            <a:endParaRPr lang="en-US" sz="1300" dirty="0"/>
          </a:p>
        </p:txBody>
      </p:sp>
      <p:sp>
        <p:nvSpPr>
          <p:cNvPr id="27" name="Text 25"/>
          <p:cNvSpPr/>
          <p:nvPr/>
        </p:nvSpPr>
        <p:spPr>
          <a:xfrm>
            <a:off x="6309360" y="4617720"/>
            <a:ext cx="2468880" cy="868680"/>
          </a:xfrm>
          <a:prstGeom prst="rect">
            <a:avLst/>
          </a:prstGeom>
          <a:noFill/>
          <a:ln/>
        </p:spPr>
        <p:txBody>
          <a:bodyPr wrap="square" rtlCol="0" anchor="ctr"/>
          <a:lstStyle/>
          <a:p>
            <a:pPr rtl="1" algn="r" indent="0" marL="0">
              <a:buNone/>
            </a:pPr>
            <a:r>
              <a:rPr lang="en-US" sz="1200" dirty="0">
                <a:solidFill>
                  <a:srgbClr val="475569"/>
                </a:solidFill>
                <a:latin typeface="Segoe UI" pitchFamily="34" charset="0"/>
                <a:ea typeface="Segoe UI" pitchFamily="34" charset="-122"/>
                <a:cs typeface="Segoe UI" pitchFamily="34" charset="-120"/>
              </a:rPr>
              <a:t>موثّق / مستورد رسمي · طلب عرض سعر للكميات</a:t>
            </a:r>
            <a:endParaRPr lang="en-US" sz="1200" dirty="0"/>
          </a:p>
        </p:txBody>
      </p:sp>
      <p:sp>
        <p:nvSpPr>
          <p:cNvPr id="28" name="Shape 26"/>
          <p:cNvSpPr/>
          <p:nvPr/>
        </p:nvSpPr>
        <p:spPr>
          <a:xfrm>
            <a:off x="9052560" y="3703320"/>
            <a:ext cx="2743200" cy="2011680"/>
          </a:xfrm>
          <a:prstGeom prst="roundRect">
            <a:avLst>
              <a:gd name="adj" fmla="val 4545"/>
            </a:avLst>
          </a:prstGeom>
          <a:solidFill>
            <a:srgbClr val="FFFFFF"/>
          </a:solidFill>
          <a:ln w="12700">
            <a:solidFill>
              <a:srgbClr val="D6D3D1"/>
            </a:solidFill>
            <a:prstDash val="solid"/>
          </a:ln>
        </p:spPr>
      </p:sp>
      <p:sp>
        <p:nvSpPr>
          <p:cNvPr id="29" name="Text 27"/>
          <p:cNvSpPr/>
          <p:nvPr/>
        </p:nvSpPr>
        <p:spPr>
          <a:xfrm>
            <a:off x="9189720" y="3931920"/>
            <a:ext cx="2468880" cy="594360"/>
          </a:xfrm>
          <a:prstGeom prst="rect">
            <a:avLst/>
          </a:prstGeom>
          <a:noFill/>
          <a:ln/>
        </p:spPr>
        <p:txBody>
          <a:bodyPr wrap="square" rtlCol="0" anchor="ctr"/>
          <a:lstStyle/>
          <a:p>
            <a:pPr rtl="1" algn="r" indent="0" marL="0">
              <a:buNone/>
            </a:pPr>
            <a:r>
              <a:rPr lang="en-US" sz="1300" b="1" dirty="0">
                <a:solidFill>
                  <a:srgbClr val="0B1F4D"/>
                </a:solidFill>
                <a:latin typeface="Segoe UI" pitchFamily="34" charset="0"/>
                <a:ea typeface="Segoe UI" pitchFamily="34" charset="-122"/>
                <a:cs typeface="Segoe UI" pitchFamily="34" charset="-120"/>
              </a:rPr>
              <a:t>تصميم + أمان</a:t>
            </a:r>
            <a:endParaRPr lang="en-US" sz="1300" dirty="0"/>
          </a:p>
        </p:txBody>
      </p:sp>
      <p:sp>
        <p:nvSpPr>
          <p:cNvPr id="30" name="Text 28"/>
          <p:cNvSpPr/>
          <p:nvPr/>
        </p:nvSpPr>
        <p:spPr>
          <a:xfrm>
            <a:off x="9189720" y="4617720"/>
            <a:ext cx="2468880" cy="868680"/>
          </a:xfrm>
          <a:prstGeom prst="rect">
            <a:avLst/>
          </a:prstGeom>
          <a:noFill/>
          <a:ln/>
        </p:spPr>
        <p:txBody>
          <a:bodyPr wrap="square" rtlCol="0" anchor="ctr"/>
          <a:lstStyle/>
          <a:p>
            <a:pPr rtl="1" algn="r" indent="0" marL="0">
              <a:buNone/>
            </a:pPr>
            <a:r>
              <a:rPr lang="en-US" sz="1200" dirty="0">
                <a:solidFill>
                  <a:srgbClr val="475569"/>
                </a:solidFill>
                <a:latin typeface="Segoe UI" pitchFamily="34" charset="0"/>
                <a:ea typeface="Segoe UI" pitchFamily="34" charset="-122"/>
                <a:cs typeface="Segoe UI" pitchFamily="34" charset="-120"/>
              </a:rPr>
              <a:t>جلد ماركت بليس · قواعد طلبات مشدّدة · خصوصية وشروط محدّثة</a:t>
            </a:r>
            <a:endParaRPr lang="en-US" sz="1200" dirty="0"/>
          </a:p>
        </p:txBody>
      </p:sp>
      <p:sp>
        <p:nvSpPr>
          <p:cNvPr id="31" name="Shape 29"/>
          <p:cNvSpPr/>
          <p:nvPr/>
        </p:nvSpPr>
        <p:spPr>
          <a:xfrm>
            <a:off x="0" y="6510528"/>
            <a:ext cx="12191695" cy="347472"/>
          </a:xfrm>
          <a:prstGeom prst="rect">
            <a:avLst/>
          </a:prstGeom>
          <a:solidFill>
            <a:srgbClr val="F8F5F0"/>
          </a:solidFill>
          <a:ln/>
        </p:spPr>
      </p:sp>
      <p:sp>
        <p:nvSpPr>
          <p:cNvPr id="32" name="Text 30"/>
          <p:cNvSpPr/>
          <p:nvPr/>
        </p:nvSpPr>
        <p:spPr>
          <a:xfrm>
            <a:off x="411480" y="6547104"/>
            <a:ext cx="8229600" cy="256032"/>
          </a:xfrm>
          <a:prstGeom prst="rect">
            <a:avLst/>
          </a:prstGeom>
          <a:noFill/>
          <a:ln/>
        </p:spPr>
        <p:txBody>
          <a:bodyPr wrap="square" rtlCol="0" anchor="ctr"/>
          <a:lstStyle/>
          <a:p>
            <a:pPr rtl="1" algn="r" indent="0" marL="0">
              <a:buNone/>
            </a:pPr>
            <a:r>
              <a:rPr lang="en-US" sz="1000" dirty="0">
                <a:solidFill>
                  <a:srgbClr val="475569"/>
                </a:solidFill>
                <a:latin typeface="Segoe UI" pitchFamily="34" charset="0"/>
                <a:ea typeface="Segoe UI" pitchFamily="34" charset="-122"/>
                <a:cs typeface="Segoe UI" pitchFamily="34" charset="-120"/>
              </a:rPr>
              <a:t>AcadeGate · عرض شراكة الموردين · محدّث ١٩ سبتمبر ٢٠٢٦</a:t>
            </a:r>
            <a:endParaRPr lang="en-US" sz="1000" dirty="0"/>
          </a:p>
        </p:txBody>
      </p:sp>
      <p:sp>
        <p:nvSpPr>
          <p:cNvPr id="33" name="Text 31"/>
          <p:cNvSpPr/>
          <p:nvPr/>
        </p:nvSpPr>
        <p:spPr>
          <a:xfrm>
            <a:off x="10682935" y="6547104"/>
            <a:ext cx="1097280" cy="256032"/>
          </a:xfrm>
          <a:prstGeom prst="rect">
            <a:avLst/>
          </a:prstGeom>
          <a:noFill/>
          <a:ln/>
        </p:spPr>
        <p:txBody>
          <a:bodyPr wrap="square" rtlCol="0" anchor="ctr"/>
          <a:lstStyle/>
          <a:p>
            <a:pPr algn="l" indent="0" marL="0">
              <a:buNone/>
            </a:pPr>
            <a:r>
              <a:rPr lang="en-US" sz="1000" dirty="0">
                <a:solidFill>
                  <a:srgbClr val="475569"/>
                </a:solidFill>
                <a:latin typeface="Segoe UI" pitchFamily="34" charset="0"/>
                <a:ea typeface="Segoe UI" pitchFamily="34" charset="-122"/>
                <a:cs typeface="Segoe UI" pitchFamily="34" charset="-120"/>
              </a:rPr>
              <a:t>6 / 16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sp>
      <p:sp>
        <p:nvSpPr>
          <p:cNvPr id="3" name="Shape 1"/>
          <p:cNvSpPr/>
          <p:nvPr/>
        </p:nvSpPr>
        <p:spPr>
          <a:xfrm>
            <a:off x="411480" y="256032"/>
            <a:ext cx="109728" cy="502920"/>
          </a:xfrm>
          <a:prstGeom prst="rect">
            <a:avLst/>
          </a:prstGeom>
          <a:solidFill>
            <a:srgbClr val="0F766E"/>
          </a:solidFill>
          <a:ln/>
        </p:spPr>
      </p:sp>
      <p:sp>
        <p:nvSpPr>
          <p:cNvPr id="4" name="Text 2"/>
          <p:cNvSpPr/>
          <p:nvPr/>
        </p:nvSpPr>
        <p:spPr>
          <a:xfrm>
            <a:off x="612648" y="201168"/>
            <a:ext cx="11167567" cy="566928"/>
          </a:xfrm>
          <a:prstGeom prst="rect">
            <a:avLst/>
          </a:prstGeom>
          <a:noFill/>
          <a:ln/>
        </p:spPr>
        <p:txBody>
          <a:bodyPr wrap="square" rtlCol="0" anchor="ctr"/>
          <a:lstStyle/>
          <a:p>
            <a:pPr rtl="1" algn="r" indent="0" marL="0">
              <a:buNone/>
            </a:pPr>
            <a:r>
              <a:rPr lang="en-US" sz="2400" b="1" dirty="0">
                <a:solidFill>
                  <a:srgbClr val="0B1F4D"/>
                </a:solidFill>
                <a:latin typeface="Segoe UI" pitchFamily="34" charset="0"/>
                <a:ea typeface="Segoe UI" pitchFamily="34" charset="-122"/>
                <a:cs typeface="Segoe UI" pitchFamily="34" charset="-120"/>
              </a:rPr>
              <a:t>٥ — المتجر الأكاديمي: ١٥ قسماً متخصصاً</a:t>
            </a:r>
            <a:endParaRPr lang="en-US" sz="2400" dirty="0"/>
          </a:p>
        </p:txBody>
      </p:sp>
      <p:sp>
        <p:nvSpPr>
          <p:cNvPr id="5" name="Shape 3"/>
          <p:cNvSpPr/>
          <p:nvPr/>
        </p:nvSpPr>
        <p:spPr>
          <a:xfrm>
            <a:off x="411480" y="822960"/>
            <a:ext cx="11368735" cy="32004"/>
          </a:xfrm>
          <a:prstGeom prst="rect">
            <a:avLst/>
          </a:prstGeom>
          <a:solidFill>
            <a:srgbClr val="0F766E"/>
          </a:solidFill>
          <a:ln/>
        </p:spPr>
      </p:sp>
      <p:sp>
        <p:nvSpPr>
          <p:cNvPr id="6" name="Text 4"/>
          <p:cNvSpPr/>
          <p:nvPr/>
        </p:nvSpPr>
        <p:spPr>
          <a:xfrm>
            <a:off x="411480" y="960120"/>
            <a:ext cx="11368735" cy="457200"/>
          </a:xfrm>
          <a:prstGeom prst="rect">
            <a:avLst/>
          </a:prstGeom>
          <a:noFill/>
          <a:ln/>
        </p:spPr>
        <p:txBody>
          <a:bodyPr wrap="square" rtlCol="0" anchor="ctr"/>
          <a:lstStyle/>
          <a:p>
            <a:pPr rtl="1" algn="r" indent="0" marL="0">
              <a:buNone/>
            </a:pPr>
            <a:r>
              <a:rPr lang="en-US" sz="1300" dirty="0">
                <a:solidFill>
                  <a:srgbClr val="475569"/>
                </a:solidFill>
                <a:latin typeface="Segoe UI" pitchFamily="34" charset="0"/>
                <a:ea typeface="Segoe UI" pitchFamily="34" charset="-122"/>
                <a:cs typeface="Segoe UI" pitchFamily="34" charset="-120"/>
              </a:rPr>
              <a:t>كل قسم موجّه لكليات وجمهور واضح — يظهر منتجك أمام من يحتاجه فعلاً.</a:t>
            </a:r>
            <a:endParaRPr lang="en-US" sz="1300" dirty="0"/>
          </a:p>
        </p:txBody>
      </p:sp>
      <p:sp>
        <p:nvSpPr>
          <p:cNvPr id="7" name="Shape 5"/>
          <p:cNvSpPr/>
          <p:nvPr/>
        </p:nvSpPr>
        <p:spPr>
          <a:xfrm>
            <a:off x="411480" y="1554480"/>
            <a:ext cx="2148840" cy="1234440"/>
          </a:xfrm>
          <a:prstGeom prst="roundRect">
            <a:avLst>
              <a:gd name="adj" fmla="val 5926"/>
            </a:avLst>
          </a:prstGeom>
          <a:solidFill>
            <a:srgbClr val="EEF6F5"/>
          </a:solidFill>
          <a:ln w="12700">
            <a:solidFill>
              <a:srgbClr val="99F6E4"/>
            </a:solidFill>
            <a:prstDash val="solid"/>
          </a:ln>
        </p:spPr>
      </p:sp>
      <p:sp>
        <p:nvSpPr>
          <p:cNvPr id="8" name="Text 6"/>
          <p:cNvSpPr/>
          <p:nvPr/>
        </p:nvSpPr>
        <p:spPr>
          <a:xfrm>
            <a:off x="484632" y="1783080"/>
            <a:ext cx="2011680" cy="822960"/>
          </a:xfrm>
          <a:prstGeom prst="rect">
            <a:avLst/>
          </a:prstGeom>
          <a:noFill/>
          <a:ln/>
        </p:spPr>
        <p:txBody>
          <a:bodyPr wrap="square" rtlCol="0" anchor="ctr"/>
          <a:lstStyle/>
          <a:p>
            <a:pPr rtl="1" algn="ctr" indent="0" marL="0">
              <a:buNone/>
            </a:pPr>
            <a:r>
              <a:rPr lang="en-US" sz="1200" b="1" dirty="0">
                <a:solidFill>
                  <a:srgbClr val="115E59"/>
                </a:solidFill>
                <a:latin typeface="Segoe UI" pitchFamily="34" charset="0"/>
                <a:ea typeface="Segoe UI" pitchFamily="34" charset="-122"/>
                <a:cs typeface="Segoe UI" pitchFamily="34" charset="-120"/>
              </a:rPr>
              <a:t>مستلزمات ومواد كيميائية وكواشف</a:t>
            </a:r>
            <a:endParaRPr lang="en-US" sz="1200" dirty="0"/>
          </a:p>
        </p:txBody>
      </p:sp>
      <p:sp>
        <p:nvSpPr>
          <p:cNvPr id="9" name="Shape 7"/>
          <p:cNvSpPr/>
          <p:nvPr/>
        </p:nvSpPr>
        <p:spPr>
          <a:xfrm>
            <a:off x="2697480" y="1554480"/>
            <a:ext cx="2148840" cy="1234440"/>
          </a:xfrm>
          <a:prstGeom prst="roundRect">
            <a:avLst>
              <a:gd name="adj" fmla="val 5926"/>
            </a:avLst>
          </a:prstGeom>
          <a:solidFill>
            <a:srgbClr val="EEF6F5"/>
          </a:solidFill>
          <a:ln w="12700">
            <a:solidFill>
              <a:srgbClr val="99F6E4"/>
            </a:solidFill>
            <a:prstDash val="solid"/>
          </a:ln>
        </p:spPr>
      </p:sp>
      <p:sp>
        <p:nvSpPr>
          <p:cNvPr id="10" name="Text 8"/>
          <p:cNvSpPr/>
          <p:nvPr/>
        </p:nvSpPr>
        <p:spPr>
          <a:xfrm>
            <a:off x="2770632" y="1783080"/>
            <a:ext cx="2011680" cy="822960"/>
          </a:xfrm>
          <a:prstGeom prst="rect">
            <a:avLst/>
          </a:prstGeom>
          <a:noFill/>
          <a:ln/>
        </p:spPr>
        <p:txBody>
          <a:bodyPr wrap="square" rtlCol="0" anchor="ctr"/>
          <a:lstStyle/>
          <a:p>
            <a:pPr rtl="1" algn="ctr" indent="0" marL="0">
              <a:buNone/>
            </a:pPr>
            <a:r>
              <a:rPr lang="en-US" sz="1200" b="1" dirty="0">
                <a:solidFill>
                  <a:srgbClr val="115E59"/>
                </a:solidFill>
                <a:latin typeface="Segoe UI" pitchFamily="34" charset="0"/>
                <a:ea typeface="Segoe UI" pitchFamily="34" charset="-122"/>
                <a:cs typeface="Segoe UI" pitchFamily="34" charset="-120"/>
              </a:rPr>
              <a:t>بيولوجيا وتقنية حيوية</a:t>
            </a:r>
            <a:endParaRPr lang="en-US" sz="1200" dirty="0"/>
          </a:p>
        </p:txBody>
      </p:sp>
      <p:sp>
        <p:nvSpPr>
          <p:cNvPr id="11" name="Shape 9"/>
          <p:cNvSpPr/>
          <p:nvPr/>
        </p:nvSpPr>
        <p:spPr>
          <a:xfrm>
            <a:off x="4983480" y="1554480"/>
            <a:ext cx="2148840" cy="1234440"/>
          </a:xfrm>
          <a:prstGeom prst="roundRect">
            <a:avLst>
              <a:gd name="adj" fmla="val 5926"/>
            </a:avLst>
          </a:prstGeom>
          <a:solidFill>
            <a:srgbClr val="EEF6F5"/>
          </a:solidFill>
          <a:ln w="12700">
            <a:solidFill>
              <a:srgbClr val="99F6E4"/>
            </a:solidFill>
            <a:prstDash val="solid"/>
          </a:ln>
        </p:spPr>
      </p:sp>
      <p:sp>
        <p:nvSpPr>
          <p:cNvPr id="12" name="Text 10"/>
          <p:cNvSpPr/>
          <p:nvPr/>
        </p:nvSpPr>
        <p:spPr>
          <a:xfrm>
            <a:off x="5056632" y="1783080"/>
            <a:ext cx="2011680" cy="822960"/>
          </a:xfrm>
          <a:prstGeom prst="rect">
            <a:avLst/>
          </a:prstGeom>
          <a:noFill/>
          <a:ln/>
        </p:spPr>
        <p:txBody>
          <a:bodyPr wrap="square" rtlCol="0" anchor="ctr"/>
          <a:lstStyle/>
          <a:p>
            <a:pPr rtl="1" algn="ctr" indent="0" marL="0">
              <a:buNone/>
            </a:pPr>
            <a:r>
              <a:rPr lang="en-US" sz="1200" b="1" dirty="0">
                <a:solidFill>
                  <a:srgbClr val="115E59"/>
                </a:solidFill>
                <a:latin typeface="Segoe UI" pitchFamily="34" charset="0"/>
                <a:ea typeface="Segoe UI" pitchFamily="34" charset="-122"/>
                <a:cs typeface="Segoe UI" pitchFamily="34" charset="-120"/>
              </a:rPr>
              <a:t>طبي وصيدلي وسريري</a:t>
            </a:r>
            <a:endParaRPr lang="en-US" sz="1200" dirty="0"/>
          </a:p>
        </p:txBody>
      </p:sp>
      <p:sp>
        <p:nvSpPr>
          <p:cNvPr id="13" name="Shape 11"/>
          <p:cNvSpPr/>
          <p:nvPr/>
        </p:nvSpPr>
        <p:spPr>
          <a:xfrm>
            <a:off x="7269480" y="1554480"/>
            <a:ext cx="2148840" cy="1234440"/>
          </a:xfrm>
          <a:prstGeom prst="roundRect">
            <a:avLst>
              <a:gd name="adj" fmla="val 5926"/>
            </a:avLst>
          </a:prstGeom>
          <a:solidFill>
            <a:srgbClr val="EEF6F5"/>
          </a:solidFill>
          <a:ln w="12700">
            <a:solidFill>
              <a:srgbClr val="99F6E4"/>
            </a:solidFill>
            <a:prstDash val="solid"/>
          </a:ln>
        </p:spPr>
      </p:sp>
      <p:sp>
        <p:nvSpPr>
          <p:cNvPr id="14" name="Text 12"/>
          <p:cNvSpPr/>
          <p:nvPr/>
        </p:nvSpPr>
        <p:spPr>
          <a:xfrm>
            <a:off x="7342632" y="1783080"/>
            <a:ext cx="2011680" cy="822960"/>
          </a:xfrm>
          <a:prstGeom prst="rect">
            <a:avLst/>
          </a:prstGeom>
          <a:noFill/>
          <a:ln/>
        </p:spPr>
        <p:txBody>
          <a:bodyPr wrap="square" rtlCol="0" anchor="ctr"/>
          <a:lstStyle/>
          <a:p>
            <a:pPr rtl="1" algn="ctr" indent="0" marL="0">
              <a:buNone/>
            </a:pPr>
            <a:r>
              <a:rPr lang="en-US" sz="1200" b="1" dirty="0">
                <a:solidFill>
                  <a:srgbClr val="115E59"/>
                </a:solidFill>
                <a:latin typeface="Segoe UI" pitchFamily="34" charset="0"/>
                <a:ea typeface="Segoe UI" pitchFamily="34" charset="-122"/>
                <a:cs typeface="Segoe UI" pitchFamily="34" charset="-120"/>
              </a:rPr>
              <a:t>هندسة وإلكترونيات</a:t>
            </a:r>
            <a:endParaRPr lang="en-US" sz="1200" dirty="0"/>
          </a:p>
        </p:txBody>
      </p:sp>
      <p:sp>
        <p:nvSpPr>
          <p:cNvPr id="15" name="Shape 13"/>
          <p:cNvSpPr/>
          <p:nvPr/>
        </p:nvSpPr>
        <p:spPr>
          <a:xfrm>
            <a:off x="9555480" y="1554480"/>
            <a:ext cx="2148840" cy="1234440"/>
          </a:xfrm>
          <a:prstGeom prst="roundRect">
            <a:avLst>
              <a:gd name="adj" fmla="val 5926"/>
            </a:avLst>
          </a:prstGeom>
          <a:solidFill>
            <a:srgbClr val="EEF6F5"/>
          </a:solidFill>
          <a:ln w="12700">
            <a:solidFill>
              <a:srgbClr val="99F6E4"/>
            </a:solidFill>
            <a:prstDash val="solid"/>
          </a:ln>
        </p:spPr>
      </p:sp>
      <p:sp>
        <p:nvSpPr>
          <p:cNvPr id="16" name="Text 14"/>
          <p:cNvSpPr/>
          <p:nvPr/>
        </p:nvSpPr>
        <p:spPr>
          <a:xfrm>
            <a:off x="9628632" y="1783080"/>
            <a:ext cx="2011680" cy="822960"/>
          </a:xfrm>
          <a:prstGeom prst="rect">
            <a:avLst/>
          </a:prstGeom>
          <a:noFill/>
          <a:ln/>
        </p:spPr>
        <p:txBody>
          <a:bodyPr wrap="square" rtlCol="0" anchor="ctr"/>
          <a:lstStyle/>
          <a:p>
            <a:pPr rtl="1" algn="ctr" indent="0" marL="0">
              <a:buNone/>
            </a:pPr>
            <a:r>
              <a:rPr lang="en-US" sz="1200" b="1" dirty="0">
                <a:solidFill>
                  <a:srgbClr val="115E59"/>
                </a:solidFill>
                <a:latin typeface="Segoe UI" pitchFamily="34" charset="0"/>
                <a:ea typeface="Segoe UI" pitchFamily="34" charset="-122"/>
                <a:cs typeface="Segoe UI" pitchFamily="34" charset="-120"/>
              </a:rPr>
              <a:t>فيزياء ومواد</a:t>
            </a:r>
            <a:endParaRPr lang="en-US" sz="1200" dirty="0"/>
          </a:p>
        </p:txBody>
      </p:sp>
      <p:sp>
        <p:nvSpPr>
          <p:cNvPr id="17" name="Shape 15"/>
          <p:cNvSpPr/>
          <p:nvPr/>
        </p:nvSpPr>
        <p:spPr>
          <a:xfrm>
            <a:off x="411480" y="2971800"/>
            <a:ext cx="2148840" cy="1234440"/>
          </a:xfrm>
          <a:prstGeom prst="roundRect">
            <a:avLst>
              <a:gd name="adj" fmla="val 5926"/>
            </a:avLst>
          </a:prstGeom>
          <a:solidFill>
            <a:srgbClr val="EEF6F5"/>
          </a:solidFill>
          <a:ln w="12700">
            <a:solidFill>
              <a:srgbClr val="99F6E4"/>
            </a:solidFill>
            <a:prstDash val="solid"/>
          </a:ln>
        </p:spPr>
      </p:sp>
      <p:sp>
        <p:nvSpPr>
          <p:cNvPr id="18" name="Text 16"/>
          <p:cNvSpPr/>
          <p:nvPr/>
        </p:nvSpPr>
        <p:spPr>
          <a:xfrm>
            <a:off x="484632" y="3200400"/>
            <a:ext cx="2011680" cy="822960"/>
          </a:xfrm>
          <a:prstGeom prst="rect">
            <a:avLst/>
          </a:prstGeom>
          <a:noFill/>
          <a:ln/>
        </p:spPr>
        <p:txBody>
          <a:bodyPr wrap="square" rtlCol="0" anchor="ctr"/>
          <a:lstStyle/>
          <a:p>
            <a:pPr rtl="1" algn="ctr" indent="0" marL="0">
              <a:buNone/>
            </a:pPr>
            <a:r>
              <a:rPr lang="en-US" sz="1200" b="1" dirty="0">
                <a:solidFill>
                  <a:srgbClr val="115E59"/>
                </a:solidFill>
                <a:latin typeface="Segoe UI" pitchFamily="34" charset="0"/>
                <a:ea typeface="Segoe UI" pitchFamily="34" charset="-122"/>
                <a:cs typeface="Segoe UI" pitchFamily="34" charset="-120"/>
              </a:rPr>
              <a:t>زراعة وبيطري</a:t>
            </a:r>
            <a:endParaRPr lang="en-US" sz="1200" dirty="0"/>
          </a:p>
        </p:txBody>
      </p:sp>
      <p:sp>
        <p:nvSpPr>
          <p:cNvPr id="19" name="Shape 17"/>
          <p:cNvSpPr/>
          <p:nvPr/>
        </p:nvSpPr>
        <p:spPr>
          <a:xfrm>
            <a:off x="2697480" y="2971800"/>
            <a:ext cx="2148840" cy="1234440"/>
          </a:xfrm>
          <a:prstGeom prst="roundRect">
            <a:avLst>
              <a:gd name="adj" fmla="val 5926"/>
            </a:avLst>
          </a:prstGeom>
          <a:solidFill>
            <a:srgbClr val="EEF6F5"/>
          </a:solidFill>
          <a:ln w="12700">
            <a:solidFill>
              <a:srgbClr val="99F6E4"/>
            </a:solidFill>
            <a:prstDash val="solid"/>
          </a:ln>
        </p:spPr>
      </p:sp>
      <p:sp>
        <p:nvSpPr>
          <p:cNvPr id="20" name="Text 18"/>
          <p:cNvSpPr/>
          <p:nvPr/>
        </p:nvSpPr>
        <p:spPr>
          <a:xfrm>
            <a:off x="2770632" y="3200400"/>
            <a:ext cx="2011680" cy="822960"/>
          </a:xfrm>
          <a:prstGeom prst="rect">
            <a:avLst/>
          </a:prstGeom>
          <a:noFill/>
          <a:ln/>
        </p:spPr>
        <p:txBody>
          <a:bodyPr wrap="square" rtlCol="0" anchor="ctr"/>
          <a:lstStyle/>
          <a:p>
            <a:pPr rtl="1" algn="ctr" indent="0" marL="0">
              <a:buNone/>
            </a:pPr>
            <a:r>
              <a:rPr lang="en-US" sz="1200" b="1" dirty="0">
                <a:solidFill>
                  <a:srgbClr val="115E59"/>
                </a:solidFill>
                <a:latin typeface="Segoe UI" pitchFamily="34" charset="0"/>
                <a:ea typeface="Segoe UI" pitchFamily="34" charset="-122"/>
                <a:cs typeface="Segoe UI" pitchFamily="34" charset="-120"/>
              </a:rPr>
              <a:t>حوسبة وبرمجيات بحثية</a:t>
            </a:r>
            <a:endParaRPr lang="en-US" sz="1200" dirty="0"/>
          </a:p>
        </p:txBody>
      </p:sp>
      <p:sp>
        <p:nvSpPr>
          <p:cNvPr id="21" name="Shape 19"/>
          <p:cNvSpPr/>
          <p:nvPr/>
        </p:nvSpPr>
        <p:spPr>
          <a:xfrm>
            <a:off x="4983480" y="2971800"/>
            <a:ext cx="2148840" cy="1234440"/>
          </a:xfrm>
          <a:prstGeom prst="roundRect">
            <a:avLst>
              <a:gd name="adj" fmla="val 5926"/>
            </a:avLst>
          </a:prstGeom>
          <a:solidFill>
            <a:srgbClr val="EEF6F5"/>
          </a:solidFill>
          <a:ln w="12700">
            <a:solidFill>
              <a:srgbClr val="99F6E4"/>
            </a:solidFill>
            <a:prstDash val="solid"/>
          </a:ln>
        </p:spPr>
      </p:sp>
      <p:sp>
        <p:nvSpPr>
          <p:cNvPr id="22" name="Text 20"/>
          <p:cNvSpPr/>
          <p:nvPr/>
        </p:nvSpPr>
        <p:spPr>
          <a:xfrm>
            <a:off x="5056632" y="3200400"/>
            <a:ext cx="2011680" cy="822960"/>
          </a:xfrm>
          <a:prstGeom prst="rect">
            <a:avLst/>
          </a:prstGeom>
          <a:noFill/>
          <a:ln/>
        </p:spPr>
        <p:txBody>
          <a:bodyPr wrap="square" rtlCol="0" anchor="ctr"/>
          <a:lstStyle/>
          <a:p>
            <a:pPr rtl="1" algn="ctr" indent="0" marL="0">
              <a:buNone/>
            </a:pPr>
            <a:r>
              <a:rPr lang="en-US" sz="1200" b="1" dirty="0">
                <a:solidFill>
                  <a:srgbClr val="115E59"/>
                </a:solidFill>
                <a:latin typeface="Segoe UI" pitchFamily="34" charset="0"/>
                <a:ea typeface="Segoe UI" pitchFamily="34" charset="-122"/>
                <a:cs typeface="Segoe UI" pitchFamily="34" charset="-120"/>
              </a:rPr>
              <a:t>مستهلكات وأدوات مختبر</a:t>
            </a:r>
            <a:endParaRPr lang="en-US" sz="1200" dirty="0"/>
          </a:p>
        </p:txBody>
      </p:sp>
      <p:sp>
        <p:nvSpPr>
          <p:cNvPr id="23" name="Shape 21"/>
          <p:cNvSpPr/>
          <p:nvPr/>
        </p:nvSpPr>
        <p:spPr>
          <a:xfrm>
            <a:off x="7269480" y="2971800"/>
            <a:ext cx="2148840" cy="1234440"/>
          </a:xfrm>
          <a:prstGeom prst="roundRect">
            <a:avLst>
              <a:gd name="adj" fmla="val 5926"/>
            </a:avLst>
          </a:prstGeom>
          <a:solidFill>
            <a:srgbClr val="EEF6F5"/>
          </a:solidFill>
          <a:ln w="12700">
            <a:solidFill>
              <a:srgbClr val="99F6E4"/>
            </a:solidFill>
            <a:prstDash val="solid"/>
          </a:ln>
        </p:spPr>
      </p:sp>
      <p:sp>
        <p:nvSpPr>
          <p:cNvPr id="24" name="Text 22"/>
          <p:cNvSpPr/>
          <p:nvPr/>
        </p:nvSpPr>
        <p:spPr>
          <a:xfrm>
            <a:off x="7342632" y="3200400"/>
            <a:ext cx="2011680" cy="822960"/>
          </a:xfrm>
          <a:prstGeom prst="rect">
            <a:avLst/>
          </a:prstGeom>
          <a:noFill/>
          <a:ln/>
        </p:spPr>
        <p:txBody>
          <a:bodyPr wrap="square" rtlCol="0" anchor="ctr"/>
          <a:lstStyle/>
          <a:p>
            <a:pPr rtl="1" algn="ctr" indent="0" marL="0">
              <a:buNone/>
            </a:pPr>
            <a:r>
              <a:rPr lang="en-US" sz="1200" b="1" dirty="0">
                <a:solidFill>
                  <a:srgbClr val="115E59"/>
                </a:solidFill>
                <a:latin typeface="Segoe UI" pitchFamily="34" charset="0"/>
                <a:ea typeface="Segoe UI" pitchFamily="34" charset="-122"/>
                <a:cs typeface="Segoe UI" pitchFamily="34" charset="-120"/>
              </a:rPr>
              <a:t>أجهزة وأدوات قياس</a:t>
            </a:r>
            <a:endParaRPr lang="en-US" sz="1200" dirty="0"/>
          </a:p>
        </p:txBody>
      </p:sp>
      <p:sp>
        <p:nvSpPr>
          <p:cNvPr id="25" name="Shape 23"/>
          <p:cNvSpPr/>
          <p:nvPr/>
        </p:nvSpPr>
        <p:spPr>
          <a:xfrm>
            <a:off x="9555480" y="2971800"/>
            <a:ext cx="2148840" cy="1234440"/>
          </a:xfrm>
          <a:prstGeom prst="roundRect">
            <a:avLst>
              <a:gd name="adj" fmla="val 5926"/>
            </a:avLst>
          </a:prstGeom>
          <a:solidFill>
            <a:srgbClr val="EEF6F5"/>
          </a:solidFill>
          <a:ln w="12700">
            <a:solidFill>
              <a:srgbClr val="99F6E4"/>
            </a:solidFill>
            <a:prstDash val="solid"/>
          </a:ln>
        </p:spPr>
      </p:sp>
      <p:sp>
        <p:nvSpPr>
          <p:cNvPr id="26" name="Text 24"/>
          <p:cNvSpPr/>
          <p:nvPr/>
        </p:nvSpPr>
        <p:spPr>
          <a:xfrm>
            <a:off x="9628632" y="3200400"/>
            <a:ext cx="2011680" cy="822960"/>
          </a:xfrm>
          <a:prstGeom prst="rect">
            <a:avLst/>
          </a:prstGeom>
          <a:noFill/>
          <a:ln/>
        </p:spPr>
        <p:txBody>
          <a:bodyPr wrap="square" rtlCol="0" anchor="ctr"/>
          <a:lstStyle/>
          <a:p>
            <a:pPr rtl="1" algn="ctr" indent="0" marL="0">
              <a:buNone/>
            </a:pPr>
            <a:r>
              <a:rPr lang="en-US" sz="1200" b="1" dirty="0">
                <a:solidFill>
                  <a:srgbClr val="115E59"/>
                </a:solidFill>
                <a:latin typeface="Segoe UI" pitchFamily="34" charset="0"/>
                <a:ea typeface="Segoe UI" pitchFamily="34" charset="-122"/>
                <a:cs typeface="Segoe UI" pitchFamily="34" charset="-120"/>
              </a:rPr>
              <a:t>سلامة ومعدات وقاية</a:t>
            </a:r>
            <a:endParaRPr lang="en-US" sz="1200" dirty="0"/>
          </a:p>
        </p:txBody>
      </p:sp>
      <p:sp>
        <p:nvSpPr>
          <p:cNvPr id="27" name="Shape 25"/>
          <p:cNvSpPr/>
          <p:nvPr/>
        </p:nvSpPr>
        <p:spPr>
          <a:xfrm>
            <a:off x="411480" y="4389120"/>
            <a:ext cx="2148840" cy="1234440"/>
          </a:xfrm>
          <a:prstGeom prst="roundRect">
            <a:avLst>
              <a:gd name="adj" fmla="val 5926"/>
            </a:avLst>
          </a:prstGeom>
          <a:solidFill>
            <a:srgbClr val="EEF6F5"/>
          </a:solidFill>
          <a:ln w="12700">
            <a:solidFill>
              <a:srgbClr val="99F6E4"/>
            </a:solidFill>
            <a:prstDash val="solid"/>
          </a:ln>
        </p:spPr>
      </p:sp>
      <p:sp>
        <p:nvSpPr>
          <p:cNvPr id="28" name="Text 26"/>
          <p:cNvSpPr/>
          <p:nvPr/>
        </p:nvSpPr>
        <p:spPr>
          <a:xfrm>
            <a:off x="484632" y="4617720"/>
            <a:ext cx="2011680" cy="822960"/>
          </a:xfrm>
          <a:prstGeom prst="rect">
            <a:avLst/>
          </a:prstGeom>
          <a:noFill/>
          <a:ln/>
        </p:spPr>
        <p:txBody>
          <a:bodyPr wrap="square" rtlCol="0" anchor="ctr"/>
          <a:lstStyle/>
          <a:p>
            <a:pPr rtl="1" algn="ctr" indent="0" marL="0">
              <a:buNone/>
            </a:pPr>
            <a:r>
              <a:rPr lang="en-US" sz="1200" b="1" dirty="0">
                <a:solidFill>
                  <a:srgbClr val="115E59"/>
                </a:solidFill>
                <a:latin typeface="Segoe UI" pitchFamily="34" charset="0"/>
                <a:ea typeface="Segoe UI" pitchFamily="34" charset="-122"/>
                <a:cs typeface="Segoe UI" pitchFamily="34" charset="-120"/>
              </a:rPr>
              <a:t>أدوات ميدانية ومسح</a:t>
            </a:r>
            <a:endParaRPr lang="en-US" sz="1200" dirty="0"/>
          </a:p>
        </p:txBody>
      </p:sp>
      <p:sp>
        <p:nvSpPr>
          <p:cNvPr id="29" name="Shape 27"/>
          <p:cNvSpPr/>
          <p:nvPr/>
        </p:nvSpPr>
        <p:spPr>
          <a:xfrm>
            <a:off x="2697480" y="4389120"/>
            <a:ext cx="2148840" cy="1234440"/>
          </a:xfrm>
          <a:prstGeom prst="roundRect">
            <a:avLst>
              <a:gd name="adj" fmla="val 5926"/>
            </a:avLst>
          </a:prstGeom>
          <a:solidFill>
            <a:srgbClr val="EEF6F5"/>
          </a:solidFill>
          <a:ln w="12700">
            <a:solidFill>
              <a:srgbClr val="99F6E4"/>
            </a:solidFill>
            <a:prstDash val="solid"/>
          </a:ln>
        </p:spPr>
      </p:sp>
      <p:sp>
        <p:nvSpPr>
          <p:cNvPr id="30" name="Text 28"/>
          <p:cNvSpPr/>
          <p:nvPr/>
        </p:nvSpPr>
        <p:spPr>
          <a:xfrm>
            <a:off x="2770632" y="4617720"/>
            <a:ext cx="2011680" cy="822960"/>
          </a:xfrm>
          <a:prstGeom prst="rect">
            <a:avLst/>
          </a:prstGeom>
          <a:noFill/>
          <a:ln/>
        </p:spPr>
        <p:txBody>
          <a:bodyPr wrap="square" rtlCol="0" anchor="ctr"/>
          <a:lstStyle/>
          <a:p>
            <a:pPr rtl="1" algn="ctr" indent="0" marL="0">
              <a:buNone/>
            </a:pPr>
            <a:r>
              <a:rPr lang="en-US" sz="1200" b="1" dirty="0">
                <a:solidFill>
                  <a:srgbClr val="115E59"/>
                </a:solidFill>
                <a:latin typeface="Segoe UI" pitchFamily="34" charset="0"/>
                <a:ea typeface="Segoe UI" pitchFamily="34" charset="-122"/>
                <a:cs typeface="Segoe UI" pitchFamily="34" charset="-120"/>
              </a:rPr>
              <a:t>كتب ومراجع علمية</a:t>
            </a:r>
            <a:endParaRPr lang="en-US" sz="1200" dirty="0"/>
          </a:p>
        </p:txBody>
      </p:sp>
      <p:sp>
        <p:nvSpPr>
          <p:cNvPr id="31" name="Shape 29"/>
          <p:cNvSpPr/>
          <p:nvPr/>
        </p:nvSpPr>
        <p:spPr>
          <a:xfrm>
            <a:off x="4983480" y="4389120"/>
            <a:ext cx="2148840" cy="1234440"/>
          </a:xfrm>
          <a:prstGeom prst="roundRect">
            <a:avLst>
              <a:gd name="adj" fmla="val 5926"/>
            </a:avLst>
          </a:prstGeom>
          <a:solidFill>
            <a:srgbClr val="EEF6F5"/>
          </a:solidFill>
          <a:ln w="12700">
            <a:solidFill>
              <a:srgbClr val="99F6E4"/>
            </a:solidFill>
            <a:prstDash val="solid"/>
          </a:ln>
        </p:spPr>
      </p:sp>
      <p:sp>
        <p:nvSpPr>
          <p:cNvPr id="32" name="Text 30"/>
          <p:cNvSpPr/>
          <p:nvPr/>
        </p:nvSpPr>
        <p:spPr>
          <a:xfrm>
            <a:off x="5056632" y="4617720"/>
            <a:ext cx="2011680" cy="822960"/>
          </a:xfrm>
          <a:prstGeom prst="rect">
            <a:avLst/>
          </a:prstGeom>
          <a:noFill/>
          <a:ln/>
        </p:spPr>
        <p:txBody>
          <a:bodyPr wrap="square" rtlCol="0" anchor="ctr"/>
          <a:lstStyle/>
          <a:p>
            <a:pPr rtl="1" algn="ctr" indent="0" marL="0">
              <a:buNone/>
            </a:pPr>
            <a:r>
              <a:rPr lang="en-US" sz="1200" b="1" dirty="0">
                <a:solidFill>
                  <a:srgbClr val="115E59"/>
                </a:solidFill>
                <a:latin typeface="Segoe UI" pitchFamily="34" charset="0"/>
                <a:ea typeface="Segoe UI" pitchFamily="34" charset="-122"/>
                <a:cs typeface="Segoe UI" pitchFamily="34" charset="-120"/>
              </a:rPr>
              <a:t>إنسانيات وتربية</a:t>
            </a:r>
            <a:endParaRPr lang="en-US" sz="1200" dirty="0"/>
          </a:p>
        </p:txBody>
      </p:sp>
      <p:sp>
        <p:nvSpPr>
          <p:cNvPr id="33" name="Shape 31"/>
          <p:cNvSpPr/>
          <p:nvPr/>
        </p:nvSpPr>
        <p:spPr>
          <a:xfrm>
            <a:off x="7269480" y="4389120"/>
            <a:ext cx="2148840" cy="1234440"/>
          </a:xfrm>
          <a:prstGeom prst="roundRect">
            <a:avLst>
              <a:gd name="adj" fmla="val 5926"/>
            </a:avLst>
          </a:prstGeom>
          <a:solidFill>
            <a:srgbClr val="EEF6F5"/>
          </a:solidFill>
          <a:ln w="12700">
            <a:solidFill>
              <a:srgbClr val="99F6E4"/>
            </a:solidFill>
            <a:prstDash val="solid"/>
          </a:ln>
        </p:spPr>
      </p:sp>
      <p:sp>
        <p:nvSpPr>
          <p:cNvPr id="34" name="Text 32"/>
          <p:cNvSpPr/>
          <p:nvPr/>
        </p:nvSpPr>
        <p:spPr>
          <a:xfrm>
            <a:off x="7342632" y="4617720"/>
            <a:ext cx="2011680" cy="822960"/>
          </a:xfrm>
          <a:prstGeom prst="rect">
            <a:avLst/>
          </a:prstGeom>
          <a:noFill/>
          <a:ln/>
        </p:spPr>
        <p:txBody>
          <a:bodyPr wrap="square" rtlCol="0" anchor="ctr"/>
          <a:lstStyle/>
          <a:p>
            <a:pPr rtl="1" algn="ctr" indent="0" marL="0">
              <a:buNone/>
            </a:pPr>
            <a:r>
              <a:rPr lang="en-US" sz="1200" b="1" dirty="0">
                <a:solidFill>
                  <a:srgbClr val="115E59"/>
                </a:solidFill>
                <a:latin typeface="Segoe UI" pitchFamily="34" charset="0"/>
                <a:ea typeface="Segoe UI" pitchFamily="34" charset="-122"/>
                <a:cs typeface="Segoe UI" pitchFamily="34" charset="-120"/>
              </a:rPr>
              <a:t>مستلزمات كتابة وتوثيق</a:t>
            </a:r>
            <a:endParaRPr lang="en-US" sz="1200" dirty="0"/>
          </a:p>
        </p:txBody>
      </p:sp>
      <p:sp>
        <p:nvSpPr>
          <p:cNvPr id="35" name="Shape 33"/>
          <p:cNvSpPr/>
          <p:nvPr/>
        </p:nvSpPr>
        <p:spPr>
          <a:xfrm>
            <a:off x="9555480" y="4389120"/>
            <a:ext cx="2148840" cy="1234440"/>
          </a:xfrm>
          <a:prstGeom prst="roundRect">
            <a:avLst>
              <a:gd name="adj" fmla="val 5926"/>
            </a:avLst>
          </a:prstGeom>
          <a:solidFill>
            <a:srgbClr val="EEF6F5"/>
          </a:solidFill>
          <a:ln w="12700">
            <a:solidFill>
              <a:srgbClr val="99F6E4"/>
            </a:solidFill>
            <a:prstDash val="solid"/>
          </a:ln>
        </p:spPr>
      </p:sp>
      <p:sp>
        <p:nvSpPr>
          <p:cNvPr id="36" name="Text 34"/>
          <p:cNvSpPr/>
          <p:nvPr/>
        </p:nvSpPr>
        <p:spPr>
          <a:xfrm>
            <a:off x="9628632" y="4617720"/>
            <a:ext cx="2011680" cy="822960"/>
          </a:xfrm>
          <a:prstGeom prst="rect">
            <a:avLst/>
          </a:prstGeom>
          <a:noFill/>
          <a:ln/>
        </p:spPr>
        <p:txBody>
          <a:bodyPr wrap="square" rtlCol="0" anchor="ctr"/>
          <a:lstStyle/>
          <a:p>
            <a:pPr rtl="1" algn="ctr" indent="0" marL="0">
              <a:buNone/>
            </a:pPr>
            <a:r>
              <a:rPr lang="en-US" sz="1200" b="1" dirty="0">
                <a:solidFill>
                  <a:srgbClr val="115E59"/>
                </a:solidFill>
                <a:latin typeface="Segoe UI" pitchFamily="34" charset="0"/>
                <a:ea typeface="Segoe UI" pitchFamily="34" charset="-122"/>
                <a:cs typeface="Segoe UI" pitchFamily="34" charset="-120"/>
              </a:rPr>
              <a:t>مستلزمات عامة</a:t>
            </a:r>
            <a:endParaRPr lang="en-US" sz="1200" dirty="0"/>
          </a:p>
        </p:txBody>
      </p:sp>
      <p:sp>
        <p:nvSpPr>
          <p:cNvPr id="37" name="Shape 35"/>
          <p:cNvSpPr/>
          <p:nvPr/>
        </p:nvSpPr>
        <p:spPr>
          <a:xfrm>
            <a:off x="0" y="6510528"/>
            <a:ext cx="12191695" cy="347472"/>
          </a:xfrm>
          <a:prstGeom prst="rect">
            <a:avLst/>
          </a:prstGeom>
          <a:solidFill>
            <a:srgbClr val="F8F5F0"/>
          </a:solidFill>
          <a:ln/>
        </p:spPr>
      </p:sp>
      <p:sp>
        <p:nvSpPr>
          <p:cNvPr id="38" name="Text 36"/>
          <p:cNvSpPr/>
          <p:nvPr/>
        </p:nvSpPr>
        <p:spPr>
          <a:xfrm>
            <a:off x="411480" y="6547104"/>
            <a:ext cx="8229600" cy="256032"/>
          </a:xfrm>
          <a:prstGeom prst="rect">
            <a:avLst/>
          </a:prstGeom>
          <a:noFill/>
          <a:ln/>
        </p:spPr>
        <p:txBody>
          <a:bodyPr wrap="square" rtlCol="0" anchor="ctr"/>
          <a:lstStyle/>
          <a:p>
            <a:pPr rtl="1" algn="r" indent="0" marL="0">
              <a:buNone/>
            </a:pPr>
            <a:r>
              <a:rPr lang="en-US" sz="1000" dirty="0">
                <a:solidFill>
                  <a:srgbClr val="475569"/>
                </a:solidFill>
                <a:latin typeface="Segoe UI" pitchFamily="34" charset="0"/>
                <a:ea typeface="Segoe UI" pitchFamily="34" charset="-122"/>
                <a:cs typeface="Segoe UI" pitchFamily="34" charset="-120"/>
              </a:rPr>
              <a:t>AcadeGate · عرض شراكة الموردين · محدّث ١٩ سبتمبر ٢٠٢٦</a:t>
            </a:r>
            <a:endParaRPr lang="en-US" sz="1000" dirty="0"/>
          </a:p>
        </p:txBody>
      </p:sp>
      <p:sp>
        <p:nvSpPr>
          <p:cNvPr id="39" name="Text 37"/>
          <p:cNvSpPr/>
          <p:nvPr/>
        </p:nvSpPr>
        <p:spPr>
          <a:xfrm>
            <a:off x="10682935" y="6547104"/>
            <a:ext cx="1097280" cy="256032"/>
          </a:xfrm>
          <a:prstGeom prst="rect">
            <a:avLst/>
          </a:prstGeom>
          <a:noFill/>
          <a:ln/>
        </p:spPr>
        <p:txBody>
          <a:bodyPr wrap="square" rtlCol="0" anchor="ctr"/>
          <a:lstStyle/>
          <a:p>
            <a:pPr algn="l" indent="0" marL="0">
              <a:buNone/>
            </a:pPr>
            <a:r>
              <a:rPr lang="en-US" sz="1000" dirty="0">
                <a:solidFill>
                  <a:srgbClr val="475569"/>
                </a:solidFill>
                <a:latin typeface="Segoe UI" pitchFamily="34" charset="0"/>
                <a:ea typeface="Segoe UI" pitchFamily="34" charset="-122"/>
                <a:cs typeface="Segoe UI" pitchFamily="34" charset="-120"/>
              </a:rPr>
              <a:t>7 / 16</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sp>
      <p:sp>
        <p:nvSpPr>
          <p:cNvPr id="3" name="Shape 1"/>
          <p:cNvSpPr/>
          <p:nvPr/>
        </p:nvSpPr>
        <p:spPr>
          <a:xfrm>
            <a:off x="411480" y="256032"/>
            <a:ext cx="109728" cy="502920"/>
          </a:xfrm>
          <a:prstGeom prst="rect">
            <a:avLst/>
          </a:prstGeom>
          <a:solidFill>
            <a:srgbClr val="0F766E"/>
          </a:solidFill>
          <a:ln/>
        </p:spPr>
      </p:sp>
      <p:sp>
        <p:nvSpPr>
          <p:cNvPr id="4" name="Text 2"/>
          <p:cNvSpPr/>
          <p:nvPr/>
        </p:nvSpPr>
        <p:spPr>
          <a:xfrm>
            <a:off x="612648" y="201168"/>
            <a:ext cx="11167567" cy="566928"/>
          </a:xfrm>
          <a:prstGeom prst="rect">
            <a:avLst/>
          </a:prstGeom>
          <a:noFill/>
          <a:ln/>
        </p:spPr>
        <p:txBody>
          <a:bodyPr wrap="square" rtlCol="0" anchor="ctr"/>
          <a:lstStyle/>
          <a:p>
            <a:pPr rtl="1" algn="r" indent="0" marL="0">
              <a:buNone/>
            </a:pPr>
            <a:r>
              <a:rPr lang="en-US" sz="2400" b="1" dirty="0">
                <a:solidFill>
                  <a:srgbClr val="0B1F4D"/>
                </a:solidFill>
                <a:latin typeface="Segoe UI" pitchFamily="34" charset="0"/>
                <a:ea typeface="Segoe UI" pitchFamily="34" charset="-122"/>
                <a:cs typeface="Segoe UI" pitchFamily="34" charset="-120"/>
              </a:rPr>
              <a:t>٥ — ماذا تنشر كمنتج؟</a:t>
            </a:r>
            <a:endParaRPr lang="en-US" sz="2400" dirty="0"/>
          </a:p>
        </p:txBody>
      </p:sp>
      <p:sp>
        <p:nvSpPr>
          <p:cNvPr id="5" name="Shape 3"/>
          <p:cNvSpPr/>
          <p:nvPr/>
        </p:nvSpPr>
        <p:spPr>
          <a:xfrm>
            <a:off x="411480" y="822960"/>
            <a:ext cx="11368735" cy="32004"/>
          </a:xfrm>
          <a:prstGeom prst="rect">
            <a:avLst/>
          </a:prstGeom>
          <a:solidFill>
            <a:srgbClr val="0F766E"/>
          </a:solidFill>
          <a:ln/>
        </p:spPr>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11480" y="1051560"/>
          <a:ext cx="11368735" cy="914400"/>
        </p:xfrm>
        <a:graphic>
          <a:graphicData uri="http://schemas.openxmlformats.org/drawingml/2006/table">
            <a:tbl>
              <a:tblPr/>
              <a:tblGrid>
                <a:gridCol w="3108960"/>
                <a:gridCol w="1828800"/>
                <a:gridCol w="6476695"/>
              </a:tblGrid>
              <a:tr h="0">
                <a:tc>
                  <a:txBody>
                    <a:bodyPr/>
                    <a:lstStyle/>
                    <a:p>
                      <a:pPr algn="r" indent="0" marL="0">
                        <a:buNone/>
                      </a:pPr>
                      <a:r>
                        <a:rPr lang="en-US" sz="1200" b="1" dirty="0">
                          <a:solidFill>
                            <a:srgbClr val="FFFFFF"/>
                          </a:solidFill>
                          <a:latin typeface="Segoe UI" pitchFamily="34" charset="0"/>
                          <a:ea typeface="Segoe UI" pitchFamily="34" charset="-122"/>
                          <a:cs typeface="Segoe UI" pitchFamily="34" charset="-120"/>
                        </a:rPr>
                        <a:t>الحقل</a:t>
                      </a:r>
                      <a:endParaRPr lang="en-US" sz="1200" dirty="0">
                        <a:latin typeface="Segoe UI" charset="0"/>
                        <a:ea typeface="Segoe UI" charset="0"/>
                        <a:cs typeface="Segoe UI" charset="0"/>
                      </a:endParaRPr>
                    </a:p>
                  </a:txBody>
                  <a:tcPr marL="91440" marR="91440" marT="45720" marB="45720" anchor="ctr">
                    <a:lnL w="0" cap="flat" cmpd="sng" algn="ctr">
                      <a:noFill/>
                    </a:lnL>
                    <a:lnR w="0" cap="flat" cmpd="sng" algn="ctr">
                      <a:noFill/>
                    </a:lnR>
                    <a:lnT w="6350" cap="flat" cmpd="sng" algn="ctr">
                      <a:solidFill>
                        <a:srgbClr val="D6D3D1"/>
                      </a:solidFill>
                      <a:prstDash val="solid"/>
                      <a:round/>
                      <a:headEnd type="none" w="med" len="med"/>
                      <a:tailEnd type="none" w="med" len="med"/>
                    </a:lnT>
                    <a:lnB w="0" cap="flat" cmpd="sng" algn="ctr">
                      <a:noFill/>
                    </a:lnB>
                    <a:solidFill>
                      <a:srgbClr val="0B1F4D"/>
                    </a:solidFill>
                  </a:tcPr>
                </a:tc>
                <a:tc>
                  <a:txBody>
                    <a:bodyPr/>
                    <a:lstStyle/>
                    <a:p>
                      <a:pPr algn="r" indent="0" marL="0">
                        <a:buNone/>
                      </a:pPr>
                      <a:r>
                        <a:rPr lang="en-US" sz="1200" b="1" dirty="0">
                          <a:solidFill>
                            <a:srgbClr val="FFFFFF"/>
                          </a:solidFill>
                          <a:latin typeface="Segoe UI" pitchFamily="34" charset="0"/>
                          <a:ea typeface="Segoe UI" pitchFamily="34" charset="-122"/>
                          <a:cs typeface="Segoe UI" pitchFamily="34" charset="-120"/>
                        </a:rPr>
                        <a:t>إلزامي؟</a:t>
                      </a:r>
                      <a:endParaRPr lang="en-US" sz="1200" dirty="0">
                        <a:latin typeface="Segoe UI" charset="0"/>
                        <a:ea typeface="Segoe UI" charset="0"/>
                        <a:cs typeface="Segoe UI" charset="0"/>
                      </a:endParaRPr>
                    </a:p>
                  </a:txBody>
                  <a:tcPr marL="91440" marR="91440" marT="45720" marB="45720" anchor="ctr">
                    <a:lnL w="0" cap="flat" cmpd="sng" algn="ctr">
                      <a:noFill/>
                    </a:lnL>
                    <a:lnR w="0" cap="flat" cmpd="sng" algn="ctr">
                      <a:noFill/>
                    </a:lnR>
                    <a:lnT w="6350" cap="flat" cmpd="sng" algn="ctr">
                      <a:solidFill>
                        <a:srgbClr val="D6D3D1"/>
                      </a:solidFill>
                      <a:prstDash val="solid"/>
                      <a:round/>
                      <a:headEnd type="none" w="med" len="med"/>
                      <a:tailEnd type="none" w="med" len="med"/>
                    </a:lnT>
                    <a:lnB w="0" cap="flat" cmpd="sng" algn="ctr">
                      <a:noFill/>
                    </a:lnB>
                    <a:solidFill>
                      <a:srgbClr val="0B1F4D"/>
                    </a:solidFill>
                  </a:tcPr>
                </a:tc>
                <a:tc>
                  <a:txBody>
                    <a:bodyPr/>
                    <a:lstStyle/>
                    <a:p>
                      <a:pPr algn="r" indent="0" marL="0">
                        <a:buNone/>
                      </a:pPr>
                      <a:r>
                        <a:rPr lang="en-US" sz="1200" b="1" dirty="0">
                          <a:solidFill>
                            <a:srgbClr val="FFFFFF"/>
                          </a:solidFill>
                          <a:latin typeface="Segoe UI" pitchFamily="34" charset="0"/>
                          <a:ea typeface="Segoe UI" pitchFamily="34" charset="-122"/>
                          <a:cs typeface="Segoe UI" pitchFamily="34" charset="-120"/>
                        </a:rPr>
                        <a:t>التفاصيل</a:t>
                      </a:r>
                      <a:endParaRPr lang="en-US" sz="1200" dirty="0">
                        <a:latin typeface="Segoe UI" charset="0"/>
                        <a:ea typeface="Segoe UI" charset="0"/>
                        <a:cs typeface="Segoe UI" charset="0"/>
                      </a:endParaRPr>
                    </a:p>
                  </a:txBody>
                  <a:tcPr marL="91440" marR="91440" marT="45720" marB="45720" anchor="ctr">
                    <a:lnL w="0" cap="flat" cmpd="sng" algn="ctr">
                      <a:noFill/>
                    </a:lnL>
                    <a:lnR w="0" cap="flat" cmpd="sng" algn="ctr">
                      <a:noFill/>
                    </a:lnR>
                    <a:lnT w="6350" cap="flat" cmpd="sng" algn="ctr">
                      <a:solidFill>
                        <a:srgbClr val="D6D3D1"/>
                      </a:solidFill>
                      <a:prstDash val="solid"/>
                      <a:round/>
                      <a:headEnd type="none" w="med" len="med"/>
                      <a:tailEnd type="none" w="med" len="med"/>
                    </a:lnT>
                    <a:lnB w="0" cap="flat" cmpd="sng" algn="ctr">
                      <a:noFill/>
                    </a:lnB>
                    <a:solidFill>
                      <a:srgbClr val="0B1F4D"/>
                    </a:solidFill>
                  </a:tcPr>
                </a:tc>
              </a:tr>
              <a:tr h="0">
                <a:tc>
                  <a:txBody>
                    <a:bodyPr/>
                    <a:lstStyle/>
                    <a:p>
                      <a:pPr algn="r" indent="0" marL="0">
                        <a:buNone/>
                      </a:pPr>
                      <a:r>
                        <a:rPr lang="en-US" sz="1200" dirty="0">
                          <a:solidFill>
                            <a:srgbClr val="0F172A"/>
                          </a:solidFill>
                          <a:latin typeface="Segoe UI" pitchFamily="34" charset="0"/>
                          <a:ea typeface="Segoe UI" pitchFamily="34" charset="-122"/>
                          <a:cs typeface="Segoe UI" pitchFamily="34" charset="-120"/>
                        </a:rPr>
                        <a:t>اسم المنتج</a:t>
                      </a:r>
                      <a:endParaRPr lang="en-US" sz="1200" dirty="0">
                        <a:latin typeface="Segoe UI" charset="0"/>
                        <a:ea typeface="Segoe UI" charset="0"/>
                        <a:cs typeface="Segoe UI" charset="0"/>
                      </a:endParaRPr>
                    </a:p>
                  </a:txBody>
                  <a:tcPr marL="91440" marR="91440" marT="45720" marB="45720" anchor="ctr">
                    <a:lnL w="0" cap="flat" cmpd="sng" algn="ctr">
                      <a:noFill/>
                    </a:lnL>
                    <a:lnR w="0" cap="flat" cmpd="sng" algn="ctr">
                      <a:noFill/>
                    </a:lnR>
                    <a:lnT w="6350" cap="flat" cmpd="sng" algn="ctr">
                      <a:solidFill>
                        <a:srgbClr val="D6D3D1"/>
                      </a:solidFill>
                      <a:prstDash val="solid"/>
                      <a:round/>
                      <a:headEnd type="none" w="med" len="med"/>
                      <a:tailEnd type="none" w="med" len="med"/>
                    </a:lnT>
                    <a:lnB w="0" cap="flat" cmpd="sng" algn="ctr">
                      <a:noFill/>
                    </a:lnB>
                    <a:solidFill>
                      <a:srgbClr val="FFFFFF"/>
                    </a:solidFill>
                  </a:tcPr>
                </a:tc>
                <a:tc>
                  <a:txBody>
                    <a:bodyPr/>
                    <a:lstStyle/>
                    <a:p>
                      <a:pPr algn="r" indent="0" marL="0">
                        <a:buNone/>
                      </a:pPr>
                      <a:r>
                        <a:rPr lang="en-US" sz="1200" dirty="0">
                          <a:solidFill>
                            <a:srgbClr val="0F172A"/>
                          </a:solidFill>
                          <a:latin typeface="Segoe UI" pitchFamily="34" charset="0"/>
                          <a:ea typeface="Segoe UI" pitchFamily="34" charset="-122"/>
                          <a:cs typeface="Segoe UI" pitchFamily="34" charset="-120"/>
                        </a:rPr>
                        <a:t>نعم</a:t>
                      </a:r>
                      <a:endParaRPr lang="en-US" sz="1200" dirty="0">
                        <a:latin typeface="Segoe UI" charset="0"/>
                        <a:ea typeface="Segoe UI" charset="0"/>
                        <a:cs typeface="Segoe UI" charset="0"/>
                      </a:endParaRPr>
                    </a:p>
                  </a:txBody>
                  <a:tcPr marL="91440" marR="91440" marT="45720" marB="45720" anchor="ctr">
                    <a:lnL w="0" cap="flat" cmpd="sng" algn="ctr">
                      <a:noFill/>
                    </a:lnL>
                    <a:lnR w="0" cap="flat" cmpd="sng" algn="ctr">
                      <a:noFill/>
                    </a:lnR>
                    <a:lnT w="6350" cap="flat" cmpd="sng" algn="ctr">
                      <a:solidFill>
                        <a:srgbClr val="D6D3D1"/>
                      </a:solidFill>
                      <a:prstDash val="solid"/>
                      <a:round/>
                      <a:headEnd type="none" w="med" len="med"/>
                      <a:tailEnd type="none" w="med" len="med"/>
                    </a:lnT>
                    <a:lnB w="0" cap="flat" cmpd="sng" algn="ctr">
                      <a:noFill/>
                    </a:lnB>
                    <a:solidFill>
                      <a:srgbClr val="FFFFFF"/>
                    </a:solidFill>
                  </a:tcPr>
                </a:tc>
                <a:tc>
                  <a:txBody>
                    <a:bodyPr/>
                    <a:lstStyle/>
                    <a:p>
                      <a:pPr algn="r" indent="0" marL="0">
                        <a:buNone/>
                      </a:pPr>
                      <a:r>
                        <a:rPr lang="en-US" sz="1200" dirty="0">
                          <a:solidFill>
                            <a:srgbClr val="0F172A"/>
                          </a:solidFill>
                          <a:latin typeface="Segoe UI" pitchFamily="34" charset="0"/>
                          <a:ea typeface="Segoe UI" pitchFamily="34" charset="-122"/>
                          <a:cs typeface="Segoe UI" pitchFamily="34" charset="-120"/>
                        </a:rPr>
                        <a:t>يظهر في القائمة والبحث</a:t>
                      </a:r>
                      <a:endParaRPr lang="en-US" sz="1200" dirty="0">
                        <a:latin typeface="Segoe UI" charset="0"/>
                        <a:ea typeface="Segoe UI" charset="0"/>
                        <a:cs typeface="Segoe UI" charset="0"/>
                      </a:endParaRPr>
                    </a:p>
                  </a:txBody>
                  <a:tcPr marL="91440" marR="91440" marT="45720" marB="45720" anchor="ctr">
                    <a:lnL w="0" cap="flat" cmpd="sng" algn="ctr">
                      <a:noFill/>
                    </a:lnL>
                    <a:lnR w="0" cap="flat" cmpd="sng" algn="ctr">
                      <a:noFill/>
                    </a:lnR>
                    <a:lnT w="6350" cap="flat" cmpd="sng" algn="ctr">
                      <a:solidFill>
                        <a:srgbClr val="D6D3D1"/>
                      </a:solidFill>
                      <a:prstDash val="solid"/>
                      <a:round/>
                      <a:headEnd type="none" w="med" len="med"/>
                      <a:tailEnd type="none" w="med" len="med"/>
                    </a:lnT>
                    <a:lnB w="0" cap="flat" cmpd="sng" algn="ctr">
                      <a:noFill/>
                    </a:lnB>
                    <a:solidFill>
                      <a:srgbClr val="FFFFFF"/>
                    </a:solidFill>
                  </a:tcPr>
                </a:tc>
              </a:tr>
              <a:tr h="0">
                <a:tc>
                  <a:txBody>
                    <a:bodyPr/>
                    <a:lstStyle/>
                    <a:p>
                      <a:pPr algn="r" indent="0" marL="0">
                        <a:buNone/>
                      </a:pPr>
                      <a:r>
                        <a:rPr lang="en-US" sz="1200" dirty="0">
                          <a:solidFill>
                            <a:srgbClr val="0F172A"/>
                          </a:solidFill>
                          <a:latin typeface="Segoe UI" pitchFamily="34" charset="0"/>
                          <a:ea typeface="Segoe UI" pitchFamily="34" charset="-122"/>
                          <a:cs typeface="Segoe UI" pitchFamily="34" charset="-120"/>
                        </a:rPr>
                        <a:t>السعر</a:t>
                      </a:r>
                      <a:endParaRPr lang="en-US" sz="1200" dirty="0">
                        <a:latin typeface="Segoe UI" charset="0"/>
                        <a:ea typeface="Segoe UI" charset="0"/>
                        <a:cs typeface="Segoe UI" charset="0"/>
                      </a:endParaRPr>
                    </a:p>
                  </a:txBody>
                  <a:tcPr marL="91440" marR="91440" marT="45720" marB="45720" anchor="ctr">
                    <a:lnL w="0" cap="flat" cmpd="sng" algn="ctr">
                      <a:noFill/>
                    </a:lnL>
                    <a:lnR w="0" cap="flat" cmpd="sng" algn="ctr">
                      <a:noFill/>
                    </a:lnR>
                    <a:lnT w="6350" cap="flat" cmpd="sng" algn="ctr">
                      <a:solidFill>
                        <a:srgbClr val="D6D3D1"/>
                      </a:solidFill>
                      <a:prstDash val="solid"/>
                      <a:round/>
                      <a:headEnd type="none" w="med" len="med"/>
                      <a:tailEnd type="none" w="med" len="med"/>
                    </a:lnT>
                    <a:lnB w="0" cap="flat" cmpd="sng" algn="ctr">
                      <a:noFill/>
                    </a:lnB>
                    <a:solidFill>
                      <a:srgbClr val="FFFFFF"/>
                    </a:solidFill>
                  </a:tcPr>
                </a:tc>
                <a:tc>
                  <a:txBody>
                    <a:bodyPr/>
                    <a:lstStyle/>
                    <a:p>
                      <a:pPr algn="r" indent="0" marL="0">
                        <a:buNone/>
                      </a:pPr>
                      <a:r>
                        <a:rPr lang="en-US" sz="1200" dirty="0">
                          <a:solidFill>
                            <a:srgbClr val="0F172A"/>
                          </a:solidFill>
                          <a:latin typeface="Segoe UI" pitchFamily="34" charset="0"/>
                          <a:ea typeface="Segoe UI" pitchFamily="34" charset="-122"/>
                          <a:cs typeface="Segoe UI" pitchFamily="34" charset="-120"/>
                        </a:rPr>
                        <a:t>نعم</a:t>
                      </a:r>
                      <a:endParaRPr lang="en-US" sz="1200" dirty="0">
                        <a:latin typeface="Segoe UI" charset="0"/>
                        <a:ea typeface="Segoe UI" charset="0"/>
                        <a:cs typeface="Segoe UI" charset="0"/>
                      </a:endParaRPr>
                    </a:p>
                  </a:txBody>
                  <a:tcPr marL="91440" marR="91440" marT="45720" marB="45720" anchor="ctr">
                    <a:lnL w="0" cap="flat" cmpd="sng" algn="ctr">
                      <a:noFill/>
                    </a:lnL>
                    <a:lnR w="0" cap="flat" cmpd="sng" algn="ctr">
                      <a:noFill/>
                    </a:lnR>
                    <a:lnT w="6350" cap="flat" cmpd="sng" algn="ctr">
                      <a:solidFill>
                        <a:srgbClr val="D6D3D1"/>
                      </a:solidFill>
                      <a:prstDash val="solid"/>
                      <a:round/>
                      <a:headEnd type="none" w="med" len="med"/>
                      <a:tailEnd type="none" w="med" len="med"/>
                    </a:lnT>
                    <a:lnB w="0" cap="flat" cmpd="sng" algn="ctr">
                      <a:noFill/>
                    </a:lnB>
                    <a:solidFill>
                      <a:srgbClr val="FFFFFF"/>
                    </a:solidFill>
                  </a:tcPr>
                </a:tc>
                <a:tc>
                  <a:txBody>
                    <a:bodyPr/>
                    <a:lstStyle/>
                    <a:p>
                      <a:pPr algn="r" indent="0" marL="0">
                        <a:buNone/>
                      </a:pPr>
                      <a:r>
                        <a:rPr lang="en-US" sz="1200" dirty="0">
                          <a:solidFill>
                            <a:srgbClr val="0F172A"/>
                          </a:solidFill>
                          <a:latin typeface="Segoe UI" pitchFamily="34" charset="0"/>
                          <a:ea typeface="Segoe UI" pitchFamily="34" charset="-122"/>
                          <a:cs typeface="Segoe UI" pitchFamily="34" charset="-120"/>
                        </a:rPr>
                        <a:t>بالجنيه · يُثبَّت من الخادم عند الطلب</a:t>
                      </a:r>
                      <a:endParaRPr lang="en-US" sz="1200" dirty="0">
                        <a:latin typeface="Segoe UI" charset="0"/>
                        <a:ea typeface="Segoe UI" charset="0"/>
                        <a:cs typeface="Segoe UI" charset="0"/>
                      </a:endParaRPr>
                    </a:p>
                  </a:txBody>
                  <a:tcPr marL="91440" marR="91440" marT="45720" marB="45720" anchor="ctr">
                    <a:lnL w="0" cap="flat" cmpd="sng" algn="ctr">
                      <a:noFill/>
                    </a:lnL>
                    <a:lnR w="0" cap="flat" cmpd="sng" algn="ctr">
                      <a:noFill/>
                    </a:lnR>
                    <a:lnT w="6350" cap="flat" cmpd="sng" algn="ctr">
                      <a:solidFill>
                        <a:srgbClr val="D6D3D1"/>
                      </a:solidFill>
                      <a:prstDash val="solid"/>
                      <a:round/>
                      <a:headEnd type="none" w="med" len="med"/>
                      <a:tailEnd type="none" w="med" len="med"/>
                    </a:lnT>
                    <a:lnB w="0" cap="flat" cmpd="sng" algn="ctr">
                      <a:noFill/>
                    </a:lnB>
                    <a:solidFill>
                      <a:srgbClr val="FFFFFF"/>
                    </a:solidFill>
                  </a:tcPr>
                </a:tc>
              </a:tr>
              <a:tr h="0">
                <a:tc>
                  <a:txBody>
                    <a:bodyPr/>
                    <a:lstStyle/>
                    <a:p>
                      <a:pPr algn="r" indent="0" marL="0">
                        <a:buNone/>
                      </a:pPr>
                      <a:r>
                        <a:rPr lang="en-US" sz="1200" dirty="0">
                          <a:solidFill>
                            <a:srgbClr val="0F172A"/>
                          </a:solidFill>
                          <a:latin typeface="Segoe UI" pitchFamily="34" charset="0"/>
                          <a:ea typeface="Segoe UI" pitchFamily="34" charset="-122"/>
                          <a:cs typeface="Segoe UI" pitchFamily="34" charset="-120"/>
                        </a:rPr>
                        <a:t>القسم</a:t>
                      </a:r>
                      <a:endParaRPr lang="en-US" sz="1200" dirty="0">
                        <a:latin typeface="Segoe UI" charset="0"/>
                        <a:ea typeface="Segoe UI" charset="0"/>
                        <a:cs typeface="Segoe UI" charset="0"/>
                      </a:endParaRPr>
                    </a:p>
                  </a:txBody>
                  <a:tcPr marL="91440" marR="91440" marT="45720" marB="45720" anchor="ctr">
                    <a:lnL w="0" cap="flat" cmpd="sng" algn="ctr">
                      <a:noFill/>
                    </a:lnL>
                    <a:lnR w="0" cap="flat" cmpd="sng" algn="ctr">
                      <a:noFill/>
                    </a:lnR>
                    <a:lnT w="6350" cap="flat" cmpd="sng" algn="ctr">
                      <a:solidFill>
                        <a:srgbClr val="D6D3D1"/>
                      </a:solidFill>
                      <a:prstDash val="solid"/>
                      <a:round/>
                      <a:headEnd type="none" w="med" len="med"/>
                      <a:tailEnd type="none" w="med" len="med"/>
                    </a:lnT>
                    <a:lnB w="0" cap="flat" cmpd="sng" algn="ctr">
                      <a:noFill/>
                    </a:lnB>
                    <a:solidFill>
                      <a:srgbClr val="FFFFFF"/>
                    </a:solidFill>
                  </a:tcPr>
                </a:tc>
                <a:tc>
                  <a:txBody>
                    <a:bodyPr/>
                    <a:lstStyle/>
                    <a:p>
                      <a:pPr algn="r" indent="0" marL="0">
                        <a:buNone/>
                      </a:pPr>
                      <a:r>
                        <a:rPr lang="en-US" sz="1200" dirty="0">
                          <a:solidFill>
                            <a:srgbClr val="0F172A"/>
                          </a:solidFill>
                          <a:latin typeface="Segoe UI" pitchFamily="34" charset="0"/>
                          <a:ea typeface="Segoe UI" pitchFamily="34" charset="-122"/>
                          <a:cs typeface="Segoe UI" pitchFamily="34" charset="-120"/>
                        </a:rPr>
                        <a:t>نعم</a:t>
                      </a:r>
                      <a:endParaRPr lang="en-US" sz="1200" dirty="0">
                        <a:latin typeface="Segoe UI" charset="0"/>
                        <a:ea typeface="Segoe UI" charset="0"/>
                        <a:cs typeface="Segoe UI" charset="0"/>
                      </a:endParaRPr>
                    </a:p>
                  </a:txBody>
                  <a:tcPr marL="91440" marR="91440" marT="45720" marB="45720" anchor="ctr">
                    <a:lnL w="0" cap="flat" cmpd="sng" algn="ctr">
                      <a:noFill/>
                    </a:lnL>
                    <a:lnR w="0" cap="flat" cmpd="sng" algn="ctr">
                      <a:noFill/>
                    </a:lnR>
                    <a:lnT w="6350" cap="flat" cmpd="sng" algn="ctr">
                      <a:solidFill>
                        <a:srgbClr val="D6D3D1"/>
                      </a:solidFill>
                      <a:prstDash val="solid"/>
                      <a:round/>
                      <a:headEnd type="none" w="med" len="med"/>
                      <a:tailEnd type="none" w="med" len="med"/>
                    </a:lnT>
                    <a:lnB w="0" cap="flat" cmpd="sng" algn="ctr">
                      <a:noFill/>
                    </a:lnB>
                    <a:solidFill>
                      <a:srgbClr val="FFFFFF"/>
                    </a:solidFill>
                  </a:tcPr>
                </a:tc>
                <a:tc>
                  <a:txBody>
                    <a:bodyPr/>
                    <a:lstStyle/>
                    <a:p>
                      <a:pPr algn="r" indent="0" marL="0">
                        <a:buNone/>
                      </a:pPr>
                      <a:r>
                        <a:rPr lang="en-US" sz="1200" dirty="0">
                          <a:solidFill>
                            <a:srgbClr val="0F172A"/>
                          </a:solidFill>
                          <a:latin typeface="Segoe UI" pitchFamily="34" charset="0"/>
                          <a:ea typeface="Segoe UI" pitchFamily="34" charset="-122"/>
                          <a:cs typeface="Segoe UI" pitchFamily="34" charset="-120"/>
                        </a:rPr>
                        <a:t>أحد الأقسام الخمسة عشر</a:t>
                      </a:r>
                      <a:endParaRPr lang="en-US" sz="1200" dirty="0">
                        <a:latin typeface="Segoe UI" charset="0"/>
                        <a:ea typeface="Segoe UI" charset="0"/>
                        <a:cs typeface="Segoe UI" charset="0"/>
                      </a:endParaRPr>
                    </a:p>
                  </a:txBody>
                  <a:tcPr marL="91440" marR="91440" marT="45720" marB="45720" anchor="ctr">
                    <a:lnL w="0" cap="flat" cmpd="sng" algn="ctr">
                      <a:noFill/>
                    </a:lnL>
                    <a:lnR w="0" cap="flat" cmpd="sng" algn="ctr">
                      <a:noFill/>
                    </a:lnR>
                    <a:lnT w="6350" cap="flat" cmpd="sng" algn="ctr">
                      <a:solidFill>
                        <a:srgbClr val="D6D3D1"/>
                      </a:solidFill>
                      <a:prstDash val="solid"/>
                      <a:round/>
                      <a:headEnd type="none" w="med" len="med"/>
                      <a:tailEnd type="none" w="med" len="med"/>
                    </a:lnT>
                    <a:lnB w="0" cap="flat" cmpd="sng" algn="ctr">
                      <a:noFill/>
                    </a:lnB>
                    <a:solidFill>
                      <a:srgbClr val="FFFFFF"/>
                    </a:solidFill>
                  </a:tcPr>
                </a:tc>
              </a:tr>
              <a:tr h="0">
                <a:tc>
                  <a:txBody>
                    <a:bodyPr/>
                    <a:lstStyle/>
                    <a:p>
                      <a:pPr algn="r" indent="0" marL="0">
                        <a:buNone/>
                      </a:pPr>
                      <a:r>
                        <a:rPr lang="en-US" sz="1200" dirty="0">
                          <a:solidFill>
                            <a:srgbClr val="0F172A"/>
                          </a:solidFill>
                          <a:latin typeface="Segoe UI" pitchFamily="34" charset="0"/>
                          <a:ea typeface="Segoe UI" pitchFamily="34" charset="-122"/>
                          <a:cs typeface="Segoe UI" pitchFamily="34" charset="-120"/>
                        </a:rPr>
                        <a:t>SKU / المنشأ / النقاء</a:t>
                      </a:r>
                      <a:endParaRPr lang="en-US" sz="1200" dirty="0">
                        <a:latin typeface="Segoe UI" charset="0"/>
                        <a:ea typeface="Segoe UI" charset="0"/>
                        <a:cs typeface="Segoe UI" charset="0"/>
                      </a:endParaRPr>
                    </a:p>
                  </a:txBody>
                  <a:tcPr marL="91440" marR="91440" marT="45720" marB="45720" anchor="ctr">
                    <a:lnL w="0" cap="flat" cmpd="sng" algn="ctr">
                      <a:noFill/>
                    </a:lnL>
                    <a:lnR w="0" cap="flat" cmpd="sng" algn="ctr">
                      <a:noFill/>
                    </a:lnR>
                    <a:lnT w="6350" cap="flat" cmpd="sng" algn="ctr">
                      <a:solidFill>
                        <a:srgbClr val="D6D3D1"/>
                      </a:solidFill>
                      <a:prstDash val="solid"/>
                      <a:round/>
                      <a:headEnd type="none" w="med" len="med"/>
                      <a:tailEnd type="none" w="med" len="med"/>
                    </a:lnT>
                    <a:lnB w="0" cap="flat" cmpd="sng" algn="ctr">
                      <a:noFill/>
                    </a:lnB>
                    <a:solidFill>
                      <a:srgbClr val="FFFFFF"/>
                    </a:solidFill>
                  </a:tcPr>
                </a:tc>
                <a:tc>
                  <a:txBody>
                    <a:bodyPr/>
                    <a:lstStyle/>
                    <a:p>
                      <a:pPr algn="r" indent="0" marL="0">
                        <a:buNone/>
                      </a:pPr>
                      <a:r>
                        <a:rPr lang="en-US" sz="1200" dirty="0">
                          <a:solidFill>
                            <a:srgbClr val="0F172A"/>
                          </a:solidFill>
                          <a:latin typeface="Segoe UI" pitchFamily="34" charset="0"/>
                          <a:ea typeface="Segoe UI" pitchFamily="34" charset="-122"/>
                          <a:cs typeface="Segoe UI" pitchFamily="34" charset="-120"/>
                        </a:rPr>
                        <a:t>مستحسن</a:t>
                      </a:r>
                      <a:endParaRPr lang="en-US" sz="1200" dirty="0">
                        <a:latin typeface="Segoe UI" charset="0"/>
                        <a:ea typeface="Segoe UI" charset="0"/>
                        <a:cs typeface="Segoe UI" charset="0"/>
                      </a:endParaRPr>
                    </a:p>
                  </a:txBody>
                  <a:tcPr marL="91440" marR="91440" marT="45720" marB="45720" anchor="ctr">
                    <a:lnL w="0" cap="flat" cmpd="sng" algn="ctr">
                      <a:noFill/>
                    </a:lnL>
                    <a:lnR w="0" cap="flat" cmpd="sng" algn="ctr">
                      <a:noFill/>
                    </a:lnR>
                    <a:lnT w="6350" cap="flat" cmpd="sng" algn="ctr">
                      <a:solidFill>
                        <a:srgbClr val="D6D3D1"/>
                      </a:solidFill>
                      <a:prstDash val="solid"/>
                      <a:round/>
                      <a:headEnd type="none" w="med" len="med"/>
                      <a:tailEnd type="none" w="med" len="med"/>
                    </a:lnT>
                    <a:lnB w="0" cap="flat" cmpd="sng" algn="ctr">
                      <a:noFill/>
                    </a:lnB>
                    <a:solidFill>
                      <a:srgbClr val="FFFFFF"/>
                    </a:solidFill>
                  </a:tcPr>
                </a:tc>
                <a:tc>
                  <a:txBody>
                    <a:bodyPr/>
                    <a:lstStyle/>
                    <a:p>
                      <a:pPr algn="r" indent="0" marL="0">
                        <a:buNone/>
                      </a:pPr>
                      <a:r>
                        <a:rPr lang="en-US" sz="1200" dirty="0">
                          <a:solidFill>
                            <a:srgbClr val="0F172A"/>
                          </a:solidFill>
                          <a:latin typeface="Segoe UI" pitchFamily="34" charset="0"/>
                          <a:ea typeface="Segoe UI" pitchFamily="34" charset="-122"/>
                          <a:cs typeface="Segoe UI" pitchFamily="34" charset="-120"/>
                        </a:rPr>
                        <a:t>يزيد ثقة الباحث والمختبر</a:t>
                      </a:r>
                      <a:endParaRPr lang="en-US" sz="1200" dirty="0">
                        <a:latin typeface="Segoe UI" charset="0"/>
                        <a:ea typeface="Segoe UI" charset="0"/>
                        <a:cs typeface="Segoe UI" charset="0"/>
                      </a:endParaRPr>
                    </a:p>
                  </a:txBody>
                  <a:tcPr marL="91440" marR="91440" marT="45720" marB="45720" anchor="ctr">
                    <a:lnL w="0" cap="flat" cmpd="sng" algn="ctr">
                      <a:noFill/>
                    </a:lnL>
                    <a:lnR w="0" cap="flat" cmpd="sng" algn="ctr">
                      <a:noFill/>
                    </a:lnR>
                    <a:lnT w="6350" cap="flat" cmpd="sng" algn="ctr">
                      <a:solidFill>
                        <a:srgbClr val="D6D3D1"/>
                      </a:solidFill>
                      <a:prstDash val="solid"/>
                      <a:round/>
                      <a:headEnd type="none" w="med" len="med"/>
                      <a:tailEnd type="none" w="med" len="med"/>
                    </a:lnT>
                    <a:lnB w="0" cap="flat" cmpd="sng" algn="ctr">
                      <a:noFill/>
                    </a:lnB>
                    <a:solidFill>
                      <a:srgbClr val="FFFFFF"/>
                    </a:solidFill>
                  </a:tcPr>
                </a:tc>
              </a:tr>
              <a:tr h="0">
                <a:tc>
                  <a:txBody>
                    <a:bodyPr/>
                    <a:lstStyle/>
                    <a:p>
                      <a:pPr algn="r" indent="0" marL="0">
                        <a:buNone/>
                      </a:pPr>
                      <a:r>
                        <a:rPr lang="en-US" sz="1200" dirty="0">
                          <a:solidFill>
                            <a:srgbClr val="0F172A"/>
                          </a:solidFill>
                          <a:latin typeface="Segoe UI" pitchFamily="34" charset="0"/>
                          <a:ea typeface="Segoe UI" pitchFamily="34" charset="-122"/>
                          <a:cs typeface="Segoe UI" pitchFamily="34" charset="-120"/>
                        </a:rPr>
                        <a:t>صور متعددة</a:t>
                      </a:r>
                      <a:endParaRPr lang="en-US" sz="1200" dirty="0">
                        <a:latin typeface="Segoe UI" charset="0"/>
                        <a:ea typeface="Segoe UI" charset="0"/>
                        <a:cs typeface="Segoe UI" charset="0"/>
                      </a:endParaRPr>
                    </a:p>
                  </a:txBody>
                  <a:tcPr marL="91440" marR="91440" marT="45720" marB="45720" anchor="ctr">
                    <a:lnL w="0" cap="flat" cmpd="sng" algn="ctr">
                      <a:noFill/>
                    </a:lnL>
                    <a:lnR w="0" cap="flat" cmpd="sng" algn="ctr">
                      <a:noFill/>
                    </a:lnR>
                    <a:lnT w="6350" cap="flat" cmpd="sng" algn="ctr">
                      <a:solidFill>
                        <a:srgbClr val="D6D3D1"/>
                      </a:solidFill>
                      <a:prstDash val="solid"/>
                      <a:round/>
                      <a:headEnd type="none" w="med" len="med"/>
                      <a:tailEnd type="none" w="med" len="med"/>
                    </a:lnT>
                    <a:lnB w="0" cap="flat" cmpd="sng" algn="ctr">
                      <a:noFill/>
                    </a:lnB>
                    <a:solidFill>
                      <a:srgbClr val="FFFFFF"/>
                    </a:solidFill>
                  </a:tcPr>
                </a:tc>
                <a:tc>
                  <a:txBody>
                    <a:bodyPr/>
                    <a:lstStyle/>
                    <a:p>
                      <a:pPr algn="r" indent="0" marL="0">
                        <a:buNone/>
                      </a:pPr>
                      <a:r>
                        <a:rPr lang="en-US" sz="1200" dirty="0">
                          <a:solidFill>
                            <a:srgbClr val="0F172A"/>
                          </a:solidFill>
                          <a:latin typeface="Segoe UI" pitchFamily="34" charset="0"/>
                          <a:ea typeface="Segoe UI" pitchFamily="34" charset="-122"/>
                          <a:cs typeface="Segoe UI" pitchFamily="34" charset="-120"/>
                        </a:rPr>
                        <a:t>مستحسن جداً</a:t>
                      </a:r>
                      <a:endParaRPr lang="en-US" sz="1200" dirty="0">
                        <a:latin typeface="Segoe UI" charset="0"/>
                        <a:ea typeface="Segoe UI" charset="0"/>
                        <a:cs typeface="Segoe UI" charset="0"/>
                      </a:endParaRPr>
                    </a:p>
                  </a:txBody>
                  <a:tcPr marL="91440" marR="91440" marT="45720" marB="45720" anchor="ctr">
                    <a:lnL w="0" cap="flat" cmpd="sng" algn="ctr">
                      <a:noFill/>
                    </a:lnL>
                    <a:lnR w="0" cap="flat" cmpd="sng" algn="ctr">
                      <a:noFill/>
                    </a:lnR>
                    <a:lnT w="6350" cap="flat" cmpd="sng" algn="ctr">
                      <a:solidFill>
                        <a:srgbClr val="D6D3D1"/>
                      </a:solidFill>
                      <a:prstDash val="solid"/>
                      <a:round/>
                      <a:headEnd type="none" w="med" len="med"/>
                      <a:tailEnd type="none" w="med" len="med"/>
                    </a:lnT>
                    <a:lnB w="0" cap="flat" cmpd="sng" algn="ctr">
                      <a:noFill/>
                    </a:lnB>
                    <a:solidFill>
                      <a:srgbClr val="FFFFFF"/>
                    </a:solidFill>
                  </a:tcPr>
                </a:tc>
                <a:tc>
                  <a:txBody>
                    <a:bodyPr/>
                    <a:lstStyle/>
                    <a:p>
                      <a:pPr algn="r" indent="0" marL="0">
                        <a:buNone/>
                      </a:pPr>
                      <a:r>
                        <a:rPr lang="en-US" sz="1200" dirty="0">
                          <a:solidFill>
                            <a:srgbClr val="0F172A"/>
                          </a:solidFill>
                          <a:latin typeface="Segoe UI" pitchFamily="34" charset="0"/>
                          <a:ea typeface="Segoe UI" pitchFamily="34" charset="-122"/>
                          <a:cs typeface="Segoe UI" pitchFamily="34" charset="-120"/>
                        </a:rPr>
                        <a:t>معرض في صفحة المنتج</a:t>
                      </a:r>
                      <a:endParaRPr lang="en-US" sz="1200" dirty="0">
                        <a:latin typeface="Segoe UI" charset="0"/>
                        <a:ea typeface="Segoe UI" charset="0"/>
                        <a:cs typeface="Segoe UI" charset="0"/>
                      </a:endParaRPr>
                    </a:p>
                  </a:txBody>
                  <a:tcPr marL="91440" marR="91440" marT="45720" marB="45720" anchor="ctr">
                    <a:lnL w="0" cap="flat" cmpd="sng" algn="ctr">
                      <a:noFill/>
                    </a:lnL>
                    <a:lnR w="0" cap="flat" cmpd="sng" algn="ctr">
                      <a:noFill/>
                    </a:lnR>
                    <a:lnT w="6350" cap="flat" cmpd="sng" algn="ctr">
                      <a:solidFill>
                        <a:srgbClr val="D6D3D1"/>
                      </a:solidFill>
                      <a:prstDash val="solid"/>
                      <a:round/>
                      <a:headEnd type="none" w="med" len="med"/>
                      <a:tailEnd type="none" w="med" len="med"/>
                    </a:lnT>
                    <a:lnB w="0" cap="flat" cmpd="sng" algn="ctr">
                      <a:noFill/>
                    </a:lnB>
                    <a:solidFill>
                      <a:srgbClr val="FFFFFF"/>
                    </a:solidFill>
                  </a:tcPr>
                </a:tc>
              </a:tr>
              <a:tr h="0">
                <a:tc>
                  <a:txBody>
                    <a:bodyPr/>
                    <a:lstStyle/>
                    <a:p>
                      <a:pPr algn="r" indent="0" marL="0">
                        <a:buNone/>
                      </a:pPr>
                      <a:r>
                        <a:rPr lang="en-US" sz="1200" dirty="0">
                          <a:solidFill>
                            <a:srgbClr val="0F172A"/>
                          </a:solidFill>
                          <a:latin typeface="Segoe UI" pitchFamily="34" charset="0"/>
                          <a:ea typeface="Segoe UI" pitchFamily="34" charset="-122"/>
                          <a:cs typeface="Segoe UI" pitchFamily="34" charset="-120"/>
                        </a:rPr>
                        <a:t>شارات الثقة</a:t>
                      </a:r>
                      <a:endParaRPr lang="en-US" sz="1200" dirty="0">
                        <a:latin typeface="Segoe UI" charset="0"/>
                        <a:ea typeface="Segoe UI" charset="0"/>
                        <a:cs typeface="Segoe UI" charset="0"/>
                      </a:endParaRPr>
                    </a:p>
                  </a:txBody>
                  <a:tcPr marL="91440" marR="91440" marT="45720" marB="45720" anchor="ctr">
                    <a:lnL w="0" cap="flat" cmpd="sng" algn="ctr">
                      <a:noFill/>
                    </a:lnL>
                    <a:lnR w="0" cap="flat" cmpd="sng" algn="ctr">
                      <a:noFill/>
                    </a:lnR>
                    <a:lnT w="6350" cap="flat" cmpd="sng" algn="ctr">
                      <a:solidFill>
                        <a:srgbClr val="D6D3D1"/>
                      </a:solidFill>
                      <a:prstDash val="solid"/>
                      <a:round/>
                      <a:headEnd type="none" w="med" len="med"/>
                      <a:tailEnd type="none" w="med" len="med"/>
                    </a:lnT>
                    <a:lnB w="0" cap="flat" cmpd="sng" algn="ctr">
                      <a:noFill/>
                    </a:lnB>
                    <a:solidFill>
                      <a:srgbClr val="FFFFFF"/>
                    </a:solidFill>
                  </a:tcPr>
                </a:tc>
                <a:tc>
                  <a:txBody>
                    <a:bodyPr/>
                    <a:lstStyle/>
                    <a:p>
                      <a:pPr algn="r" indent="0" marL="0">
                        <a:buNone/>
                      </a:pPr>
                      <a:r>
                        <a:rPr lang="en-US" sz="1200" dirty="0">
                          <a:solidFill>
                            <a:srgbClr val="0F172A"/>
                          </a:solidFill>
                          <a:latin typeface="Segoe UI" pitchFamily="34" charset="0"/>
                          <a:ea typeface="Segoe UI" pitchFamily="34" charset="-122"/>
                          <a:cs typeface="Segoe UI" pitchFamily="34" charset="-120"/>
                        </a:rPr>
                        <a:t>اختياري</a:t>
                      </a:r>
                      <a:endParaRPr lang="en-US" sz="1200" dirty="0">
                        <a:latin typeface="Segoe UI" charset="0"/>
                        <a:ea typeface="Segoe UI" charset="0"/>
                        <a:cs typeface="Segoe UI" charset="0"/>
                      </a:endParaRPr>
                    </a:p>
                  </a:txBody>
                  <a:tcPr marL="91440" marR="91440" marT="45720" marB="45720" anchor="ctr">
                    <a:lnL w="0" cap="flat" cmpd="sng" algn="ctr">
                      <a:noFill/>
                    </a:lnL>
                    <a:lnR w="0" cap="flat" cmpd="sng" algn="ctr">
                      <a:noFill/>
                    </a:lnR>
                    <a:lnT w="6350" cap="flat" cmpd="sng" algn="ctr">
                      <a:solidFill>
                        <a:srgbClr val="D6D3D1"/>
                      </a:solidFill>
                      <a:prstDash val="solid"/>
                      <a:round/>
                      <a:headEnd type="none" w="med" len="med"/>
                      <a:tailEnd type="none" w="med" len="med"/>
                    </a:lnT>
                    <a:lnB w="0" cap="flat" cmpd="sng" algn="ctr">
                      <a:noFill/>
                    </a:lnB>
                    <a:solidFill>
                      <a:srgbClr val="FFFFFF"/>
                    </a:solidFill>
                  </a:tcPr>
                </a:tc>
                <a:tc>
                  <a:txBody>
                    <a:bodyPr/>
                    <a:lstStyle/>
                    <a:p>
                      <a:pPr algn="r" indent="0" marL="0">
                        <a:buNone/>
                      </a:pPr>
                      <a:r>
                        <a:rPr lang="en-US" sz="1200" dirty="0">
                          <a:solidFill>
                            <a:srgbClr val="0F172A"/>
                          </a:solidFill>
                          <a:latin typeface="Segoe UI" pitchFamily="34" charset="0"/>
                          <a:ea typeface="Segoe UI" pitchFamily="34" charset="-122"/>
                          <a:cs typeface="Segoe UI" pitchFamily="34" charset="-120"/>
                        </a:rPr>
                        <a:t>موثّق · مستورد · ملاءمة مختبر</a:t>
                      </a:r>
                      <a:endParaRPr lang="en-US" sz="1200" dirty="0">
                        <a:latin typeface="Segoe UI" charset="0"/>
                        <a:ea typeface="Segoe UI" charset="0"/>
                        <a:cs typeface="Segoe UI" charset="0"/>
                      </a:endParaRPr>
                    </a:p>
                  </a:txBody>
                  <a:tcPr marL="91440" marR="91440" marT="45720" marB="45720" anchor="ctr">
                    <a:lnL w="0" cap="flat" cmpd="sng" algn="ctr">
                      <a:noFill/>
                    </a:lnL>
                    <a:lnR w="0" cap="flat" cmpd="sng" algn="ctr">
                      <a:noFill/>
                    </a:lnR>
                    <a:lnT w="6350" cap="flat" cmpd="sng" algn="ctr">
                      <a:solidFill>
                        <a:srgbClr val="D6D3D1"/>
                      </a:solidFill>
                      <a:prstDash val="solid"/>
                      <a:round/>
                      <a:headEnd type="none" w="med" len="med"/>
                      <a:tailEnd type="none" w="med" len="med"/>
                    </a:lnT>
                    <a:lnB w="0" cap="flat" cmpd="sng" algn="ctr">
                      <a:noFill/>
                    </a:lnB>
                    <a:solidFill>
                      <a:srgbClr val="FFFFFF"/>
                    </a:solidFill>
                  </a:tcPr>
                </a:tc>
              </a:tr>
              <a:tr h="0">
                <a:tc>
                  <a:txBody>
                    <a:bodyPr/>
                    <a:lstStyle/>
                    <a:p>
                      <a:pPr algn="r" indent="0" marL="0">
                        <a:buNone/>
                      </a:pPr>
                      <a:r>
                        <a:rPr lang="en-US" sz="1200" dirty="0">
                          <a:solidFill>
                            <a:srgbClr val="0F172A"/>
                          </a:solidFill>
                          <a:latin typeface="Segoe UI" pitchFamily="34" charset="0"/>
                          <a:ea typeface="Segoe UI" pitchFamily="34" charset="-122"/>
                          <a:cs typeface="Segoe UI" pitchFamily="34" charset="-120"/>
                        </a:rPr>
                        <a:t>وسائل التواصل</a:t>
                      </a:r>
                      <a:endParaRPr lang="en-US" sz="1200" dirty="0">
                        <a:latin typeface="Segoe UI" charset="0"/>
                        <a:ea typeface="Segoe UI" charset="0"/>
                        <a:cs typeface="Segoe UI" charset="0"/>
                      </a:endParaRPr>
                    </a:p>
                  </a:txBody>
                  <a:tcPr marL="91440" marR="91440" marT="45720" marB="45720" anchor="ctr">
                    <a:lnL w="0" cap="flat" cmpd="sng" algn="ctr">
                      <a:noFill/>
                    </a:lnL>
                    <a:lnR w="0" cap="flat" cmpd="sng" algn="ctr">
                      <a:noFill/>
                    </a:lnR>
                    <a:lnT w="6350" cap="flat" cmpd="sng" algn="ctr">
                      <a:solidFill>
                        <a:srgbClr val="D6D3D1"/>
                      </a:solidFill>
                      <a:prstDash val="solid"/>
                      <a:round/>
                      <a:headEnd type="none" w="med" len="med"/>
                      <a:tailEnd type="none" w="med" len="med"/>
                    </a:lnT>
                    <a:lnB w="0" cap="flat" cmpd="sng" algn="ctr">
                      <a:noFill/>
                    </a:lnB>
                    <a:solidFill>
                      <a:srgbClr val="FFFFFF"/>
                    </a:solidFill>
                  </a:tcPr>
                </a:tc>
                <a:tc>
                  <a:txBody>
                    <a:bodyPr/>
                    <a:lstStyle/>
                    <a:p>
                      <a:pPr algn="r" indent="0" marL="0">
                        <a:buNone/>
                      </a:pPr>
                      <a:r>
                        <a:rPr lang="en-US" sz="1200" dirty="0">
                          <a:solidFill>
                            <a:srgbClr val="0F172A"/>
                          </a:solidFill>
                          <a:latin typeface="Segoe UI" pitchFamily="34" charset="0"/>
                          <a:ea typeface="Segoe UI" pitchFamily="34" charset="-122"/>
                          <a:cs typeface="Segoe UI" pitchFamily="34" charset="-120"/>
                        </a:rPr>
                        <a:t>مستحسن</a:t>
                      </a:r>
                      <a:endParaRPr lang="en-US" sz="1200" dirty="0">
                        <a:latin typeface="Segoe UI" charset="0"/>
                        <a:ea typeface="Segoe UI" charset="0"/>
                        <a:cs typeface="Segoe UI" charset="0"/>
                      </a:endParaRPr>
                    </a:p>
                  </a:txBody>
                  <a:tcPr marL="91440" marR="91440" marT="45720" marB="45720" anchor="ctr">
                    <a:lnL w="0" cap="flat" cmpd="sng" algn="ctr">
                      <a:noFill/>
                    </a:lnL>
                    <a:lnR w="0" cap="flat" cmpd="sng" algn="ctr">
                      <a:noFill/>
                    </a:lnR>
                    <a:lnT w="6350" cap="flat" cmpd="sng" algn="ctr">
                      <a:solidFill>
                        <a:srgbClr val="D6D3D1"/>
                      </a:solidFill>
                      <a:prstDash val="solid"/>
                      <a:round/>
                      <a:headEnd type="none" w="med" len="med"/>
                      <a:tailEnd type="none" w="med" len="med"/>
                    </a:lnT>
                    <a:lnB w="0" cap="flat" cmpd="sng" algn="ctr">
                      <a:noFill/>
                    </a:lnB>
                    <a:solidFill>
                      <a:srgbClr val="FFFFFF"/>
                    </a:solidFill>
                  </a:tcPr>
                </a:tc>
                <a:tc>
                  <a:txBody>
                    <a:bodyPr/>
                    <a:lstStyle/>
                    <a:p>
                      <a:pPr algn="r" indent="0" marL="0">
                        <a:buNone/>
                      </a:pPr>
                      <a:r>
                        <a:rPr lang="en-US" sz="1200" dirty="0">
                          <a:solidFill>
                            <a:srgbClr val="0F172A"/>
                          </a:solidFill>
                          <a:latin typeface="Segoe UI" pitchFamily="34" charset="0"/>
                          <a:ea typeface="Segoe UI" pitchFamily="34" charset="-122"/>
                          <a:cs typeface="Segoe UI" pitchFamily="34" charset="-120"/>
                        </a:rPr>
                        <a:t>هاتف / واتساب / بريد</a:t>
                      </a:r>
                      <a:endParaRPr lang="en-US" sz="1200" dirty="0">
                        <a:latin typeface="Segoe UI" charset="0"/>
                        <a:ea typeface="Segoe UI" charset="0"/>
                        <a:cs typeface="Segoe UI" charset="0"/>
                      </a:endParaRPr>
                    </a:p>
                  </a:txBody>
                  <a:tcPr marL="91440" marR="91440" marT="45720" marB="45720" anchor="ctr">
                    <a:lnL w="0" cap="flat" cmpd="sng" algn="ctr">
                      <a:noFill/>
                    </a:lnL>
                    <a:lnR w="0" cap="flat" cmpd="sng" algn="ctr">
                      <a:noFill/>
                    </a:lnR>
                    <a:lnT w="6350" cap="flat" cmpd="sng" algn="ctr">
                      <a:solidFill>
                        <a:srgbClr val="D6D3D1"/>
                      </a:solidFill>
                      <a:prstDash val="solid"/>
                      <a:round/>
                      <a:headEnd type="none" w="med" len="med"/>
                      <a:tailEnd type="none" w="med" len="med"/>
                    </a:lnT>
                    <a:lnB w="0" cap="flat" cmpd="sng" algn="ctr">
                      <a:noFill/>
                    </a:lnB>
                    <a:solidFill>
                      <a:srgbClr val="FFFFFF"/>
                    </a:solidFill>
                  </a:tcPr>
                </a:tc>
              </a:tr>
            </a:tbl>
          </a:graphicData>
        </a:graphic>
      </p:graphicFrame>
      <p:sp>
        <p:nvSpPr>
          <p:cNvPr id="7" name="Shape 4"/>
          <p:cNvSpPr/>
          <p:nvPr/>
        </p:nvSpPr>
        <p:spPr>
          <a:xfrm>
            <a:off x="411480" y="4709160"/>
            <a:ext cx="11368735" cy="1280160"/>
          </a:xfrm>
          <a:prstGeom prst="roundRect">
            <a:avLst>
              <a:gd name="adj" fmla="val 7143"/>
            </a:avLst>
          </a:prstGeom>
          <a:solidFill>
            <a:srgbClr val="EEF6F5"/>
          </a:solidFill>
          <a:ln w="12700">
            <a:solidFill>
              <a:srgbClr val="0F766E"/>
            </a:solidFill>
            <a:prstDash val="solid"/>
          </a:ln>
        </p:spPr>
      </p:sp>
      <p:sp>
        <p:nvSpPr>
          <p:cNvPr id="8" name="Text 5"/>
          <p:cNvSpPr/>
          <p:nvPr/>
        </p:nvSpPr>
        <p:spPr>
          <a:xfrm>
            <a:off x="640080" y="4937760"/>
            <a:ext cx="10911535" cy="868680"/>
          </a:xfrm>
          <a:prstGeom prst="rect">
            <a:avLst/>
          </a:prstGeom>
          <a:noFill/>
          <a:ln/>
        </p:spPr>
        <p:txBody>
          <a:bodyPr wrap="square" rtlCol="0" anchor="ctr"/>
          <a:lstStyle/>
          <a:p>
            <a:pPr rtl="1" algn="r" indent="0" marL="0">
              <a:buNone/>
            </a:pPr>
            <a:r>
              <a:rPr lang="en-US" sz="1300" dirty="0">
                <a:solidFill>
                  <a:srgbClr val="0F172A"/>
                </a:solidFill>
                <a:latin typeface="Segoe UI" pitchFamily="34" charset="0"/>
                <a:ea typeface="Segoe UI" pitchFamily="34" charset="-122"/>
                <a:cs typeface="Segoe UI" pitchFamily="34" charset="-120"/>
              </a:rPr>
              <a:t>المنتج يدخل قيد المراجعة ثم يظهر بعد الموافقة. المشتري: Hub → فلاتر → منتج → عربة/شراء أو RFQ → دفع → تأكيد استلام → إفراج الضمان.</a:t>
            </a:r>
            <a:endParaRPr lang="en-US" sz="1300" dirty="0"/>
          </a:p>
        </p:txBody>
      </p:sp>
      <p:sp>
        <p:nvSpPr>
          <p:cNvPr id="9" name="Shape 6"/>
          <p:cNvSpPr/>
          <p:nvPr/>
        </p:nvSpPr>
        <p:spPr>
          <a:xfrm>
            <a:off x="0" y="6510528"/>
            <a:ext cx="12191695" cy="347472"/>
          </a:xfrm>
          <a:prstGeom prst="rect">
            <a:avLst/>
          </a:prstGeom>
          <a:solidFill>
            <a:srgbClr val="F8F5F0"/>
          </a:solidFill>
          <a:ln/>
        </p:spPr>
      </p:sp>
      <p:sp>
        <p:nvSpPr>
          <p:cNvPr id="10" name="Text 7"/>
          <p:cNvSpPr/>
          <p:nvPr/>
        </p:nvSpPr>
        <p:spPr>
          <a:xfrm>
            <a:off x="411480" y="6547104"/>
            <a:ext cx="8229600" cy="256032"/>
          </a:xfrm>
          <a:prstGeom prst="rect">
            <a:avLst/>
          </a:prstGeom>
          <a:noFill/>
          <a:ln/>
        </p:spPr>
        <p:txBody>
          <a:bodyPr wrap="square" rtlCol="0" anchor="ctr"/>
          <a:lstStyle/>
          <a:p>
            <a:pPr rtl="1" algn="r" indent="0" marL="0">
              <a:buNone/>
            </a:pPr>
            <a:r>
              <a:rPr lang="en-US" sz="1000" dirty="0">
                <a:solidFill>
                  <a:srgbClr val="475569"/>
                </a:solidFill>
                <a:latin typeface="Segoe UI" pitchFamily="34" charset="0"/>
                <a:ea typeface="Segoe UI" pitchFamily="34" charset="-122"/>
                <a:cs typeface="Segoe UI" pitchFamily="34" charset="-120"/>
              </a:rPr>
              <a:t>AcadeGate · عرض شراكة الموردين · محدّث ١٩ سبتمبر ٢٠٢٦</a:t>
            </a:r>
            <a:endParaRPr lang="en-US" sz="1000" dirty="0"/>
          </a:p>
        </p:txBody>
      </p:sp>
      <p:sp>
        <p:nvSpPr>
          <p:cNvPr id="11" name="Text 8"/>
          <p:cNvSpPr/>
          <p:nvPr/>
        </p:nvSpPr>
        <p:spPr>
          <a:xfrm>
            <a:off x="10682935" y="6547104"/>
            <a:ext cx="1097280" cy="256032"/>
          </a:xfrm>
          <a:prstGeom prst="rect">
            <a:avLst/>
          </a:prstGeom>
          <a:noFill/>
          <a:ln/>
        </p:spPr>
        <p:txBody>
          <a:bodyPr wrap="square" rtlCol="0" anchor="ctr"/>
          <a:lstStyle/>
          <a:p>
            <a:pPr algn="l" indent="0" marL="0">
              <a:buNone/>
            </a:pPr>
            <a:r>
              <a:rPr lang="en-US" sz="1000" dirty="0">
                <a:solidFill>
                  <a:srgbClr val="475569"/>
                </a:solidFill>
                <a:latin typeface="Segoe UI" pitchFamily="34" charset="0"/>
                <a:ea typeface="Segoe UI" pitchFamily="34" charset="-122"/>
                <a:cs typeface="Segoe UI" pitchFamily="34" charset="-120"/>
              </a:rPr>
              <a:t>8 / 16</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sp>
      <p:sp>
        <p:nvSpPr>
          <p:cNvPr id="3" name="Shape 1"/>
          <p:cNvSpPr/>
          <p:nvPr/>
        </p:nvSpPr>
        <p:spPr>
          <a:xfrm>
            <a:off x="411480" y="256032"/>
            <a:ext cx="109728" cy="502920"/>
          </a:xfrm>
          <a:prstGeom prst="rect">
            <a:avLst/>
          </a:prstGeom>
          <a:solidFill>
            <a:srgbClr val="0F766E"/>
          </a:solidFill>
          <a:ln/>
        </p:spPr>
      </p:sp>
      <p:sp>
        <p:nvSpPr>
          <p:cNvPr id="4" name="Text 2"/>
          <p:cNvSpPr/>
          <p:nvPr/>
        </p:nvSpPr>
        <p:spPr>
          <a:xfrm>
            <a:off x="612648" y="201168"/>
            <a:ext cx="11167567" cy="566928"/>
          </a:xfrm>
          <a:prstGeom prst="rect">
            <a:avLst/>
          </a:prstGeom>
          <a:noFill/>
          <a:ln/>
        </p:spPr>
        <p:txBody>
          <a:bodyPr wrap="square" rtlCol="0" anchor="ctr"/>
          <a:lstStyle/>
          <a:p>
            <a:pPr rtl="1" algn="r" indent="0" marL="0">
              <a:buNone/>
            </a:pPr>
            <a:r>
              <a:rPr lang="en-US" sz="2400" b="1" dirty="0">
                <a:solidFill>
                  <a:srgbClr val="0B1F4D"/>
                </a:solidFill>
                <a:latin typeface="Segoe UI" pitchFamily="34" charset="0"/>
                <a:ea typeface="Segoe UI" pitchFamily="34" charset="-122"/>
                <a:cs typeface="Segoe UI" pitchFamily="34" charset="-120"/>
              </a:rPr>
              <a:t>٦ — آلية الضمان (Escrow)</a:t>
            </a:r>
            <a:endParaRPr lang="en-US" sz="2400" dirty="0"/>
          </a:p>
        </p:txBody>
      </p:sp>
      <p:sp>
        <p:nvSpPr>
          <p:cNvPr id="5" name="Shape 3"/>
          <p:cNvSpPr/>
          <p:nvPr/>
        </p:nvSpPr>
        <p:spPr>
          <a:xfrm>
            <a:off x="411480" y="822960"/>
            <a:ext cx="11368735" cy="32004"/>
          </a:xfrm>
          <a:prstGeom prst="rect">
            <a:avLst/>
          </a:prstGeom>
          <a:solidFill>
            <a:srgbClr val="0F766E"/>
          </a:solidFill>
          <a:ln/>
        </p:spPr>
      </p:sp>
      <p:sp>
        <p:nvSpPr>
          <p:cNvPr id="6" name="Text 4"/>
          <p:cNvSpPr/>
          <p:nvPr/>
        </p:nvSpPr>
        <p:spPr>
          <a:xfrm>
            <a:off x="411480" y="960120"/>
            <a:ext cx="11368735" cy="457200"/>
          </a:xfrm>
          <a:prstGeom prst="rect">
            <a:avLst/>
          </a:prstGeom>
          <a:noFill/>
          <a:ln/>
        </p:spPr>
        <p:txBody>
          <a:bodyPr wrap="square" rtlCol="0" anchor="ctr"/>
          <a:lstStyle/>
          <a:p>
            <a:pPr rtl="1" algn="r" indent="0" marL="0">
              <a:buNone/>
            </a:pPr>
            <a:r>
              <a:rPr lang="en-US" sz="1300" dirty="0">
                <a:solidFill>
                  <a:srgbClr val="475569"/>
                </a:solidFill>
                <a:latin typeface="Segoe UI" pitchFamily="34" charset="0"/>
                <a:ea typeface="Segoe UI" pitchFamily="34" charset="-122"/>
                <a:cs typeface="Segoe UI" pitchFamily="34" charset="-120"/>
              </a:rPr>
              <a:t>أقوى حجة بيع أمام العميل المتردد — يقلل النزاعات ويسرّع إغلاق الصفقة.</a:t>
            </a:r>
            <a:endParaRPr lang="en-US" sz="1300" dirty="0"/>
          </a:p>
        </p:txBody>
      </p:sp>
      <p:sp>
        <p:nvSpPr>
          <p:cNvPr id="7" name="Shape 5"/>
          <p:cNvSpPr/>
          <p:nvPr/>
        </p:nvSpPr>
        <p:spPr>
          <a:xfrm>
            <a:off x="411480" y="1508760"/>
            <a:ext cx="2148840" cy="1508760"/>
          </a:xfrm>
          <a:prstGeom prst="roundRect">
            <a:avLst>
              <a:gd name="adj" fmla="val 6061"/>
            </a:avLst>
          </a:prstGeom>
          <a:solidFill>
            <a:srgbClr val="EEF6F5"/>
          </a:solidFill>
          <a:ln w="12700">
            <a:solidFill>
              <a:srgbClr val="CCFBF1"/>
            </a:solidFill>
            <a:prstDash val="solid"/>
          </a:ln>
        </p:spPr>
      </p:sp>
      <p:sp>
        <p:nvSpPr>
          <p:cNvPr id="8" name="Shape 6"/>
          <p:cNvSpPr/>
          <p:nvPr/>
        </p:nvSpPr>
        <p:spPr>
          <a:xfrm>
            <a:off x="1234440" y="1645920"/>
            <a:ext cx="457200" cy="457200"/>
          </a:xfrm>
          <a:prstGeom prst="ellipse">
            <a:avLst/>
          </a:prstGeom>
          <a:solidFill>
            <a:srgbClr val="0B1F4D"/>
          </a:solidFill>
          <a:ln/>
        </p:spPr>
      </p:sp>
      <p:sp>
        <p:nvSpPr>
          <p:cNvPr id="9" name="Text 7"/>
          <p:cNvSpPr/>
          <p:nvPr/>
        </p:nvSpPr>
        <p:spPr>
          <a:xfrm>
            <a:off x="1234440" y="1645920"/>
            <a:ext cx="457200" cy="457200"/>
          </a:xfrm>
          <a:prstGeom prst="rect">
            <a:avLst/>
          </a:prstGeom>
          <a:noFill/>
          <a:ln/>
        </p:spPr>
        <p:txBody>
          <a:bodyPr wrap="square" rtlCol="0" anchor="ctr"/>
          <a:lstStyle/>
          <a:p>
            <a:pPr algn="ctr" indent="0" marL="0">
              <a:buNone/>
            </a:pPr>
            <a:r>
              <a:rPr lang="en-US" sz="1500" b="1" dirty="0">
                <a:solidFill>
                  <a:srgbClr val="FFFFFF"/>
                </a:solidFill>
              </a:rPr>
              <a:t>1</a:t>
            </a:r>
            <a:endParaRPr lang="en-US" sz="1500" dirty="0"/>
          </a:p>
        </p:txBody>
      </p:sp>
      <p:sp>
        <p:nvSpPr>
          <p:cNvPr id="10" name="Text 8"/>
          <p:cNvSpPr/>
          <p:nvPr/>
        </p:nvSpPr>
        <p:spPr>
          <a:xfrm>
            <a:off x="502920" y="2240280"/>
            <a:ext cx="1965960" cy="320040"/>
          </a:xfrm>
          <a:prstGeom prst="rect">
            <a:avLst/>
          </a:prstGeom>
          <a:noFill/>
          <a:ln/>
        </p:spPr>
        <p:txBody>
          <a:bodyPr wrap="square" rtlCol="0" anchor="ctr"/>
          <a:lstStyle/>
          <a:p>
            <a:pPr rtl="1" algn="ctr" indent="0" marL="0">
              <a:buNone/>
            </a:pPr>
            <a:r>
              <a:rPr lang="en-US" sz="1300" b="1" dirty="0">
                <a:solidFill>
                  <a:srgbClr val="0B1F4D"/>
                </a:solidFill>
                <a:latin typeface="Segoe UI" pitchFamily="34" charset="0"/>
                <a:ea typeface="Segoe UI" pitchFamily="34" charset="-122"/>
                <a:cs typeface="Segoe UI" pitchFamily="34" charset="-120"/>
              </a:rPr>
              <a:t>إنشاء طلب</a:t>
            </a:r>
            <a:endParaRPr lang="en-US" sz="1300" dirty="0"/>
          </a:p>
        </p:txBody>
      </p:sp>
      <p:sp>
        <p:nvSpPr>
          <p:cNvPr id="11" name="Text 9"/>
          <p:cNvSpPr/>
          <p:nvPr/>
        </p:nvSpPr>
        <p:spPr>
          <a:xfrm>
            <a:off x="502920" y="2606040"/>
            <a:ext cx="1965960" cy="274320"/>
          </a:xfrm>
          <a:prstGeom prst="rect">
            <a:avLst/>
          </a:prstGeom>
          <a:noFill/>
          <a:ln/>
        </p:spPr>
        <p:txBody>
          <a:bodyPr wrap="square" rtlCol="0" anchor="ctr"/>
          <a:lstStyle/>
          <a:p>
            <a:pPr rtl="1" algn="ctr" indent="0" marL="0">
              <a:buNone/>
            </a:pPr>
            <a:r>
              <a:rPr lang="en-US" sz="1100" dirty="0">
                <a:solidFill>
                  <a:srgbClr val="475569"/>
                </a:solidFill>
                <a:latin typeface="Segoe UI" pitchFamily="34" charset="0"/>
                <a:ea typeface="Segoe UI" pitchFamily="34" charset="-122"/>
                <a:cs typeface="Segoe UI" pitchFamily="34" charset="-120"/>
              </a:rPr>
              <a:t>السعر من قاعدة البيانات</a:t>
            </a:r>
            <a:endParaRPr lang="en-US" sz="1100" dirty="0"/>
          </a:p>
        </p:txBody>
      </p:sp>
      <p:sp>
        <p:nvSpPr>
          <p:cNvPr id="12" name="Shape 10"/>
          <p:cNvSpPr/>
          <p:nvPr/>
        </p:nvSpPr>
        <p:spPr>
          <a:xfrm>
            <a:off x="2697480" y="1508760"/>
            <a:ext cx="2148840" cy="1508760"/>
          </a:xfrm>
          <a:prstGeom prst="roundRect">
            <a:avLst>
              <a:gd name="adj" fmla="val 6061"/>
            </a:avLst>
          </a:prstGeom>
          <a:solidFill>
            <a:srgbClr val="EEF6F5"/>
          </a:solidFill>
          <a:ln w="12700">
            <a:solidFill>
              <a:srgbClr val="CCFBF1"/>
            </a:solidFill>
            <a:prstDash val="solid"/>
          </a:ln>
        </p:spPr>
      </p:sp>
      <p:sp>
        <p:nvSpPr>
          <p:cNvPr id="13" name="Shape 11"/>
          <p:cNvSpPr/>
          <p:nvPr/>
        </p:nvSpPr>
        <p:spPr>
          <a:xfrm>
            <a:off x="3520440" y="1645920"/>
            <a:ext cx="457200" cy="457200"/>
          </a:xfrm>
          <a:prstGeom prst="ellipse">
            <a:avLst/>
          </a:prstGeom>
          <a:solidFill>
            <a:srgbClr val="0B1F4D"/>
          </a:solidFill>
          <a:ln/>
        </p:spPr>
      </p:sp>
      <p:sp>
        <p:nvSpPr>
          <p:cNvPr id="14" name="Text 12"/>
          <p:cNvSpPr/>
          <p:nvPr/>
        </p:nvSpPr>
        <p:spPr>
          <a:xfrm>
            <a:off x="3520440" y="1645920"/>
            <a:ext cx="457200" cy="457200"/>
          </a:xfrm>
          <a:prstGeom prst="rect">
            <a:avLst/>
          </a:prstGeom>
          <a:noFill/>
          <a:ln/>
        </p:spPr>
        <p:txBody>
          <a:bodyPr wrap="square" rtlCol="0" anchor="ctr"/>
          <a:lstStyle/>
          <a:p>
            <a:pPr algn="ctr" indent="0" marL="0">
              <a:buNone/>
            </a:pPr>
            <a:r>
              <a:rPr lang="en-US" sz="1500" b="1" dirty="0">
                <a:solidFill>
                  <a:srgbClr val="FFFFFF"/>
                </a:solidFill>
              </a:rPr>
              <a:t>2</a:t>
            </a:r>
            <a:endParaRPr lang="en-US" sz="1500" dirty="0"/>
          </a:p>
        </p:txBody>
      </p:sp>
      <p:sp>
        <p:nvSpPr>
          <p:cNvPr id="15" name="Text 13"/>
          <p:cNvSpPr/>
          <p:nvPr/>
        </p:nvSpPr>
        <p:spPr>
          <a:xfrm>
            <a:off x="2788920" y="2240280"/>
            <a:ext cx="1965960" cy="320040"/>
          </a:xfrm>
          <a:prstGeom prst="rect">
            <a:avLst/>
          </a:prstGeom>
          <a:noFill/>
          <a:ln/>
        </p:spPr>
        <p:txBody>
          <a:bodyPr wrap="square" rtlCol="0" anchor="ctr"/>
          <a:lstStyle/>
          <a:p>
            <a:pPr rtl="1" algn="ctr" indent="0" marL="0">
              <a:buNone/>
            </a:pPr>
            <a:r>
              <a:rPr lang="en-US" sz="1300" b="1" dirty="0">
                <a:solidFill>
                  <a:srgbClr val="0B1F4D"/>
                </a:solidFill>
                <a:latin typeface="Segoe UI" pitchFamily="34" charset="0"/>
                <a:ea typeface="Segoe UI" pitchFamily="34" charset="-122"/>
                <a:cs typeface="Segoe UI" pitchFamily="34" charset="-120"/>
              </a:rPr>
              <a:t>دفع / تحويل</a:t>
            </a:r>
            <a:endParaRPr lang="en-US" sz="1300" dirty="0"/>
          </a:p>
        </p:txBody>
      </p:sp>
      <p:sp>
        <p:nvSpPr>
          <p:cNvPr id="16" name="Text 14"/>
          <p:cNvSpPr/>
          <p:nvPr/>
        </p:nvSpPr>
        <p:spPr>
          <a:xfrm>
            <a:off x="2788920" y="2606040"/>
            <a:ext cx="1965960" cy="274320"/>
          </a:xfrm>
          <a:prstGeom prst="rect">
            <a:avLst/>
          </a:prstGeom>
          <a:noFill/>
          <a:ln/>
        </p:spPr>
        <p:txBody>
          <a:bodyPr wrap="square" rtlCol="0" anchor="ctr"/>
          <a:lstStyle/>
          <a:p>
            <a:pPr rtl="1" algn="ctr" indent="0" marL="0">
              <a:buNone/>
            </a:pPr>
            <a:r>
              <a:rPr lang="en-US" sz="1100" dirty="0">
                <a:solidFill>
                  <a:srgbClr val="475569"/>
                </a:solidFill>
                <a:latin typeface="Segoe UI" pitchFamily="34" charset="0"/>
                <a:ea typeface="Segoe UI" pitchFamily="34" charset="-122"/>
                <a:cs typeface="Segoe UI" pitchFamily="34" charset="-120"/>
              </a:rPr>
              <a:t>يدوي أو Paymob</a:t>
            </a:r>
            <a:endParaRPr lang="en-US" sz="1100" dirty="0"/>
          </a:p>
        </p:txBody>
      </p:sp>
      <p:sp>
        <p:nvSpPr>
          <p:cNvPr id="17" name="Shape 15"/>
          <p:cNvSpPr/>
          <p:nvPr/>
        </p:nvSpPr>
        <p:spPr>
          <a:xfrm>
            <a:off x="4983480" y="1508760"/>
            <a:ext cx="2148840" cy="1508760"/>
          </a:xfrm>
          <a:prstGeom prst="roundRect">
            <a:avLst>
              <a:gd name="adj" fmla="val 6061"/>
            </a:avLst>
          </a:prstGeom>
          <a:solidFill>
            <a:srgbClr val="EEF6F5"/>
          </a:solidFill>
          <a:ln w="12700">
            <a:solidFill>
              <a:srgbClr val="CCFBF1"/>
            </a:solidFill>
            <a:prstDash val="solid"/>
          </a:ln>
        </p:spPr>
      </p:sp>
      <p:sp>
        <p:nvSpPr>
          <p:cNvPr id="18" name="Shape 16"/>
          <p:cNvSpPr/>
          <p:nvPr/>
        </p:nvSpPr>
        <p:spPr>
          <a:xfrm>
            <a:off x="5806440" y="1645920"/>
            <a:ext cx="457200" cy="457200"/>
          </a:xfrm>
          <a:prstGeom prst="ellipse">
            <a:avLst/>
          </a:prstGeom>
          <a:solidFill>
            <a:srgbClr val="0B1F4D"/>
          </a:solidFill>
          <a:ln/>
        </p:spPr>
      </p:sp>
      <p:sp>
        <p:nvSpPr>
          <p:cNvPr id="19" name="Text 17"/>
          <p:cNvSpPr/>
          <p:nvPr/>
        </p:nvSpPr>
        <p:spPr>
          <a:xfrm>
            <a:off x="5806440" y="1645920"/>
            <a:ext cx="457200" cy="457200"/>
          </a:xfrm>
          <a:prstGeom prst="rect">
            <a:avLst/>
          </a:prstGeom>
          <a:noFill/>
          <a:ln/>
        </p:spPr>
        <p:txBody>
          <a:bodyPr wrap="square" rtlCol="0" anchor="ctr"/>
          <a:lstStyle/>
          <a:p>
            <a:pPr algn="ctr" indent="0" marL="0">
              <a:buNone/>
            </a:pPr>
            <a:r>
              <a:rPr lang="en-US" sz="1500" b="1" dirty="0">
                <a:solidFill>
                  <a:srgbClr val="FFFFFF"/>
                </a:solidFill>
              </a:rPr>
              <a:t>3</a:t>
            </a:r>
            <a:endParaRPr lang="en-US" sz="1500" dirty="0"/>
          </a:p>
        </p:txBody>
      </p:sp>
      <p:sp>
        <p:nvSpPr>
          <p:cNvPr id="20" name="Text 18"/>
          <p:cNvSpPr/>
          <p:nvPr/>
        </p:nvSpPr>
        <p:spPr>
          <a:xfrm>
            <a:off x="5074920" y="2240280"/>
            <a:ext cx="1965960" cy="320040"/>
          </a:xfrm>
          <a:prstGeom prst="rect">
            <a:avLst/>
          </a:prstGeom>
          <a:noFill/>
          <a:ln/>
        </p:spPr>
        <p:txBody>
          <a:bodyPr wrap="square" rtlCol="0" anchor="ctr"/>
          <a:lstStyle/>
          <a:p>
            <a:pPr rtl="1" algn="ctr" indent="0" marL="0">
              <a:buNone/>
            </a:pPr>
            <a:r>
              <a:rPr lang="en-US" sz="1300" b="1" dirty="0">
                <a:solidFill>
                  <a:srgbClr val="0B1F4D"/>
                </a:solidFill>
                <a:latin typeface="Segoe UI" pitchFamily="34" charset="0"/>
                <a:ea typeface="Segoe UI" pitchFamily="34" charset="-122"/>
                <a:cs typeface="Segoe UI" pitchFamily="34" charset="-120"/>
              </a:rPr>
              <a:t>حجز المبلغ</a:t>
            </a:r>
            <a:endParaRPr lang="en-US" sz="1300" dirty="0"/>
          </a:p>
        </p:txBody>
      </p:sp>
      <p:sp>
        <p:nvSpPr>
          <p:cNvPr id="21" name="Text 19"/>
          <p:cNvSpPr/>
          <p:nvPr/>
        </p:nvSpPr>
        <p:spPr>
          <a:xfrm>
            <a:off x="5074920" y="2606040"/>
            <a:ext cx="1965960" cy="274320"/>
          </a:xfrm>
          <a:prstGeom prst="rect">
            <a:avLst/>
          </a:prstGeom>
          <a:noFill/>
          <a:ln/>
        </p:spPr>
        <p:txBody>
          <a:bodyPr wrap="square" rtlCol="0" anchor="ctr"/>
          <a:lstStyle/>
          <a:p>
            <a:pPr rtl="1" algn="ctr" indent="0" marL="0">
              <a:buNone/>
            </a:pPr>
            <a:r>
              <a:rPr lang="en-US" sz="1100" dirty="0">
                <a:solidFill>
                  <a:srgbClr val="475569"/>
                </a:solidFill>
                <a:latin typeface="Segoe UI" pitchFamily="34" charset="0"/>
                <a:ea typeface="Segoe UI" pitchFamily="34" charset="-122"/>
                <a:cs typeface="Segoe UI" pitchFamily="34" charset="-120"/>
              </a:rPr>
              <a:t>حالة paid_held</a:t>
            </a:r>
            <a:endParaRPr lang="en-US" sz="1100" dirty="0"/>
          </a:p>
        </p:txBody>
      </p:sp>
      <p:sp>
        <p:nvSpPr>
          <p:cNvPr id="22" name="Shape 20"/>
          <p:cNvSpPr/>
          <p:nvPr/>
        </p:nvSpPr>
        <p:spPr>
          <a:xfrm>
            <a:off x="7269480" y="1508760"/>
            <a:ext cx="2148840" cy="1508760"/>
          </a:xfrm>
          <a:prstGeom prst="roundRect">
            <a:avLst>
              <a:gd name="adj" fmla="val 6061"/>
            </a:avLst>
          </a:prstGeom>
          <a:solidFill>
            <a:srgbClr val="EEF6F5"/>
          </a:solidFill>
          <a:ln w="12700">
            <a:solidFill>
              <a:srgbClr val="CCFBF1"/>
            </a:solidFill>
            <a:prstDash val="solid"/>
          </a:ln>
        </p:spPr>
      </p:sp>
      <p:sp>
        <p:nvSpPr>
          <p:cNvPr id="23" name="Shape 21"/>
          <p:cNvSpPr/>
          <p:nvPr/>
        </p:nvSpPr>
        <p:spPr>
          <a:xfrm>
            <a:off x="8092440" y="1645920"/>
            <a:ext cx="457200" cy="457200"/>
          </a:xfrm>
          <a:prstGeom prst="ellipse">
            <a:avLst/>
          </a:prstGeom>
          <a:solidFill>
            <a:srgbClr val="0B1F4D"/>
          </a:solidFill>
          <a:ln/>
        </p:spPr>
      </p:sp>
      <p:sp>
        <p:nvSpPr>
          <p:cNvPr id="24" name="Text 22"/>
          <p:cNvSpPr/>
          <p:nvPr/>
        </p:nvSpPr>
        <p:spPr>
          <a:xfrm>
            <a:off x="8092440" y="1645920"/>
            <a:ext cx="457200" cy="457200"/>
          </a:xfrm>
          <a:prstGeom prst="rect">
            <a:avLst/>
          </a:prstGeom>
          <a:noFill/>
          <a:ln/>
        </p:spPr>
        <p:txBody>
          <a:bodyPr wrap="square" rtlCol="0" anchor="ctr"/>
          <a:lstStyle/>
          <a:p>
            <a:pPr algn="ctr" indent="0" marL="0">
              <a:buNone/>
            </a:pPr>
            <a:r>
              <a:rPr lang="en-US" sz="1500" b="1" dirty="0">
                <a:solidFill>
                  <a:srgbClr val="FFFFFF"/>
                </a:solidFill>
              </a:rPr>
              <a:t>4</a:t>
            </a:r>
            <a:endParaRPr lang="en-US" sz="1500" dirty="0"/>
          </a:p>
        </p:txBody>
      </p:sp>
      <p:sp>
        <p:nvSpPr>
          <p:cNvPr id="25" name="Text 23"/>
          <p:cNvSpPr/>
          <p:nvPr/>
        </p:nvSpPr>
        <p:spPr>
          <a:xfrm>
            <a:off x="7360920" y="2240280"/>
            <a:ext cx="1965960" cy="320040"/>
          </a:xfrm>
          <a:prstGeom prst="rect">
            <a:avLst/>
          </a:prstGeom>
          <a:noFill/>
          <a:ln/>
        </p:spPr>
        <p:txBody>
          <a:bodyPr wrap="square" rtlCol="0" anchor="ctr"/>
          <a:lstStyle/>
          <a:p>
            <a:pPr rtl="1" algn="ctr" indent="0" marL="0">
              <a:buNone/>
            </a:pPr>
            <a:r>
              <a:rPr lang="en-US" sz="1300" b="1" dirty="0">
                <a:solidFill>
                  <a:srgbClr val="0B1F4D"/>
                </a:solidFill>
                <a:latin typeface="Segoe UI" pitchFamily="34" charset="0"/>
                <a:ea typeface="Segoe UI" pitchFamily="34" charset="-122"/>
                <a:cs typeface="Segoe UI" pitchFamily="34" charset="-120"/>
              </a:rPr>
              <a:t>التنفيذ</a:t>
            </a:r>
            <a:endParaRPr lang="en-US" sz="1300" dirty="0"/>
          </a:p>
        </p:txBody>
      </p:sp>
      <p:sp>
        <p:nvSpPr>
          <p:cNvPr id="26" name="Text 24"/>
          <p:cNvSpPr/>
          <p:nvPr/>
        </p:nvSpPr>
        <p:spPr>
          <a:xfrm>
            <a:off x="7360920" y="2606040"/>
            <a:ext cx="1965960" cy="274320"/>
          </a:xfrm>
          <a:prstGeom prst="rect">
            <a:avLst/>
          </a:prstGeom>
          <a:noFill/>
          <a:ln/>
        </p:spPr>
        <p:txBody>
          <a:bodyPr wrap="square" rtlCol="0" anchor="ctr"/>
          <a:lstStyle/>
          <a:p>
            <a:pPr rtl="1" algn="ctr" indent="0" marL="0">
              <a:buNone/>
            </a:pPr>
            <a:r>
              <a:rPr lang="en-US" sz="1100" dirty="0">
                <a:solidFill>
                  <a:srgbClr val="475569"/>
                </a:solidFill>
                <a:latin typeface="Segoe UI" pitchFamily="34" charset="0"/>
                <a:ea typeface="Segoe UI" pitchFamily="34" charset="-122"/>
                <a:cs typeface="Segoe UI" pitchFamily="34" charset="-120"/>
              </a:rPr>
              <a:t>شحن وتواصل</a:t>
            </a:r>
            <a:endParaRPr lang="en-US" sz="1100" dirty="0"/>
          </a:p>
        </p:txBody>
      </p:sp>
      <p:sp>
        <p:nvSpPr>
          <p:cNvPr id="27" name="Shape 25"/>
          <p:cNvSpPr/>
          <p:nvPr/>
        </p:nvSpPr>
        <p:spPr>
          <a:xfrm>
            <a:off x="9555480" y="1508760"/>
            <a:ext cx="2148840" cy="1508760"/>
          </a:xfrm>
          <a:prstGeom prst="roundRect">
            <a:avLst>
              <a:gd name="adj" fmla="val 6061"/>
            </a:avLst>
          </a:prstGeom>
          <a:solidFill>
            <a:srgbClr val="EEF6F5"/>
          </a:solidFill>
          <a:ln w="12700">
            <a:solidFill>
              <a:srgbClr val="CCFBF1"/>
            </a:solidFill>
            <a:prstDash val="solid"/>
          </a:ln>
        </p:spPr>
      </p:sp>
      <p:sp>
        <p:nvSpPr>
          <p:cNvPr id="28" name="Shape 26"/>
          <p:cNvSpPr/>
          <p:nvPr/>
        </p:nvSpPr>
        <p:spPr>
          <a:xfrm>
            <a:off x="10378440" y="1645920"/>
            <a:ext cx="457200" cy="457200"/>
          </a:xfrm>
          <a:prstGeom prst="ellipse">
            <a:avLst/>
          </a:prstGeom>
          <a:solidFill>
            <a:srgbClr val="0B1F4D"/>
          </a:solidFill>
          <a:ln/>
        </p:spPr>
      </p:sp>
      <p:sp>
        <p:nvSpPr>
          <p:cNvPr id="29" name="Text 27"/>
          <p:cNvSpPr/>
          <p:nvPr/>
        </p:nvSpPr>
        <p:spPr>
          <a:xfrm>
            <a:off x="10378440" y="1645920"/>
            <a:ext cx="457200" cy="457200"/>
          </a:xfrm>
          <a:prstGeom prst="rect">
            <a:avLst/>
          </a:prstGeom>
          <a:noFill/>
          <a:ln/>
        </p:spPr>
        <p:txBody>
          <a:bodyPr wrap="square" rtlCol="0" anchor="ctr"/>
          <a:lstStyle/>
          <a:p>
            <a:pPr algn="ctr" indent="0" marL="0">
              <a:buNone/>
            </a:pPr>
            <a:r>
              <a:rPr lang="en-US" sz="1500" b="1" dirty="0">
                <a:solidFill>
                  <a:srgbClr val="FFFFFF"/>
                </a:solidFill>
              </a:rPr>
              <a:t>5</a:t>
            </a:r>
            <a:endParaRPr lang="en-US" sz="1500" dirty="0"/>
          </a:p>
        </p:txBody>
      </p:sp>
      <p:sp>
        <p:nvSpPr>
          <p:cNvPr id="30" name="Text 28"/>
          <p:cNvSpPr/>
          <p:nvPr/>
        </p:nvSpPr>
        <p:spPr>
          <a:xfrm>
            <a:off x="9646920" y="2240280"/>
            <a:ext cx="1965960" cy="320040"/>
          </a:xfrm>
          <a:prstGeom prst="rect">
            <a:avLst/>
          </a:prstGeom>
          <a:noFill/>
          <a:ln/>
        </p:spPr>
        <p:txBody>
          <a:bodyPr wrap="square" rtlCol="0" anchor="ctr"/>
          <a:lstStyle/>
          <a:p>
            <a:pPr rtl="1" algn="ctr" indent="0" marL="0">
              <a:buNone/>
            </a:pPr>
            <a:r>
              <a:rPr lang="en-US" sz="1300" b="1" dirty="0">
                <a:solidFill>
                  <a:srgbClr val="0B1F4D"/>
                </a:solidFill>
                <a:latin typeface="Segoe UI" pitchFamily="34" charset="0"/>
                <a:ea typeface="Segoe UI" pitchFamily="34" charset="-122"/>
                <a:cs typeface="Segoe UI" pitchFamily="34" charset="-120"/>
              </a:rPr>
              <a:t>الإفراج</a:t>
            </a:r>
            <a:endParaRPr lang="en-US" sz="1300" dirty="0"/>
          </a:p>
        </p:txBody>
      </p:sp>
      <p:sp>
        <p:nvSpPr>
          <p:cNvPr id="31" name="Text 29"/>
          <p:cNvSpPr/>
          <p:nvPr/>
        </p:nvSpPr>
        <p:spPr>
          <a:xfrm>
            <a:off x="9646920" y="2606040"/>
            <a:ext cx="1965960" cy="274320"/>
          </a:xfrm>
          <a:prstGeom prst="rect">
            <a:avLst/>
          </a:prstGeom>
          <a:noFill/>
          <a:ln/>
        </p:spPr>
        <p:txBody>
          <a:bodyPr wrap="square" rtlCol="0" anchor="ctr"/>
          <a:lstStyle/>
          <a:p>
            <a:pPr rtl="1" algn="ctr" indent="0" marL="0">
              <a:buNone/>
            </a:pPr>
            <a:r>
              <a:rPr lang="en-US" sz="1100" dirty="0">
                <a:solidFill>
                  <a:srgbClr val="475569"/>
                </a:solidFill>
                <a:latin typeface="Segoe UI" pitchFamily="34" charset="0"/>
                <a:ea typeface="Segoe UI" pitchFamily="34" charset="-122"/>
                <a:cs typeface="Segoe UI" pitchFamily="34" charset="-120"/>
              </a:rPr>
              <a:t>بعد تأكيد الاستلام</a:t>
            </a:r>
            <a:endParaRPr lang="en-US" sz="1100" dirty="0"/>
          </a:p>
        </p:txBody>
      </p:sp>
      <p:sp>
        <p:nvSpPr>
          <p:cNvPr id="32" name="Shape 30"/>
          <p:cNvSpPr/>
          <p:nvPr/>
        </p:nvSpPr>
        <p:spPr>
          <a:xfrm>
            <a:off x="411480" y="3291840"/>
            <a:ext cx="5486400" cy="2194560"/>
          </a:xfrm>
          <a:prstGeom prst="roundRect">
            <a:avLst>
              <a:gd name="adj" fmla="val 4167"/>
            </a:avLst>
          </a:prstGeom>
          <a:solidFill>
            <a:srgbClr val="FFFFFF"/>
          </a:solidFill>
          <a:ln w="12700">
            <a:solidFill>
              <a:srgbClr val="D6D3D1"/>
            </a:solidFill>
            <a:prstDash val="solid"/>
          </a:ln>
        </p:spPr>
      </p:sp>
      <p:sp>
        <p:nvSpPr>
          <p:cNvPr id="33" name="Text 31"/>
          <p:cNvSpPr/>
          <p:nvPr/>
        </p:nvSpPr>
        <p:spPr>
          <a:xfrm>
            <a:off x="594360" y="3429000"/>
            <a:ext cx="5120640" cy="320040"/>
          </a:xfrm>
          <a:prstGeom prst="rect">
            <a:avLst/>
          </a:prstGeom>
          <a:noFill/>
          <a:ln/>
        </p:spPr>
        <p:txBody>
          <a:bodyPr wrap="square" rtlCol="0" anchor="ctr"/>
          <a:lstStyle/>
          <a:p>
            <a:pPr rtl="1" algn="r" indent="0" marL="0">
              <a:buNone/>
            </a:pPr>
            <a:r>
              <a:rPr lang="en-US" sz="1400" b="1" dirty="0">
                <a:solidFill>
                  <a:srgbClr val="0F766E"/>
                </a:solidFill>
                <a:latin typeface="Segoe UI" pitchFamily="34" charset="0"/>
                <a:ea typeface="Segoe UI" pitchFamily="34" charset="-122"/>
                <a:cs typeface="Segoe UI" pitchFamily="34" charset="-120"/>
              </a:rPr>
              <a:t>حالات الدفع</a:t>
            </a:r>
            <a:endParaRPr lang="en-US" sz="1400" dirty="0"/>
          </a:p>
        </p:txBody>
      </p:sp>
      <p:sp>
        <p:nvSpPr>
          <p:cNvPr id="34" name="Text 32"/>
          <p:cNvSpPr/>
          <p:nvPr/>
        </p:nvSpPr>
        <p:spPr>
          <a:xfrm>
            <a:off x="594360" y="3886200"/>
            <a:ext cx="5120640" cy="1371600"/>
          </a:xfrm>
          <a:prstGeom prst="rect">
            <a:avLst/>
          </a:prstGeom>
          <a:noFill/>
          <a:ln/>
        </p:spPr>
        <p:txBody>
          <a:bodyPr wrap="square" rtlCol="0" anchor="ctr"/>
          <a:lstStyle/>
          <a:p>
            <a:pPr rtl="1" algn="r" indent="0" marL="0">
              <a:buNone/>
            </a:pPr>
            <a:r>
              <a:rPr lang="en-US" sz="1300" dirty="0">
                <a:solidFill>
                  <a:srgbClr val="0F172A"/>
                </a:solidFill>
                <a:latin typeface="Segoe UI" pitchFamily="34" charset="0"/>
                <a:ea typeface="Segoe UI" pitchFamily="34" charset="-122"/>
                <a:cs typeface="Segoe UI" pitchFamily="34" charset="-120"/>
              </a:rPr>
              <a:t>pending_payment → paid_held → released / refunded</a:t>
            </a:r>
            <a:endParaRPr lang="en-US" sz="1300" dirty="0"/>
          </a:p>
          <a:p>
            <a:pPr rtl="1" algn="r" indent="0" marL="0">
              <a:buNone/>
            </a:pPr>
            <a:r>
              <a:rPr lang="en-US" sz="1300" dirty="0">
                <a:solidFill>
                  <a:srgbClr val="0F172A"/>
                </a:solidFill>
                <a:latin typeface="Segoe UI" pitchFamily="34" charset="0"/>
                <a:ea typeface="Segoe UI" pitchFamily="34" charset="-122"/>
                <a:cs typeface="Segoe UI" pitchFamily="34" charset="-120"/>
              </a:rPr>
              <a:t>قواعد الخادم تربط البائع بمالك المنتج وتثبت السعر والحالة الابتدائية.</a:t>
            </a:r>
            <a:endParaRPr lang="en-US" sz="1300" dirty="0"/>
          </a:p>
        </p:txBody>
      </p:sp>
      <p:sp>
        <p:nvSpPr>
          <p:cNvPr id="35" name="Shape 33"/>
          <p:cNvSpPr/>
          <p:nvPr/>
        </p:nvSpPr>
        <p:spPr>
          <a:xfrm>
            <a:off x="6126480" y="3291840"/>
            <a:ext cx="5623560" cy="2194560"/>
          </a:xfrm>
          <a:prstGeom prst="roundRect">
            <a:avLst>
              <a:gd name="adj" fmla="val 4167"/>
            </a:avLst>
          </a:prstGeom>
          <a:solidFill>
            <a:srgbClr val="FFFBEB"/>
          </a:solidFill>
          <a:ln w="12700">
            <a:solidFill>
              <a:srgbClr val="B45309"/>
            </a:solidFill>
            <a:prstDash val="solid"/>
          </a:ln>
        </p:spPr>
      </p:sp>
      <p:sp>
        <p:nvSpPr>
          <p:cNvPr id="36" name="Text 34"/>
          <p:cNvSpPr/>
          <p:nvPr/>
        </p:nvSpPr>
        <p:spPr>
          <a:xfrm>
            <a:off x="6309360" y="3429000"/>
            <a:ext cx="5257800" cy="320040"/>
          </a:xfrm>
          <a:prstGeom prst="rect">
            <a:avLst/>
          </a:prstGeom>
          <a:noFill/>
          <a:ln/>
        </p:spPr>
        <p:txBody>
          <a:bodyPr wrap="square" rtlCol="0" anchor="ctr"/>
          <a:lstStyle/>
          <a:p>
            <a:pPr rtl="1" algn="r" indent="0" marL="0">
              <a:buNone/>
            </a:pPr>
            <a:r>
              <a:rPr lang="en-US" sz="1400" b="1" dirty="0">
                <a:solidFill>
                  <a:srgbClr val="B45309"/>
                </a:solidFill>
                <a:latin typeface="Segoe UI" pitchFamily="34" charset="0"/>
                <a:ea typeface="Segoe UI" pitchFamily="34" charset="-122"/>
                <a:cs typeface="Segoe UI" pitchFamily="34" charset="-120"/>
              </a:rPr>
              <a:t>رسالة تطمئن المورد</a:t>
            </a:r>
            <a:endParaRPr lang="en-US" sz="1400" dirty="0"/>
          </a:p>
        </p:txBody>
      </p:sp>
      <p:sp>
        <p:nvSpPr>
          <p:cNvPr id="37" name="Text 35"/>
          <p:cNvSpPr/>
          <p:nvPr/>
        </p:nvSpPr>
        <p:spPr>
          <a:xfrm>
            <a:off x="6309360" y="3886200"/>
            <a:ext cx="5257800" cy="1371600"/>
          </a:xfrm>
          <a:prstGeom prst="rect">
            <a:avLst/>
          </a:prstGeom>
          <a:noFill/>
          <a:ln/>
        </p:spPr>
        <p:txBody>
          <a:bodyPr wrap="square" rtlCol="0" anchor="ctr"/>
          <a:lstStyle/>
          <a:p>
            <a:pPr rtl="1" algn="r" indent="0" marL="0">
              <a:buNone/>
            </a:pPr>
            <a:r>
              <a:rPr lang="en-US" sz="1300" dirty="0">
                <a:solidFill>
                  <a:srgbClr val="0F172A"/>
                </a:solidFill>
                <a:latin typeface="Segoe UI" pitchFamily="34" charset="0"/>
                <a:ea typeface="Segoe UI" pitchFamily="34" charset="-122"/>
                <a:cs typeface="Segoe UI" pitchFamily="34" charset="-120"/>
              </a:rPr>
              <a:t>لا تلاعب بالسعر من شاشة العميل. الإفراج مربوط بتأكيد الاستلام. العربة تدعم عدة موردين بطلبات منفصلة.</a:t>
            </a:r>
            <a:endParaRPr lang="en-US" sz="1300" dirty="0"/>
          </a:p>
        </p:txBody>
      </p:sp>
      <p:sp>
        <p:nvSpPr>
          <p:cNvPr id="38" name="Shape 36"/>
          <p:cNvSpPr/>
          <p:nvPr/>
        </p:nvSpPr>
        <p:spPr>
          <a:xfrm>
            <a:off x="0" y="6510528"/>
            <a:ext cx="12191695" cy="347472"/>
          </a:xfrm>
          <a:prstGeom prst="rect">
            <a:avLst/>
          </a:prstGeom>
          <a:solidFill>
            <a:srgbClr val="F8F5F0"/>
          </a:solidFill>
          <a:ln/>
        </p:spPr>
      </p:sp>
      <p:sp>
        <p:nvSpPr>
          <p:cNvPr id="39" name="Text 37"/>
          <p:cNvSpPr/>
          <p:nvPr/>
        </p:nvSpPr>
        <p:spPr>
          <a:xfrm>
            <a:off x="411480" y="6547104"/>
            <a:ext cx="8229600" cy="256032"/>
          </a:xfrm>
          <a:prstGeom prst="rect">
            <a:avLst/>
          </a:prstGeom>
          <a:noFill/>
          <a:ln/>
        </p:spPr>
        <p:txBody>
          <a:bodyPr wrap="square" rtlCol="0" anchor="ctr"/>
          <a:lstStyle/>
          <a:p>
            <a:pPr rtl="1" algn="r" indent="0" marL="0">
              <a:buNone/>
            </a:pPr>
            <a:r>
              <a:rPr lang="en-US" sz="1000" dirty="0">
                <a:solidFill>
                  <a:srgbClr val="475569"/>
                </a:solidFill>
                <a:latin typeface="Segoe UI" pitchFamily="34" charset="0"/>
                <a:ea typeface="Segoe UI" pitchFamily="34" charset="-122"/>
                <a:cs typeface="Segoe UI" pitchFamily="34" charset="-120"/>
              </a:rPr>
              <a:t>AcadeGate · عرض شراكة الموردين · محدّث ١٩ سبتمبر ٢٠٢٦</a:t>
            </a:r>
            <a:endParaRPr lang="en-US" sz="1000" dirty="0"/>
          </a:p>
        </p:txBody>
      </p:sp>
      <p:sp>
        <p:nvSpPr>
          <p:cNvPr id="40" name="Text 38"/>
          <p:cNvSpPr/>
          <p:nvPr/>
        </p:nvSpPr>
        <p:spPr>
          <a:xfrm>
            <a:off x="10682935" y="6547104"/>
            <a:ext cx="1097280" cy="256032"/>
          </a:xfrm>
          <a:prstGeom prst="rect">
            <a:avLst/>
          </a:prstGeom>
          <a:noFill/>
          <a:ln/>
        </p:spPr>
        <p:txBody>
          <a:bodyPr wrap="square" rtlCol="0" anchor="ctr"/>
          <a:lstStyle/>
          <a:p>
            <a:pPr algn="l" indent="0" marL="0">
              <a:buNone/>
            </a:pPr>
            <a:r>
              <a:rPr lang="en-US" sz="1000" dirty="0">
                <a:solidFill>
                  <a:srgbClr val="475569"/>
                </a:solidFill>
                <a:latin typeface="Segoe UI" pitchFamily="34" charset="0"/>
                <a:ea typeface="Segoe UI" pitchFamily="34" charset="-122"/>
                <a:cs typeface="Segoe UI" pitchFamily="34" charset="-120"/>
              </a:rPr>
              <a:t>9 / 16</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sp>
      <p:sp>
        <p:nvSpPr>
          <p:cNvPr id="3" name="Shape 1"/>
          <p:cNvSpPr/>
          <p:nvPr/>
        </p:nvSpPr>
        <p:spPr>
          <a:xfrm>
            <a:off x="411480" y="256032"/>
            <a:ext cx="109728" cy="502920"/>
          </a:xfrm>
          <a:prstGeom prst="rect">
            <a:avLst/>
          </a:prstGeom>
          <a:solidFill>
            <a:srgbClr val="0F766E"/>
          </a:solidFill>
          <a:ln/>
        </p:spPr>
      </p:sp>
      <p:sp>
        <p:nvSpPr>
          <p:cNvPr id="4" name="Text 2"/>
          <p:cNvSpPr/>
          <p:nvPr/>
        </p:nvSpPr>
        <p:spPr>
          <a:xfrm>
            <a:off x="612648" y="201168"/>
            <a:ext cx="11167567" cy="566928"/>
          </a:xfrm>
          <a:prstGeom prst="rect">
            <a:avLst/>
          </a:prstGeom>
          <a:noFill/>
          <a:ln/>
        </p:spPr>
        <p:txBody>
          <a:bodyPr wrap="square" rtlCol="0" anchor="ctr"/>
          <a:lstStyle/>
          <a:p>
            <a:pPr rtl="1" algn="r" indent="0" marL="0">
              <a:buNone/>
            </a:pPr>
            <a:r>
              <a:rPr lang="en-US" sz="2400" b="1" dirty="0">
                <a:solidFill>
                  <a:srgbClr val="0B1F4D"/>
                </a:solidFill>
                <a:latin typeface="Segoe UI" pitchFamily="34" charset="0"/>
                <a:ea typeface="Segoe UI" pitchFamily="34" charset="-122"/>
                <a:cs typeface="Segoe UI" pitchFamily="34" charset="-120"/>
              </a:rPr>
              <a:t>٧ — آلية الشراكة: المورد ↔ AcadeGate</a:t>
            </a:r>
            <a:endParaRPr lang="en-US" sz="2400" dirty="0"/>
          </a:p>
        </p:txBody>
      </p:sp>
      <p:sp>
        <p:nvSpPr>
          <p:cNvPr id="5" name="Shape 3"/>
          <p:cNvSpPr/>
          <p:nvPr/>
        </p:nvSpPr>
        <p:spPr>
          <a:xfrm>
            <a:off x="411480" y="822960"/>
            <a:ext cx="11368735" cy="32004"/>
          </a:xfrm>
          <a:prstGeom prst="rect">
            <a:avLst/>
          </a:prstGeom>
          <a:solidFill>
            <a:srgbClr val="0F766E"/>
          </a:solidFill>
          <a:ln/>
        </p:spPr>
      </p:sp>
      <p:sp>
        <p:nvSpPr>
          <p:cNvPr id="6" name="Text 4"/>
          <p:cNvSpPr/>
          <p:nvPr/>
        </p:nvSpPr>
        <p:spPr>
          <a:xfrm>
            <a:off x="411480" y="960120"/>
            <a:ext cx="11368735" cy="457200"/>
          </a:xfrm>
          <a:prstGeom prst="rect">
            <a:avLst/>
          </a:prstGeom>
          <a:noFill/>
          <a:ln/>
        </p:spPr>
        <p:txBody>
          <a:bodyPr wrap="square" rtlCol="0" anchor="ctr"/>
          <a:lstStyle/>
          <a:p>
            <a:pPr rtl="1" algn="r" indent="0" marL="0">
              <a:buNone/>
            </a:pPr>
            <a:r>
              <a:rPr lang="en-US" sz="1300" dirty="0">
                <a:solidFill>
                  <a:srgbClr val="475569"/>
                </a:solidFill>
                <a:latin typeface="Segoe UI" pitchFamily="34" charset="0"/>
                <a:ea typeface="Segoe UI" pitchFamily="34" charset="-122"/>
                <a:cs typeface="Segoe UI" pitchFamily="34" charset="-120"/>
              </a:rPr>
              <a:t>أنت تملك المنتج والسعر والتنفيذ — نحن نملك القناة والجمهور والثقة الرقمية.</a:t>
            </a:r>
            <a:endParaRPr lang="en-US" sz="1300" dirty="0"/>
          </a:p>
        </p:txBody>
      </p:sp>
      <p:sp>
        <p:nvSpPr>
          <p:cNvPr id="7" name="Shape 5"/>
          <p:cNvSpPr/>
          <p:nvPr/>
        </p:nvSpPr>
        <p:spPr>
          <a:xfrm>
            <a:off x="411480" y="1508760"/>
            <a:ext cx="5532120" cy="4206240"/>
          </a:xfrm>
          <a:prstGeom prst="roundRect">
            <a:avLst>
              <a:gd name="adj" fmla="val 2174"/>
            </a:avLst>
          </a:prstGeom>
          <a:solidFill>
            <a:srgbClr val="EEF6F5"/>
          </a:solidFill>
          <a:ln w="12700">
            <a:solidFill>
              <a:srgbClr val="CCFBF1"/>
            </a:solidFill>
            <a:prstDash val="solid"/>
          </a:ln>
        </p:spPr>
      </p:sp>
      <p:sp>
        <p:nvSpPr>
          <p:cNvPr id="8" name="Text 6"/>
          <p:cNvSpPr/>
          <p:nvPr/>
        </p:nvSpPr>
        <p:spPr>
          <a:xfrm>
            <a:off x="640080" y="1645920"/>
            <a:ext cx="5074920" cy="365760"/>
          </a:xfrm>
          <a:prstGeom prst="rect">
            <a:avLst/>
          </a:prstGeom>
          <a:noFill/>
          <a:ln/>
        </p:spPr>
        <p:txBody>
          <a:bodyPr wrap="square" rtlCol="0" anchor="ctr"/>
          <a:lstStyle/>
          <a:p>
            <a:pPr rtl="1" algn="r" indent="0" marL="0">
              <a:buNone/>
            </a:pPr>
            <a:r>
              <a:rPr lang="en-US" sz="1600" b="1" dirty="0">
                <a:solidFill>
                  <a:srgbClr val="0B1F4D"/>
                </a:solidFill>
                <a:latin typeface="Segoe UI" pitchFamily="34" charset="0"/>
                <a:ea typeface="Segoe UI" pitchFamily="34" charset="-122"/>
                <a:cs typeface="Segoe UI" pitchFamily="34" charset="-120"/>
              </a:rPr>
              <a:t>ماذا نقدّم نحن</a:t>
            </a:r>
            <a:endParaRPr lang="en-US" sz="1600" dirty="0"/>
          </a:p>
        </p:txBody>
      </p:sp>
      <p:sp>
        <p:nvSpPr>
          <p:cNvPr id="9" name="Text 7"/>
          <p:cNvSpPr/>
          <p:nvPr/>
        </p:nvSpPr>
        <p:spPr>
          <a:xfrm>
            <a:off x="640080" y="2148840"/>
            <a:ext cx="5074920" cy="3291840"/>
          </a:xfrm>
          <a:prstGeom prst="rect">
            <a:avLst/>
          </a:prstGeom>
          <a:noFill/>
          <a:ln/>
        </p:spPr>
        <p:txBody>
          <a:bodyPr wrap="square" rtlCol="0" anchor="ctr"/>
          <a:lstStyle/>
          <a:p>
            <a:pPr algn="r" indent="0" marL="0">
              <a:buNone/>
            </a:pPr>
            <a:r>
              <a:rPr lang="en-US" sz="1300" dirty="0">
                <a:solidFill>
                  <a:srgbClr val="0F172A"/>
                </a:solidFill>
                <a:latin typeface="Segoe UI" pitchFamily="34" charset="0"/>
                <a:ea typeface="Segoe UI" pitchFamily="34" charset="-122"/>
                <a:cs typeface="Segoe UI" pitchFamily="34" charset="-120"/>
              </a:rPr>
              <a:t>قناة وصول لطلاب الدراسات العليا والباحثين</a:t>
            </a:r>
            <a:endParaRPr lang="en-US" sz="1300" dirty="0"/>
          </a:p>
          <a:p>
            <a:pPr algn="r" indent="0" marL="0">
              <a:buNone/>
            </a:pPr>
            <a:r>
              <a:rPr lang="en-US" sz="1300" dirty="0">
                <a:solidFill>
                  <a:srgbClr val="0F172A"/>
                </a:solidFill>
                <a:latin typeface="Segoe UI" pitchFamily="34" charset="0"/>
                <a:ea typeface="Segoe UI" pitchFamily="34" charset="-122"/>
                <a:cs typeface="Segoe UI" pitchFamily="34" charset="-120"/>
              </a:rPr>
              <a:t>١٥ قسماً + Hub + بحث وفلاتر</a:t>
            </a:r>
            <a:endParaRPr lang="en-US" sz="1300" dirty="0"/>
          </a:p>
          <a:p>
            <a:pPr algn="r" indent="0" marL="0">
              <a:buNone/>
            </a:pPr>
            <a:r>
              <a:rPr lang="en-US" sz="1300" dirty="0">
                <a:solidFill>
                  <a:srgbClr val="0F172A"/>
                </a:solidFill>
                <a:latin typeface="Segoe UI" pitchFamily="34" charset="0"/>
                <a:ea typeface="Segoe UI" pitchFamily="34" charset="-122"/>
                <a:cs typeface="Segoe UI" pitchFamily="34" charset="-120"/>
              </a:rPr>
              <a:t>بوابة مورد: منتجات · طلبات · RFQ · رسائل</a:t>
            </a:r>
            <a:endParaRPr lang="en-US" sz="1300" dirty="0"/>
          </a:p>
          <a:p>
            <a:pPr algn="r" indent="0" marL="0">
              <a:buNone/>
            </a:pPr>
            <a:r>
              <a:rPr lang="en-US" sz="1300" dirty="0">
                <a:solidFill>
                  <a:srgbClr val="0F172A"/>
                </a:solidFill>
                <a:latin typeface="Segoe UI" pitchFamily="34" charset="0"/>
                <a:ea typeface="Segoe UI" pitchFamily="34" charset="-122"/>
                <a:cs typeface="Segoe UI" pitchFamily="34" charset="-120"/>
              </a:rPr>
              <a:t>Escrow + عربة متعددة الموردين</a:t>
            </a:r>
            <a:endParaRPr lang="en-US" sz="1300" dirty="0"/>
          </a:p>
          <a:p>
            <a:pPr algn="r" indent="0" marL="0">
              <a:buNone/>
            </a:pPr>
            <a:r>
              <a:rPr lang="en-US" sz="1300" dirty="0">
                <a:solidFill>
                  <a:srgbClr val="0F172A"/>
                </a:solidFill>
                <a:latin typeface="Segoe UI" pitchFamily="34" charset="0"/>
                <a:ea typeface="Segoe UI" pitchFamily="34" charset="-122"/>
                <a:cs typeface="Segoe UI" pitchFamily="34" charset="-120"/>
              </a:rPr>
              <a:t>متجر مورد عام + شارات ثقة</a:t>
            </a:r>
            <a:endParaRPr lang="en-US" sz="1300" dirty="0"/>
          </a:p>
          <a:p>
            <a:pPr algn="r" indent="0" marL="0">
              <a:buNone/>
            </a:pPr>
            <a:r>
              <a:rPr lang="en-US" sz="1300" dirty="0">
                <a:solidFill>
                  <a:srgbClr val="0F172A"/>
                </a:solidFill>
                <a:latin typeface="Segoe UI" pitchFamily="34" charset="0"/>
                <a:ea typeface="Segoe UI" pitchFamily="34" charset="-122"/>
                <a:cs typeface="Segoe UI" pitchFamily="34" charset="-120"/>
              </a:rPr>
              <a:t>مراجعة محتوى قبل النشر</a:t>
            </a:r>
            <a:endParaRPr lang="en-US" sz="1300" dirty="0"/>
          </a:p>
          <a:p>
            <a:pPr algn="r" indent="0" marL="0">
              <a:buNone/>
            </a:pPr>
            <a:r>
              <a:rPr lang="en-US" sz="1300" dirty="0">
                <a:solidFill>
                  <a:srgbClr val="0F172A"/>
                </a:solidFill>
                <a:latin typeface="Segoe UI" pitchFamily="34" charset="0"/>
                <a:ea typeface="Segoe UI" pitchFamily="34" charset="-122"/>
                <a:cs typeface="Segoe UI" pitchFamily="34" charset="-120"/>
              </a:rPr>
              <a:t>ظهور ضمن مسار البحث الذكي</a:t>
            </a:r>
            <a:endParaRPr lang="en-US" sz="1300" dirty="0"/>
          </a:p>
          <a:p>
            <a:pPr algn="r" indent="0" marL="0">
              <a:buNone/>
            </a:pPr>
            <a:r>
              <a:rPr lang="en-US" sz="1300" dirty="0">
                <a:solidFill>
                  <a:srgbClr val="0F172A"/>
                </a:solidFill>
                <a:latin typeface="Segoe UI" pitchFamily="34" charset="0"/>
                <a:ea typeface="Segoe UI" pitchFamily="34" charset="-122"/>
                <a:cs typeface="Segoe UI" pitchFamily="34" charset="-120"/>
              </a:rPr>
              <a:t>استيراد كتالوج (حسب الاتفاق)</a:t>
            </a:r>
            <a:endParaRPr lang="en-US" sz="1300" dirty="0"/>
          </a:p>
        </p:txBody>
      </p:sp>
      <p:sp>
        <p:nvSpPr>
          <p:cNvPr id="10" name="Shape 8"/>
          <p:cNvSpPr/>
          <p:nvPr/>
        </p:nvSpPr>
        <p:spPr>
          <a:xfrm>
            <a:off x="6172200" y="1508760"/>
            <a:ext cx="5577840" cy="4206240"/>
          </a:xfrm>
          <a:prstGeom prst="roundRect">
            <a:avLst>
              <a:gd name="adj" fmla="val 2174"/>
            </a:avLst>
          </a:prstGeom>
          <a:solidFill>
            <a:srgbClr val="FFFFFF"/>
          </a:solidFill>
          <a:ln w="12700">
            <a:solidFill>
              <a:srgbClr val="D6D3D1"/>
            </a:solidFill>
            <a:prstDash val="solid"/>
          </a:ln>
        </p:spPr>
      </p:sp>
      <p:sp>
        <p:nvSpPr>
          <p:cNvPr id="11" name="Text 9"/>
          <p:cNvSpPr/>
          <p:nvPr/>
        </p:nvSpPr>
        <p:spPr>
          <a:xfrm>
            <a:off x="6400800" y="1645920"/>
            <a:ext cx="5120640" cy="365760"/>
          </a:xfrm>
          <a:prstGeom prst="rect">
            <a:avLst/>
          </a:prstGeom>
          <a:noFill/>
          <a:ln/>
        </p:spPr>
        <p:txBody>
          <a:bodyPr wrap="square" rtlCol="0" anchor="ctr"/>
          <a:lstStyle/>
          <a:p>
            <a:pPr rtl="1" algn="r" indent="0" marL="0">
              <a:buNone/>
            </a:pPr>
            <a:r>
              <a:rPr lang="en-US" sz="1600" b="1" dirty="0">
                <a:solidFill>
                  <a:srgbClr val="0F766E"/>
                </a:solidFill>
                <a:latin typeface="Segoe UI" pitchFamily="34" charset="0"/>
                <a:ea typeface="Segoe UI" pitchFamily="34" charset="-122"/>
                <a:cs typeface="Segoe UI" pitchFamily="34" charset="-120"/>
              </a:rPr>
              <a:t>ماذا تقدّم أنت</a:t>
            </a:r>
            <a:endParaRPr lang="en-US" sz="1600" dirty="0"/>
          </a:p>
        </p:txBody>
      </p:sp>
      <p:sp>
        <p:nvSpPr>
          <p:cNvPr id="12" name="Text 10"/>
          <p:cNvSpPr/>
          <p:nvPr/>
        </p:nvSpPr>
        <p:spPr>
          <a:xfrm>
            <a:off x="6400800" y="2148840"/>
            <a:ext cx="5120640" cy="3291840"/>
          </a:xfrm>
          <a:prstGeom prst="rect">
            <a:avLst/>
          </a:prstGeom>
          <a:noFill/>
          <a:ln/>
        </p:spPr>
        <p:txBody>
          <a:bodyPr wrap="square" rtlCol="0" anchor="ctr"/>
          <a:lstStyle/>
          <a:p>
            <a:pPr algn="r" indent="0" marL="0">
              <a:buNone/>
            </a:pPr>
            <a:r>
              <a:rPr lang="en-US" sz="1300" dirty="0">
                <a:solidFill>
                  <a:srgbClr val="0F172A"/>
                </a:solidFill>
                <a:latin typeface="Segoe UI" pitchFamily="34" charset="0"/>
                <a:ea typeface="Segoe UI" pitchFamily="34" charset="-122"/>
                <a:cs typeface="Segoe UI" pitchFamily="34" charset="-120"/>
              </a:rPr>
              <a:t>منتجات حقيقية بأسعار وصور صادقة</a:t>
            </a:r>
            <a:endParaRPr lang="en-US" sz="1300" dirty="0"/>
          </a:p>
          <a:p>
            <a:pPr algn="r" indent="0" marL="0">
              <a:buNone/>
            </a:pPr>
            <a:r>
              <a:rPr lang="en-US" sz="1300" dirty="0">
                <a:solidFill>
                  <a:srgbClr val="0F172A"/>
                </a:solidFill>
                <a:latin typeface="Segoe UI" pitchFamily="34" charset="0"/>
                <a:ea typeface="Segoe UI" pitchFamily="34" charset="-122"/>
                <a:cs typeface="Segoe UI" pitchFamily="34" charset="-120"/>
              </a:rPr>
              <a:t>تحديث التوفر والرد خلال وقت متفق عليه</a:t>
            </a:r>
            <a:endParaRPr lang="en-US" sz="1300" dirty="0"/>
          </a:p>
          <a:p>
            <a:pPr algn="r" indent="0" marL="0">
              <a:buNone/>
            </a:pPr>
            <a:r>
              <a:rPr lang="en-US" sz="1300" dirty="0">
                <a:solidFill>
                  <a:srgbClr val="0F172A"/>
                </a:solidFill>
                <a:latin typeface="Segoe UI" pitchFamily="34" charset="0"/>
                <a:ea typeface="Segoe UI" pitchFamily="34" charset="-122"/>
                <a:cs typeface="Segoe UI" pitchFamily="34" charset="-120"/>
              </a:rPr>
              <a:t>تنفيذ الشحن/التسليم كما تعرضه</a:t>
            </a:r>
            <a:endParaRPr lang="en-US" sz="1300" dirty="0"/>
          </a:p>
          <a:p>
            <a:pPr algn="r" indent="0" marL="0">
              <a:buNone/>
            </a:pPr>
            <a:r>
              <a:rPr lang="en-US" sz="1300" dirty="0">
                <a:solidFill>
                  <a:srgbClr val="0F172A"/>
                </a:solidFill>
                <a:latin typeface="Segoe UI" pitchFamily="34" charset="0"/>
                <a:ea typeface="Segoe UI" pitchFamily="34" charset="-122"/>
                <a:cs typeface="Segoe UI" pitchFamily="34" charset="-120"/>
              </a:rPr>
              <a:t>التعامل المهني مع التحويلات اليدوية</a:t>
            </a:r>
            <a:endParaRPr lang="en-US" sz="1300" dirty="0"/>
          </a:p>
          <a:p>
            <a:pPr algn="r" indent="0" marL="0">
              <a:buNone/>
            </a:pPr>
            <a:r>
              <a:rPr lang="en-US" sz="1300" dirty="0">
                <a:solidFill>
                  <a:srgbClr val="0F172A"/>
                </a:solidFill>
                <a:latin typeface="Segoe UI" pitchFamily="34" charset="0"/>
                <a:ea typeface="Segoe UI" pitchFamily="34" charset="-122"/>
                <a:cs typeface="Segoe UI" pitchFamily="34" charset="-120"/>
              </a:rPr>
              <a:t>الرد على RFQ والأسئلة على المنتج</a:t>
            </a:r>
            <a:endParaRPr lang="en-US" sz="1300" dirty="0"/>
          </a:p>
          <a:p>
            <a:pPr algn="r" indent="0" marL="0">
              <a:buNone/>
            </a:pPr>
            <a:r>
              <a:rPr lang="en-US" sz="1300" dirty="0">
                <a:solidFill>
                  <a:srgbClr val="0F172A"/>
                </a:solidFill>
                <a:latin typeface="Segoe UI" pitchFamily="34" charset="0"/>
                <a:ea typeface="Segoe UI" pitchFamily="34" charset="-122"/>
                <a:cs typeface="Segoe UI" pitchFamily="34" charset="-120"/>
              </a:rPr>
              <a:t>الالتزام بسياسات المحتوى</a:t>
            </a:r>
            <a:endParaRPr lang="en-US" sz="1300" dirty="0"/>
          </a:p>
          <a:p>
            <a:pPr algn="r" indent="0" marL="0">
              <a:buNone/>
            </a:pPr>
            <a:endParaRPr lang="en-US" sz="1300" dirty="0"/>
          </a:p>
          <a:p>
            <a:pPr algn="r" indent="0" marL="0">
              <a:buNone/>
            </a:pPr>
            <a:r>
              <a:rPr lang="en-US" sz="1300" dirty="0">
                <a:solidFill>
                  <a:srgbClr val="0F172A"/>
                </a:solidFill>
                <a:latin typeface="Segoe UI" pitchFamily="34" charset="0"/>
                <a:ea typeface="Segoe UI" pitchFamily="34" charset="-122"/>
                <a:cs typeface="Segoe UI" pitchFamily="34" charset="-120"/>
              </a:rPr>
              <a:t>التسعير: أنت تسعّر بالكامل</a:t>
            </a:r>
            <a:endParaRPr lang="en-US" sz="1300" dirty="0"/>
          </a:p>
          <a:p>
            <a:pPr algn="r" indent="0" marL="0">
              <a:buNone/>
            </a:pPr>
            <a:r>
              <a:rPr lang="en-US" sz="1300" dirty="0">
                <a:solidFill>
                  <a:srgbClr val="0F172A"/>
                </a:solidFill>
                <a:latin typeface="Segoe UI" pitchFamily="34" charset="0"/>
                <a:ea typeface="Segoe UI" pitchFamily="34" charset="-122"/>
                <a:cs typeface="Segoe UI" pitchFamily="34" charset="-120"/>
              </a:rPr>
              <a:t>الدور: تاجر (merchant)</a:t>
            </a:r>
            <a:endParaRPr lang="en-US" sz="1300" dirty="0"/>
          </a:p>
        </p:txBody>
      </p:sp>
      <p:sp>
        <p:nvSpPr>
          <p:cNvPr id="13" name="Shape 11"/>
          <p:cNvSpPr/>
          <p:nvPr/>
        </p:nvSpPr>
        <p:spPr>
          <a:xfrm>
            <a:off x="0" y="6510528"/>
            <a:ext cx="12191695" cy="347472"/>
          </a:xfrm>
          <a:prstGeom prst="rect">
            <a:avLst/>
          </a:prstGeom>
          <a:solidFill>
            <a:srgbClr val="F8F5F0"/>
          </a:solidFill>
          <a:ln/>
        </p:spPr>
      </p:sp>
      <p:sp>
        <p:nvSpPr>
          <p:cNvPr id="14" name="Text 12"/>
          <p:cNvSpPr/>
          <p:nvPr/>
        </p:nvSpPr>
        <p:spPr>
          <a:xfrm>
            <a:off x="411480" y="6547104"/>
            <a:ext cx="8229600" cy="256032"/>
          </a:xfrm>
          <a:prstGeom prst="rect">
            <a:avLst/>
          </a:prstGeom>
          <a:noFill/>
          <a:ln/>
        </p:spPr>
        <p:txBody>
          <a:bodyPr wrap="square" rtlCol="0" anchor="ctr"/>
          <a:lstStyle/>
          <a:p>
            <a:pPr rtl="1" algn="r" indent="0" marL="0">
              <a:buNone/>
            </a:pPr>
            <a:r>
              <a:rPr lang="en-US" sz="1000" dirty="0">
                <a:solidFill>
                  <a:srgbClr val="475569"/>
                </a:solidFill>
                <a:latin typeface="Segoe UI" pitchFamily="34" charset="0"/>
                <a:ea typeface="Segoe UI" pitchFamily="34" charset="-122"/>
                <a:cs typeface="Segoe UI" pitchFamily="34" charset="-120"/>
              </a:rPr>
              <a:t>AcadeGate · عرض شراكة الموردين · محدّث ١٩ سبتمبر ٢٠٢٦</a:t>
            </a:r>
            <a:endParaRPr lang="en-US" sz="1000" dirty="0"/>
          </a:p>
        </p:txBody>
      </p:sp>
      <p:sp>
        <p:nvSpPr>
          <p:cNvPr id="15" name="Text 13"/>
          <p:cNvSpPr/>
          <p:nvPr/>
        </p:nvSpPr>
        <p:spPr>
          <a:xfrm>
            <a:off x="10682935" y="6547104"/>
            <a:ext cx="1097280" cy="256032"/>
          </a:xfrm>
          <a:prstGeom prst="rect">
            <a:avLst/>
          </a:prstGeom>
          <a:noFill/>
          <a:ln/>
        </p:spPr>
        <p:txBody>
          <a:bodyPr wrap="square" rtlCol="0" anchor="ctr"/>
          <a:lstStyle/>
          <a:p>
            <a:pPr algn="l" indent="0" marL="0">
              <a:buNone/>
            </a:pPr>
            <a:r>
              <a:rPr lang="en-US" sz="1000" dirty="0">
                <a:solidFill>
                  <a:srgbClr val="475569"/>
                </a:solidFill>
                <a:latin typeface="Segoe UI" pitchFamily="34" charset="0"/>
                <a:ea typeface="Segoe UI" pitchFamily="34" charset="-122"/>
                <a:cs typeface="Segoe UI" pitchFamily="34" charset="-120"/>
              </a:rPr>
              <a:t>10 / 16</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sp>
      <p:sp>
        <p:nvSpPr>
          <p:cNvPr id="3" name="Shape 1"/>
          <p:cNvSpPr/>
          <p:nvPr/>
        </p:nvSpPr>
        <p:spPr>
          <a:xfrm>
            <a:off x="411480" y="256032"/>
            <a:ext cx="109728" cy="502920"/>
          </a:xfrm>
          <a:prstGeom prst="rect">
            <a:avLst/>
          </a:prstGeom>
          <a:solidFill>
            <a:srgbClr val="0F766E"/>
          </a:solidFill>
          <a:ln/>
        </p:spPr>
      </p:sp>
      <p:sp>
        <p:nvSpPr>
          <p:cNvPr id="4" name="Text 2"/>
          <p:cNvSpPr/>
          <p:nvPr/>
        </p:nvSpPr>
        <p:spPr>
          <a:xfrm>
            <a:off x="612648" y="201168"/>
            <a:ext cx="11167567" cy="566928"/>
          </a:xfrm>
          <a:prstGeom prst="rect">
            <a:avLst/>
          </a:prstGeom>
          <a:noFill/>
          <a:ln/>
        </p:spPr>
        <p:txBody>
          <a:bodyPr wrap="square" rtlCol="0" anchor="ctr"/>
          <a:lstStyle/>
          <a:p>
            <a:pPr rtl="1" algn="r" indent="0" marL="0">
              <a:buNone/>
            </a:pPr>
            <a:r>
              <a:rPr lang="en-US" sz="2400" b="1" dirty="0">
                <a:solidFill>
                  <a:srgbClr val="0B1F4D"/>
                </a:solidFill>
                <a:latin typeface="Segoe UI" pitchFamily="34" charset="0"/>
                <a:ea typeface="Segoe UI" pitchFamily="34" charset="-122"/>
                <a:cs typeface="Segoe UI" pitchFamily="34" charset="-120"/>
              </a:rPr>
              <a:t>٨ — ماذا تفعل داخل التطبيق عملياً؟</a:t>
            </a:r>
            <a:endParaRPr lang="en-US" sz="2400" dirty="0"/>
          </a:p>
        </p:txBody>
      </p:sp>
      <p:sp>
        <p:nvSpPr>
          <p:cNvPr id="5" name="Shape 3"/>
          <p:cNvSpPr/>
          <p:nvPr/>
        </p:nvSpPr>
        <p:spPr>
          <a:xfrm>
            <a:off x="411480" y="822960"/>
            <a:ext cx="11368735" cy="32004"/>
          </a:xfrm>
          <a:prstGeom prst="rect">
            <a:avLst/>
          </a:prstGeom>
          <a:solidFill>
            <a:srgbClr val="0F766E"/>
          </a:solidFill>
          <a:ln/>
        </p:spPr>
      </p:sp>
      <p:sp>
        <p:nvSpPr>
          <p:cNvPr id="6" name="Shape 4"/>
          <p:cNvSpPr/>
          <p:nvPr/>
        </p:nvSpPr>
        <p:spPr>
          <a:xfrm>
            <a:off x="11368735" y="1143000"/>
            <a:ext cx="347472" cy="347472"/>
          </a:xfrm>
          <a:prstGeom prst="ellipse">
            <a:avLst/>
          </a:prstGeom>
          <a:solidFill>
            <a:srgbClr val="0B1F4D"/>
          </a:solidFill>
          <a:ln/>
        </p:spPr>
      </p:sp>
      <p:sp>
        <p:nvSpPr>
          <p:cNvPr id="7" name="Text 5"/>
          <p:cNvSpPr/>
          <p:nvPr/>
        </p:nvSpPr>
        <p:spPr>
          <a:xfrm>
            <a:off x="11368735" y="1143000"/>
            <a:ext cx="347472" cy="347472"/>
          </a:xfrm>
          <a:prstGeom prst="rect">
            <a:avLst/>
          </a:prstGeom>
          <a:noFill/>
          <a:ln/>
        </p:spPr>
        <p:txBody>
          <a:bodyPr wrap="square" rtlCol="0" anchor="ctr"/>
          <a:lstStyle/>
          <a:p>
            <a:pPr algn="ctr" indent="0" marL="0">
              <a:buNone/>
            </a:pPr>
            <a:r>
              <a:rPr lang="en-US" sz="1200" b="1" dirty="0">
                <a:solidFill>
                  <a:srgbClr val="FFFFFF"/>
                </a:solidFill>
              </a:rPr>
              <a:t>1</a:t>
            </a:r>
            <a:endParaRPr lang="en-US" sz="1200" dirty="0"/>
          </a:p>
        </p:txBody>
      </p:sp>
      <p:sp>
        <p:nvSpPr>
          <p:cNvPr id="8" name="Text 6"/>
          <p:cNvSpPr/>
          <p:nvPr/>
        </p:nvSpPr>
        <p:spPr>
          <a:xfrm>
            <a:off x="6172200" y="1097280"/>
            <a:ext cx="5394960" cy="438912"/>
          </a:xfrm>
          <a:prstGeom prst="rect">
            <a:avLst/>
          </a:prstGeom>
          <a:noFill/>
          <a:ln/>
        </p:spPr>
        <p:txBody>
          <a:bodyPr wrap="square" rtlCol="0" anchor="ctr"/>
          <a:lstStyle/>
          <a:p>
            <a:pPr rtl="1" algn="r" indent="0" marL="0">
              <a:buNone/>
            </a:pPr>
            <a:r>
              <a:rPr lang="en-US" sz="1350" dirty="0">
                <a:solidFill>
                  <a:srgbClr val="0F172A"/>
                </a:solidFill>
                <a:latin typeface="Segoe UI" pitchFamily="34" charset="0"/>
                <a:ea typeface="Segoe UI" pitchFamily="34" charset="-122"/>
                <a:cs typeface="Segoe UI" pitchFamily="34" charset="-120"/>
              </a:rPr>
              <a:t>حساب بدور تاجر / مورد</a:t>
            </a:r>
            <a:endParaRPr lang="en-US" sz="1350" dirty="0"/>
          </a:p>
        </p:txBody>
      </p:sp>
      <p:sp>
        <p:nvSpPr>
          <p:cNvPr id="9" name="Shape 7"/>
          <p:cNvSpPr/>
          <p:nvPr/>
        </p:nvSpPr>
        <p:spPr>
          <a:xfrm>
            <a:off x="11368735" y="1645920"/>
            <a:ext cx="347472" cy="347472"/>
          </a:xfrm>
          <a:prstGeom prst="ellipse">
            <a:avLst/>
          </a:prstGeom>
          <a:solidFill>
            <a:srgbClr val="0F766E"/>
          </a:solidFill>
          <a:ln/>
        </p:spPr>
      </p:sp>
      <p:sp>
        <p:nvSpPr>
          <p:cNvPr id="10" name="Text 8"/>
          <p:cNvSpPr/>
          <p:nvPr/>
        </p:nvSpPr>
        <p:spPr>
          <a:xfrm>
            <a:off x="11368735" y="1645920"/>
            <a:ext cx="347472" cy="347472"/>
          </a:xfrm>
          <a:prstGeom prst="rect">
            <a:avLst/>
          </a:prstGeom>
          <a:noFill/>
          <a:ln/>
        </p:spPr>
        <p:txBody>
          <a:bodyPr wrap="square" rtlCol="0" anchor="ctr"/>
          <a:lstStyle/>
          <a:p>
            <a:pPr algn="ctr" indent="0" marL="0">
              <a:buNone/>
            </a:pPr>
            <a:r>
              <a:rPr lang="en-US" sz="1200" b="1" dirty="0">
                <a:solidFill>
                  <a:srgbClr val="FFFFFF"/>
                </a:solidFill>
              </a:rPr>
              <a:t>2</a:t>
            </a:r>
            <a:endParaRPr lang="en-US" sz="1200" dirty="0"/>
          </a:p>
        </p:txBody>
      </p:sp>
      <p:sp>
        <p:nvSpPr>
          <p:cNvPr id="11" name="Text 9"/>
          <p:cNvSpPr/>
          <p:nvPr/>
        </p:nvSpPr>
        <p:spPr>
          <a:xfrm>
            <a:off x="6172200" y="1600200"/>
            <a:ext cx="5394960" cy="438912"/>
          </a:xfrm>
          <a:prstGeom prst="rect">
            <a:avLst/>
          </a:prstGeom>
          <a:noFill/>
          <a:ln/>
        </p:spPr>
        <p:txBody>
          <a:bodyPr wrap="square" rtlCol="0" anchor="ctr"/>
          <a:lstStyle/>
          <a:p>
            <a:pPr rtl="1" algn="r" indent="0" marL="0">
              <a:buNone/>
            </a:pPr>
            <a:r>
              <a:rPr lang="en-US" sz="1350" dirty="0">
                <a:solidFill>
                  <a:srgbClr val="0F172A"/>
                </a:solidFill>
                <a:latin typeface="Segoe UI" pitchFamily="34" charset="0"/>
                <a:ea typeface="Segoe UI" pitchFamily="34" charset="-122"/>
                <a:cs typeface="Segoe UI" pitchFamily="34" charset="-120"/>
              </a:rPr>
              <a:t>بوابة مقدم الخدمة</a:t>
            </a:r>
            <a:endParaRPr lang="en-US" sz="1350" dirty="0"/>
          </a:p>
        </p:txBody>
      </p:sp>
      <p:sp>
        <p:nvSpPr>
          <p:cNvPr id="12" name="Shape 10"/>
          <p:cNvSpPr/>
          <p:nvPr/>
        </p:nvSpPr>
        <p:spPr>
          <a:xfrm>
            <a:off x="11368735" y="2148840"/>
            <a:ext cx="347472" cy="347472"/>
          </a:xfrm>
          <a:prstGeom prst="ellipse">
            <a:avLst/>
          </a:prstGeom>
          <a:solidFill>
            <a:srgbClr val="0B1F4D"/>
          </a:solidFill>
          <a:ln/>
        </p:spPr>
      </p:sp>
      <p:sp>
        <p:nvSpPr>
          <p:cNvPr id="13" name="Text 11"/>
          <p:cNvSpPr/>
          <p:nvPr/>
        </p:nvSpPr>
        <p:spPr>
          <a:xfrm>
            <a:off x="11368735" y="2148840"/>
            <a:ext cx="347472" cy="347472"/>
          </a:xfrm>
          <a:prstGeom prst="rect">
            <a:avLst/>
          </a:prstGeom>
          <a:noFill/>
          <a:ln/>
        </p:spPr>
        <p:txBody>
          <a:bodyPr wrap="square" rtlCol="0" anchor="ctr"/>
          <a:lstStyle/>
          <a:p>
            <a:pPr algn="ctr" indent="0" marL="0">
              <a:buNone/>
            </a:pPr>
            <a:r>
              <a:rPr lang="en-US" sz="1200" b="1" dirty="0">
                <a:solidFill>
                  <a:srgbClr val="FFFFFF"/>
                </a:solidFill>
              </a:rPr>
              <a:t>3</a:t>
            </a:r>
            <a:endParaRPr lang="en-US" sz="1200" dirty="0"/>
          </a:p>
        </p:txBody>
      </p:sp>
      <p:sp>
        <p:nvSpPr>
          <p:cNvPr id="14" name="Text 12"/>
          <p:cNvSpPr/>
          <p:nvPr/>
        </p:nvSpPr>
        <p:spPr>
          <a:xfrm>
            <a:off x="6172200" y="2103120"/>
            <a:ext cx="5394960" cy="438912"/>
          </a:xfrm>
          <a:prstGeom prst="rect">
            <a:avLst/>
          </a:prstGeom>
          <a:noFill/>
          <a:ln/>
        </p:spPr>
        <p:txBody>
          <a:bodyPr wrap="square" rtlCol="0" anchor="ctr"/>
          <a:lstStyle/>
          <a:p>
            <a:pPr rtl="1" algn="r" indent="0" marL="0">
              <a:buNone/>
            </a:pPr>
            <a:r>
              <a:rPr lang="en-US" sz="1350" dirty="0">
                <a:solidFill>
                  <a:srgbClr val="0F172A"/>
                </a:solidFill>
                <a:latin typeface="Segoe UI" pitchFamily="34" charset="0"/>
                <a:ea typeface="Segoe UI" pitchFamily="34" charset="-122"/>
                <a:cs typeface="Segoe UI" pitchFamily="34" charset="-120"/>
              </a:rPr>
              <a:t>متجري → إضافة منتج (حقول غنية + شارات)</a:t>
            </a:r>
            <a:endParaRPr lang="en-US" sz="1350" dirty="0"/>
          </a:p>
        </p:txBody>
      </p:sp>
      <p:sp>
        <p:nvSpPr>
          <p:cNvPr id="15" name="Shape 13"/>
          <p:cNvSpPr/>
          <p:nvPr/>
        </p:nvSpPr>
        <p:spPr>
          <a:xfrm>
            <a:off x="11368735" y="2651760"/>
            <a:ext cx="347472" cy="347472"/>
          </a:xfrm>
          <a:prstGeom prst="ellipse">
            <a:avLst/>
          </a:prstGeom>
          <a:solidFill>
            <a:srgbClr val="0F766E"/>
          </a:solidFill>
          <a:ln/>
        </p:spPr>
      </p:sp>
      <p:sp>
        <p:nvSpPr>
          <p:cNvPr id="16" name="Text 14"/>
          <p:cNvSpPr/>
          <p:nvPr/>
        </p:nvSpPr>
        <p:spPr>
          <a:xfrm>
            <a:off x="11368735" y="2651760"/>
            <a:ext cx="347472" cy="347472"/>
          </a:xfrm>
          <a:prstGeom prst="rect">
            <a:avLst/>
          </a:prstGeom>
          <a:noFill/>
          <a:ln/>
        </p:spPr>
        <p:txBody>
          <a:bodyPr wrap="square" rtlCol="0" anchor="ctr"/>
          <a:lstStyle/>
          <a:p>
            <a:pPr algn="ctr" indent="0" marL="0">
              <a:buNone/>
            </a:pPr>
            <a:r>
              <a:rPr lang="en-US" sz="1200" b="1" dirty="0">
                <a:solidFill>
                  <a:srgbClr val="FFFFFF"/>
                </a:solidFill>
              </a:rPr>
              <a:t>4</a:t>
            </a:r>
            <a:endParaRPr lang="en-US" sz="1200" dirty="0"/>
          </a:p>
        </p:txBody>
      </p:sp>
      <p:sp>
        <p:nvSpPr>
          <p:cNvPr id="17" name="Text 15"/>
          <p:cNvSpPr/>
          <p:nvPr/>
        </p:nvSpPr>
        <p:spPr>
          <a:xfrm>
            <a:off x="6172200" y="2606040"/>
            <a:ext cx="5394960" cy="438912"/>
          </a:xfrm>
          <a:prstGeom prst="rect">
            <a:avLst/>
          </a:prstGeom>
          <a:noFill/>
          <a:ln/>
        </p:spPr>
        <p:txBody>
          <a:bodyPr wrap="square" rtlCol="0" anchor="ctr"/>
          <a:lstStyle/>
          <a:p>
            <a:pPr rtl="1" algn="r" indent="0" marL="0">
              <a:buNone/>
            </a:pPr>
            <a:r>
              <a:rPr lang="en-US" sz="1350" dirty="0">
                <a:solidFill>
                  <a:srgbClr val="0F172A"/>
                </a:solidFill>
                <a:latin typeface="Segoe UI" pitchFamily="34" charset="0"/>
                <a:ea typeface="Segoe UI" pitchFamily="34" charset="-122"/>
                <a:cs typeface="Segoe UI" pitchFamily="34" charset="-120"/>
              </a:rPr>
              <a:t>انتظار موافقة المراجعة</a:t>
            </a:r>
            <a:endParaRPr lang="en-US" sz="1350" dirty="0"/>
          </a:p>
        </p:txBody>
      </p:sp>
      <p:sp>
        <p:nvSpPr>
          <p:cNvPr id="18" name="Shape 16"/>
          <p:cNvSpPr/>
          <p:nvPr/>
        </p:nvSpPr>
        <p:spPr>
          <a:xfrm>
            <a:off x="11368735" y="3154680"/>
            <a:ext cx="347472" cy="347472"/>
          </a:xfrm>
          <a:prstGeom prst="ellipse">
            <a:avLst/>
          </a:prstGeom>
          <a:solidFill>
            <a:srgbClr val="0B1F4D"/>
          </a:solidFill>
          <a:ln/>
        </p:spPr>
      </p:sp>
      <p:sp>
        <p:nvSpPr>
          <p:cNvPr id="19" name="Text 17"/>
          <p:cNvSpPr/>
          <p:nvPr/>
        </p:nvSpPr>
        <p:spPr>
          <a:xfrm>
            <a:off x="11368735" y="3154680"/>
            <a:ext cx="347472" cy="347472"/>
          </a:xfrm>
          <a:prstGeom prst="rect">
            <a:avLst/>
          </a:prstGeom>
          <a:noFill/>
          <a:ln/>
        </p:spPr>
        <p:txBody>
          <a:bodyPr wrap="square" rtlCol="0" anchor="ctr"/>
          <a:lstStyle/>
          <a:p>
            <a:pPr algn="ctr" indent="0" marL="0">
              <a:buNone/>
            </a:pPr>
            <a:r>
              <a:rPr lang="en-US" sz="1200" b="1" dirty="0">
                <a:solidFill>
                  <a:srgbClr val="FFFFFF"/>
                </a:solidFill>
              </a:rPr>
              <a:t>5</a:t>
            </a:r>
            <a:endParaRPr lang="en-US" sz="1200" dirty="0"/>
          </a:p>
        </p:txBody>
      </p:sp>
      <p:sp>
        <p:nvSpPr>
          <p:cNvPr id="20" name="Text 18"/>
          <p:cNvSpPr/>
          <p:nvPr/>
        </p:nvSpPr>
        <p:spPr>
          <a:xfrm>
            <a:off x="6172200" y="3108960"/>
            <a:ext cx="5394960" cy="438912"/>
          </a:xfrm>
          <a:prstGeom prst="rect">
            <a:avLst/>
          </a:prstGeom>
          <a:noFill/>
          <a:ln/>
        </p:spPr>
        <p:txBody>
          <a:bodyPr wrap="square" rtlCol="0" anchor="ctr"/>
          <a:lstStyle/>
          <a:p>
            <a:pPr rtl="1" algn="r" indent="0" marL="0">
              <a:buNone/>
            </a:pPr>
            <a:r>
              <a:rPr lang="en-US" sz="1350" dirty="0">
                <a:solidFill>
                  <a:srgbClr val="0F172A"/>
                </a:solidFill>
                <a:latin typeface="Segoe UI" pitchFamily="34" charset="0"/>
                <a:ea typeface="Segoe UI" pitchFamily="34" charset="-122"/>
                <a:cs typeface="Segoe UI" pitchFamily="34" charset="-120"/>
              </a:rPr>
              <a:t>ظهور في Hub ومتجر المورد</a:t>
            </a:r>
            <a:endParaRPr lang="en-US" sz="1350" dirty="0"/>
          </a:p>
        </p:txBody>
      </p:sp>
      <p:sp>
        <p:nvSpPr>
          <p:cNvPr id="21" name="Shape 19"/>
          <p:cNvSpPr/>
          <p:nvPr/>
        </p:nvSpPr>
        <p:spPr>
          <a:xfrm>
            <a:off x="11368735" y="3657600"/>
            <a:ext cx="347472" cy="347472"/>
          </a:xfrm>
          <a:prstGeom prst="ellipse">
            <a:avLst/>
          </a:prstGeom>
          <a:solidFill>
            <a:srgbClr val="0F766E"/>
          </a:solidFill>
          <a:ln/>
        </p:spPr>
      </p:sp>
      <p:sp>
        <p:nvSpPr>
          <p:cNvPr id="22" name="Text 20"/>
          <p:cNvSpPr/>
          <p:nvPr/>
        </p:nvSpPr>
        <p:spPr>
          <a:xfrm>
            <a:off x="11368735" y="3657600"/>
            <a:ext cx="347472" cy="347472"/>
          </a:xfrm>
          <a:prstGeom prst="rect">
            <a:avLst/>
          </a:prstGeom>
          <a:noFill/>
          <a:ln/>
        </p:spPr>
        <p:txBody>
          <a:bodyPr wrap="square" rtlCol="0" anchor="ctr"/>
          <a:lstStyle/>
          <a:p>
            <a:pPr algn="ctr" indent="0" marL="0">
              <a:buNone/>
            </a:pPr>
            <a:r>
              <a:rPr lang="en-US" sz="1200" b="1" dirty="0">
                <a:solidFill>
                  <a:srgbClr val="FFFFFF"/>
                </a:solidFill>
              </a:rPr>
              <a:t>6</a:t>
            </a:r>
            <a:endParaRPr lang="en-US" sz="1200" dirty="0"/>
          </a:p>
        </p:txBody>
      </p:sp>
      <p:sp>
        <p:nvSpPr>
          <p:cNvPr id="23" name="Text 21"/>
          <p:cNvSpPr/>
          <p:nvPr/>
        </p:nvSpPr>
        <p:spPr>
          <a:xfrm>
            <a:off x="6172200" y="3611880"/>
            <a:ext cx="5394960" cy="438912"/>
          </a:xfrm>
          <a:prstGeom prst="rect">
            <a:avLst/>
          </a:prstGeom>
          <a:noFill/>
          <a:ln/>
        </p:spPr>
        <p:txBody>
          <a:bodyPr wrap="square" rtlCol="0" anchor="ctr"/>
          <a:lstStyle/>
          <a:p>
            <a:pPr rtl="1" algn="r" indent="0" marL="0">
              <a:buNone/>
            </a:pPr>
            <a:r>
              <a:rPr lang="en-US" sz="1350" dirty="0">
                <a:solidFill>
                  <a:srgbClr val="0F172A"/>
                </a:solidFill>
                <a:latin typeface="Segoe UI" pitchFamily="34" charset="0"/>
                <a:ea typeface="Segoe UI" pitchFamily="34" charset="-122"/>
                <a:cs typeface="Segoe UI" pitchFamily="34" charset="-120"/>
              </a:rPr>
              <a:t>استقبال طلبات العربة / الشراء المباشر</a:t>
            </a:r>
            <a:endParaRPr lang="en-US" sz="1350" dirty="0"/>
          </a:p>
        </p:txBody>
      </p:sp>
      <p:sp>
        <p:nvSpPr>
          <p:cNvPr id="24" name="Shape 22"/>
          <p:cNvSpPr/>
          <p:nvPr/>
        </p:nvSpPr>
        <p:spPr>
          <a:xfrm>
            <a:off x="11368735" y="4160520"/>
            <a:ext cx="347472" cy="347472"/>
          </a:xfrm>
          <a:prstGeom prst="ellipse">
            <a:avLst/>
          </a:prstGeom>
          <a:solidFill>
            <a:srgbClr val="0B1F4D"/>
          </a:solidFill>
          <a:ln/>
        </p:spPr>
      </p:sp>
      <p:sp>
        <p:nvSpPr>
          <p:cNvPr id="25" name="Text 23"/>
          <p:cNvSpPr/>
          <p:nvPr/>
        </p:nvSpPr>
        <p:spPr>
          <a:xfrm>
            <a:off x="11368735" y="4160520"/>
            <a:ext cx="347472" cy="347472"/>
          </a:xfrm>
          <a:prstGeom prst="rect">
            <a:avLst/>
          </a:prstGeom>
          <a:noFill/>
          <a:ln/>
        </p:spPr>
        <p:txBody>
          <a:bodyPr wrap="square" rtlCol="0" anchor="ctr"/>
          <a:lstStyle/>
          <a:p>
            <a:pPr algn="ctr" indent="0" marL="0">
              <a:buNone/>
            </a:pPr>
            <a:r>
              <a:rPr lang="en-US" sz="1200" b="1" dirty="0">
                <a:solidFill>
                  <a:srgbClr val="FFFFFF"/>
                </a:solidFill>
              </a:rPr>
              <a:t>7</a:t>
            </a:r>
            <a:endParaRPr lang="en-US" sz="1200" dirty="0"/>
          </a:p>
        </p:txBody>
      </p:sp>
      <p:sp>
        <p:nvSpPr>
          <p:cNvPr id="26" name="Text 24"/>
          <p:cNvSpPr/>
          <p:nvPr/>
        </p:nvSpPr>
        <p:spPr>
          <a:xfrm>
            <a:off x="6172200" y="4114800"/>
            <a:ext cx="5394960" cy="438912"/>
          </a:xfrm>
          <a:prstGeom prst="rect">
            <a:avLst/>
          </a:prstGeom>
          <a:noFill/>
          <a:ln/>
        </p:spPr>
        <p:txBody>
          <a:bodyPr wrap="square" rtlCol="0" anchor="ctr"/>
          <a:lstStyle/>
          <a:p>
            <a:pPr rtl="1" algn="r" indent="0" marL="0">
              <a:buNone/>
            </a:pPr>
            <a:r>
              <a:rPr lang="en-US" sz="1350" dirty="0">
                <a:solidFill>
                  <a:srgbClr val="0F172A"/>
                </a:solidFill>
                <a:latin typeface="Segoe UI" pitchFamily="34" charset="0"/>
                <a:ea typeface="Segoe UI" pitchFamily="34" charset="-122"/>
                <a:cs typeface="Segoe UI" pitchFamily="34" charset="-120"/>
              </a:rPr>
              <a:t>الرد على RFQ وأسئلة المنتج</a:t>
            </a:r>
            <a:endParaRPr lang="en-US" sz="1350" dirty="0"/>
          </a:p>
        </p:txBody>
      </p:sp>
      <p:sp>
        <p:nvSpPr>
          <p:cNvPr id="27" name="Shape 25"/>
          <p:cNvSpPr/>
          <p:nvPr/>
        </p:nvSpPr>
        <p:spPr>
          <a:xfrm>
            <a:off x="11368735" y="4663440"/>
            <a:ext cx="347472" cy="347472"/>
          </a:xfrm>
          <a:prstGeom prst="ellipse">
            <a:avLst/>
          </a:prstGeom>
          <a:solidFill>
            <a:srgbClr val="0F766E"/>
          </a:solidFill>
          <a:ln/>
        </p:spPr>
      </p:sp>
      <p:sp>
        <p:nvSpPr>
          <p:cNvPr id="28" name="Text 26"/>
          <p:cNvSpPr/>
          <p:nvPr/>
        </p:nvSpPr>
        <p:spPr>
          <a:xfrm>
            <a:off x="11368735" y="4663440"/>
            <a:ext cx="347472" cy="347472"/>
          </a:xfrm>
          <a:prstGeom prst="rect">
            <a:avLst/>
          </a:prstGeom>
          <a:noFill/>
          <a:ln/>
        </p:spPr>
        <p:txBody>
          <a:bodyPr wrap="square" rtlCol="0" anchor="ctr"/>
          <a:lstStyle/>
          <a:p>
            <a:pPr algn="ctr" indent="0" marL="0">
              <a:buNone/>
            </a:pPr>
            <a:r>
              <a:rPr lang="en-US" sz="1200" b="1" dirty="0">
                <a:solidFill>
                  <a:srgbClr val="FFFFFF"/>
                </a:solidFill>
              </a:rPr>
              <a:t>8</a:t>
            </a:r>
            <a:endParaRPr lang="en-US" sz="1200" dirty="0"/>
          </a:p>
        </p:txBody>
      </p:sp>
      <p:sp>
        <p:nvSpPr>
          <p:cNvPr id="29" name="Text 27"/>
          <p:cNvSpPr/>
          <p:nvPr/>
        </p:nvSpPr>
        <p:spPr>
          <a:xfrm>
            <a:off x="6172200" y="4617720"/>
            <a:ext cx="5394960" cy="438912"/>
          </a:xfrm>
          <a:prstGeom prst="rect">
            <a:avLst/>
          </a:prstGeom>
          <a:noFill/>
          <a:ln/>
        </p:spPr>
        <p:txBody>
          <a:bodyPr wrap="square" rtlCol="0" anchor="ctr"/>
          <a:lstStyle/>
          <a:p>
            <a:pPr rtl="1" algn="r" indent="0" marL="0">
              <a:buNone/>
            </a:pPr>
            <a:r>
              <a:rPr lang="en-US" sz="1350" dirty="0">
                <a:solidFill>
                  <a:srgbClr val="0F172A"/>
                </a:solidFill>
                <a:latin typeface="Segoe UI" pitchFamily="34" charset="0"/>
                <a:ea typeface="Segoe UI" pitchFamily="34" charset="-122"/>
                <a:cs typeface="Segoe UI" pitchFamily="34" charset="-120"/>
              </a:rPr>
              <a:t>تأكيد التحويل · الشحن · إغلاق الضمان</a:t>
            </a:r>
            <a:endParaRPr lang="en-US" sz="1350" dirty="0"/>
          </a:p>
        </p:txBody>
      </p:sp>
      <p:sp>
        <p:nvSpPr>
          <p:cNvPr id="30" name="Shape 28"/>
          <p:cNvSpPr/>
          <p:nvPr/>
        </p:nvSpPr>
        <p:spPr>
          <a:xfrm>
            <a:off x="411480" y="1097280"/>
            <a:ext cx="5120640" cy="2194560"/>
          </a:xfrm>
          <a:prstGeom prst="roundRect">
            <a:avLst>
              <a:gd name="adj" fmla="val 4167"/>
            </a:avLst>
          </a:prstGeom>
          <a:solidFill>
            <a:srgbClr val="FFFFFF"/>
          </a:solidFill>
          <a:ln w="12700">
            <a:solidFill>
              <a:srgbClr val="D6D3D1"/>
            </a:solidFill>
            <a:prstDash val="solid"/>
          </a:ln>
        </p:spPr>
      </p:sp>
      <p:sp>
        <p:nvSpPr>
          <p:cNvPr id="31" name="Text 29"/>
          <p:cNvSpPr/>
          <p:nvPr/>
        </p:nvSpPr>
        <p:spPr>
          <a:xfrm>
            <a:off x="640080" y="1234440"/>
            <a:ext cx="4663440" cy="365760"/>
          </a:xfrm>
          <a:prstGeom prst="rect">
            <a:avLst/>
          </a:prstGeom>
          <a:noFill/>
          <a:ln/>
        </p:spPr>
        <p:txBody>
          <a:bodyPr wrap="square" rtlCol="0" anchor="ctr"/>
          <a:lstStyle/>
          <a:p>
            <a:pPr rtl="1" algn="r" indent="0" marL="0">
              <a:buNone/>
            </a:pPr>
            <a:r>
              <a:rPr lang="en-US" sz="1500" b="1" dirty="0">
                <a:solidFill>
                  <a:srgbClr val="0B1F4D"/>
                </a:solidFill>
                <a:latin typeface="Segoe UI" pitchFamily="34" charset="0"/>
                <a:ea typeface="Segoe UI" pitchFamily="34" charset="-122"/>
                <a:cs typeface="Segoe UI" pitchFamily="34" charset="-120"/>
              </a:rPr>
              <a:t>تبويب منتجاتي</a:t>
            </a:r>
            <a:endParaRPr lang="en-US" sz="1500" dirty="0"/>
          </a:p>
        </p:txBody>
      </p:sp>
      <p:sp>
        <p:nvSpPr>
          <p:cNvPr id="32" name="Text 30"/>
          <p:cNvSpPr/>
          <p:nvPr/>
        </p:nvSpPr>
        <p:spPr>
          <a:xfrm>
            <a:off x="640080" y="1737360"/>
            <a:ext cx="4663440" cy="1280160"/>
          </a:xfrm>
          <a:prstGeom prst="rect">
            <a:avLst/>
          </a:prstGeom>
          <a:noFill/>
          <a:ln/>
        </p:spPr>
        <p:txBody>
          <a:bodyPr wrap="square" rtlCol="0" anchor="ctr"/>
          <a:lstStyle/>
          <a:p>
            <a:pPr rtl="1" algn="r" indent="0" marL="0">
              <a:buNone/>
            </a:pPr>
            <a:r>
              <a:rPr lang="en-US" sz="1300" dirty="0">
                <a:solidFill>
                  <a:srgbClr val="0F172A"/>
                </a:solidFill>
                <a:latin typeface="Segoe UI" pitchFamily="34" charset="0"/>
                <a:ea typeface="Segoe UI" pitchFamily="34" charset="-122"/>
                <a:cs typeface="Segoe UI" pitchFamily="34" charset="-120"/>
              </a:rPr>
              <a:t>عرض المنتجات وحالة الاعتماد</a:t>
            </a:r>
            <a:endParaRPr lang="en-US" sz="1300" dirty="0"/>
          </a:p>
          <a:p>
            <a:pPr rtl="1" algn="r" indent="0" marL="0">
              <a:buNone/>
            </a:pPr>
            <a:r>
              <a:rPr lang="en-US" sz="1300" dirty="0">
                <a:solidFill>
                  <a:srgbClr val="0F172A"/>
                </a:solidFill>
                <a:latin typeface="Segoe UI" pitchFamily="34" charset="0"/>
                <a:ea typeface="Segoe UI" pitchFamily="34" charset="-122"/>
                <a:cs typeface="Segoe UI" pitchFamily="34" charset="-120"/>
              </a:rPr>
              <a:t>إضافة منتج جديد بحقول غنية</a:t>
            </a:r>
            <a:endParaRPr lang="en-US" sz="1300" dirty="0"/>
          </a:p>
          <a:p>
            <a:pPr rtl="1" algn="r" indent="0" marL="0">
              <a:buNone/>
            </a:pPr>
            <a:r>
              <a:rPr lang="en-US" sz="1300" dirty="0">
                <a:solidFill>
                  <a:srgbClr val="0F172A"/>
                </a:solidFill>
                <a:latin typeface="Segoe UI" pitchFamily="34" charset="0"/>
                <a:ea typeface="Segoe UI" pitchFamily="34" charset="-122"/>
                <a:cs typeface="Segoe UI" pitchFamily="34" charset="-120"/>
              </a:rPr>
              <a:t>فتح التفاصيل / الحذف</a:t>
            </a:r>
            <a:endParaRPr lang="en-US" sz="1300" dirty="0"/>
          </a:p>
        </p:txBody>
      </p:sp>
      <p:sp>
        <p:nvSpPr>
          <p:cNvPr id="33" name="Shape 31"/>
          <p:cNvSpPr/>
          <p:nvPr/>
        </p:nvSpPr>
        <p:spPr>
          <a:xfrm>
            <a:off x="411480" y="3474720"/>
            <a:ext cx="5120640" cy="2194560"/>
          </a:xfrm>
          <a:prstGeom prst="roundRect">
            <a:avLst>
              <a:gd name="adj" fmla="val 4167"/>
            </a:avLst>
          </a:prstGeom>
          <a:solidFill>
            <a:srgbClr val="EEF6F5"/>
          </a:solidFill>
          <a:ln w="12700">
            <a:solidFill>
              <a:srgbClr val="CCFBF1"/>
            </a:solidFill>
            <a:prstDash val="solid"/>
          </a:ln>
        </p:spPr>
      </p:sp>
      <p:sp>
        <p:nvSpPr>
          <p:cNvPr id="34" name="Text 32"/>
          <p:cNvSpPr/>
          <p:nvPr/>
        </p:nvSpPr>
        <p:spPr>
          <a:xfrm>
            <a:off x="640080" y="3611880"/>
            <a:ext cx="4663440" cy="365760"/>
          </a:xfrm>
          <a:prstGeom prst="rect">
            <a:avLst/>
          </a:prstGeom>
          <a:noFill/>
          <a:ln/>
        </p:spPr>
        <p:txBody>
          <a:bodyPr wrap="square" rtlCol="0" anchor="ctr"/>
          <a:lstStyle/>
          <a:p>
            <a:pPr rtl="1" algn="r" indent="0" marL="0">
              <a:buNone/>
            </a:pPr>
            <a:r>
              <a:rPr lang="en-US" sz="1500" b="1" dirty="0">
                <a:solidFill>
                  <a:srgbClr val="0F766E"/>
                </a:solidFill>
                <a:latin typeface="Segoe UI" pitchFamily="34" charset="0"/>
                <a:ea typeface="Segoe UI" pitchFamily="34" charset="-122"/>
                <a:cs typeface="Segoe UI" pitchFamily="34" charset="-120"/>
              </a:rPr>
              <a:t>تبويب الطلبات</a:t>
            </a:r>
            <a:endParaRPr lang="en-US" sz="1500" dirty="0"/>
          </a:p>
        </p:txBody>
      </p:sp>
      <p:sp>
        <p:nvSpPr>
          <p:cNvPr id="35" name="Text 33"/>
          <p:cNvSpPr/>
          <p:nvPr/>
        </p:nvSpPr>
        <p:spPr>
          <a:xfrm>
            <a:off x="640080" y="4114800"/>
            <a:ext cx="4663440" cy="1280160"/>
          </a:xfrm>
          <a:prstGeom prst="rect">
            <a:avLst/>
          </a:prstGeom>
          <a:noFill/>
          <a:ln/>
        </p:spPr>
        <p:txBody>
          <a:bodyPr wrap="square" rtlCol="0" anchor="ctr"/>
          <a:lstStyle/>
          <a:p>
            <a:pPr rtl="1" algn="r" indent="0" marL="0">
              <a:buNone/>
            </a:pPr>
            <a:r>
              <a:rPr lang="en-US" sz="1300" dirty="0">
                <a:solidFill>
                  <a:srgbClr val="0F172A"/>
                </a:solidFill>
                <a:latin typeface="Segoe UI" pitchFamily="34" charset="0"/>
                <a:ea typeface="Segoe UI" pitchFamily="34" charset="-122"/>
                <a:cs typeface="Segoe UI" pitchFamily="34" charset="-120"/>
              </a:rPr>
              <a:t>طلبات العربة والشراء المباشر</a:t>
            </a:r>
            <a:endParaRPr lang="en-US" sz="1300" dirty="0"/>
          </a:p>
          <a:p>
            <a:pPr rtl="1" algn="r" indent="0" marL="0">
              <a:buNone/>
            </a:pPr>
            <a:r>
              <a:rPr lang="en-US" sz="1300" dirty="0">
                <a:solidFill>
                  <a:srgbClr val="0F172A"/>
                </a:solidFill>
                <a:latin typeface="Segoe UI" pitchFamily="34" charset="0"/>
                <a:ea typeface="Segoe UI" pitchFamily="34" charset="-122"/>
                <a:cs typeface="Segoe UI" pitchFamily="34" charset="-120"/>
              </a:rPr>
              <a:t>تمييز دفع يدوي / إلكتروني</a:t>
            </a:r>
            <a:endParaRPr lang="en-US" sz="1300" dirty="0"/>
          </a:p>
          <a:p>
            <a:pPr rtl="1" algn="r" indent="0" marL="0">
              <a:buNone/>
            </a:pPr>
            <a:r>
              <a:rPr lang="en-US" sz="1300" dirty="0">
                <a:solidFill>
                  <a:srgbClr val="0F172A"/>
                </a:solidFill>
                <a:latin typeface="Segoe UI" pitchFamily="34" charset="0"/>
                <a:ea typeface="Segoe UI" pitchFamily="34" charset="-122"/>
                <a:cs typeface="Segoe UI" pitchFamily="34" charset="-120"/>
              </a:rPr>
              <a:t>تأكيد التحويل · مراسلة المشتري</a:t>
            </a:r>
            <a:endParaRPr lang="en-US" sz="1300" dirty="0"/>
          </a:p>
        </p:txBody>
      </p:sp>
      <p:sp>
        <p:nvSpPr>
          <p:cNvPr id="36" name="Shape 34"/>
          <p:cNvSpPr/>
          <p:nvPr/>
        </p:nvSpPr>
        <p:spPr>
          <a:xfrm>
            <a:off x="0" y="6510528"/>
            <a:ext cx="12191695" cy="347472"/>
          </a:xfrm>
          <a:prstGeom prst="rect">
            <a:avLst/>
          </a:prstGeom>
          <a:solidFill>
            <a:srgbClr val="F8F5F0"/>
          </a:solidFill>
          <a:ln/>
        </p:spPr>
      </p:sp>
      <p:sp>
        <p:nvSpPr>
          <p:cNvPr id="37" name="Text 35"/>
          <p:cNvSpPr/>
          <p:nvPr/>
        </p:nvSpPr>
        <p:spPr>
          <a:xfrm>
            <a:off x="411480" y="6547104"/>
            <a:ext cx="8229600" cy="256032"/>
          </a:xfrm>
          <a:prstGeom prst="rect">
            <a:avLst/>
          </a:prstGeom>
          <a:noFill/>
          <a:ln/>
        </p:spPr>
        <p:txBody>
          <a:bodyPr wrap="square" rtlCol="0" anchor="ctr"/>
          <a:lstStyle/>
          <a:p>
            <a:pPr rtl="1" algn="r" indent="0" marL="0">
              <a:buNone/>
            </a:pPr>
            <a:r>
              <a:rPr lang="en-US" sz="1000" dirty="0">
                <a:solidFill>
                  <a:srgbClr val="475569"/>
                </a:solidFill>
                <a:latin typeface="Segoe UI" pitchFamily="34" charset="0"/>
                <a:ea typeface="Segoe UI" pitchFamily="34" charset="-122"/>
                <a:cs typeface="Segoe UI" pitchFamily="34" charset="-120"/>
              </a:rPr>
              <a:t>AcadeGate · عرض شراكة الموردين · محدّث ١٩ سبتمبر ٢٠٢٦</a:t>
            </a:r>
            <a:endParaRPr lang="en-US" sz="1000" dirty="0"/>
          </a:p>
        </p:txBody>
      </p:sp>
      <p:sp>
        <p:nvSpPr>
          <p:cNvPr id="38" name="Text 36"/>
          <p:cNvSpPr/>
          <p:nvPr/>
        </p:nvSpPr>
        <p:spPr>
          <a:xfrm>
            <a:off x="10682935" y="6547104"/>
            <a:ext cx="1097280" cy="256032"/>
          </a:xfrm>
          <a:prstGeom prst="rect">
            <a:avLst/>
          </a:prstGeom>
          <a:noFill/>
          <a:ln/>
        </p:spPr>
        <p:txBody>
          <a:bodyPr wrap="square" rtlCol="0" anchor="ctr"/>
          <a:lstStyle/>
          <a:p>
            <a:pPr algn="l" indent="0" marL="0">
              <a:buNone/>
            </a:pPr>
            <a:r>
              <a:rPr lang="en-US" sz="1000" dirty="0">
                <a:solidFill>
                  <a:srgbClr val="475569"/>
                </a:solidFill>
                <a:latin typeface="Segoe UI" pitchFamily="34" charset="0"/>
                <a:ea typeface="Segoe UI" pitchFamily="34" charset="-122"/>
                <a:cs typeface="Segoe UI" pitchFamily="34" charset="-120"/>
              </a:rPr>
              <a:t>11 / 16</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sp>
      <p:sp>
        <p:nvSpPr>
          <p:cNvPr id="3" name="Shape 1"/>
          <p:cNvSpPr/>
          <p:nvPr/>
        </p:nvSpPr>
        <p:spPr>
          <a:xfrm>
            <a:off x="411480" y="256032"/>
            <a:ext cx="109728" cy="502920"/>
          </a:xfrm>
          <a:prstGeom prst="rect">
            <a:avLst/>
          </a:prstGeom>
          <a:solidFill>
            <a:srgbClr val="0F766E"/>
          </a:solidFill>
          <a:ln/>
        </p:spPr>
      </p:sp>
      <p:sp>
        <p:nvSpPr>
          <p:cNvPr id="4" name="Text 2"/>
          <p:cNvSpPr/>
          <p:nvPr/>
        </p:nvSpPr>
        <p:spPr>
          <a:xfrm>
            <a:off x="612648" y="201168"/>
            <a:ext cx="11167567" cy="566928"/>
          </a:xfrm>
          <a:prstGeom prst="rect">
            <a:avLst/>
          </a:prstGeom>
          <a:noFill/>
          <a:ln/>
        </p:spPr>
        <p:txBody>
          <a:bodyPr wrap="square" rtlCol="0" anchor="ctr"/>
          <a:lstStyle/>
          <a:p>
            <a:pPr rtl="1" algn="r" indent="0" marL="0">
              <a:buNone/>
            </a:pPr>
            <a:r>
              <a:rPr lang="en-US" sz="2400" b="1" dirty="0">
                <a:solidFill>
                  <a:srgbClr val="0B1F4D"/>
                </a:solidFill>
                <a:latin typeface="Segoe UI" pitchFamily="34" charset="0"/>
                <a:ea typeface="Segoe UI" pitchFamily="34" charset="-122"/>
                <a:cs typeface="Segoe UI" pitchFamily="34" charset="-120"/>
              </a:rPr>
              <a:t>٩ — نموذج الإيرادات بشفافية (الوضع والمقترح الأساسي)</a:t>
            </a:r>
            <a:endParaRPr lang="en-US" sz="2400" dirty="0"/>
          </a:p>
        </p:txBody>
      </p:sp>
      <p:sp>
        <p:nvSpPr>
          <p:cNvPr id="5" name="Shape 3"/>
          <p:cNvSpPr/>
          <p:nvPr/>
        </p:nvSpPr>
        <p:spPr>
          <a:xfrm>
            <a:off x="411480" y="822960"/>
            <a:ext cx="11368735" cy="32004"/>
          </a:xfrm>
          <a:prstGeom prst="rect">
            <a:avLst/>
          </a:prstGeom>
          <a:solidFill>
            <a:srgbClr val="0F766E"/>
          </a:solidFill>
          <a:ln/>
        </p:spPr>
      </p:sp>
      <p:sp>
        <p:nvSpPr>
          <p:cNvPr id="6" name="Text 4"/>
          <p:cNvSpPr/>
          <p:nvPr/>
        </p:nvSpPr>
        <p:spPr>
          <a:xfrm>
            <a:off x="411480" y="960120"/>
            <a:ext cx="11368735" cy="457200"/>
          </a:xfrm>
          <a:prstGeom prst="rect">
            <a:avLst/>
          </a:prstGeom>
          <a:noFill/>
          <a:ln/>
        </p:spPr>
        <p:txBody>
          <a:bodyPr wrap="square" rtlCol="0" anchor="ctr"/>
          <a:lstStyle/>
          <a:p>
            <a:pPr rtl="1" algn="r" indent="0" marL="0">
              <a:buNone/>
            </a:pPr>
            <a:r>
              <a:rPr lang="en-US" sz="1300" dirty="0">
                <a:solidFill>
                  <a:srgbClr val="475569"/>
                </a:solidFill>
                <a:latin typeface="Segoe UI" pitchFamily="34" charset="0"/>
                <a:ea typeface="Segoe UI" pitchFamily="34" charset="-122"/>
                <a:cs typeface="Segoe UI" pitchFamily="34" charset="-120"/>
              </a:rPr>
              <a:t>ما يعمل اليوم · وما يُقترح للشراكة — بلا مبالغة.</a:t>
            </a:r>
            <a:endParaRPr lang="en-US" sz="13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11480" y="1463040"/>
          <a:ext cx="11368735" cy="914400"/>
        </p:xfrm>
        <a:graphic>
          <a:graphicData uri="http://schemas.openxmlformats.org/drawingml/2006/table">
            <a:tbl>
              <a:tblPr/>
              <a:tblGrid>
                <a:gridCol w="3840480"/>
                <a:gridCol w="3200400"/>
                <a:gridCol w="4373575"/>
              </a:tblGrid>
              <a:tr h="0">
                <a:tc>
                  <a:txBody>
                    <a:bodyPr/>
                    <a:lstStyle/>
                    <a:p>
                      <a:pPr algn="r" indent="0" marL="0">
                        <a:buNone/>
                      </a:pPr>
                      <a:r>
                        <a:rPr lang="en-US" sz="1200" b="1" dirty="0">
                          <a:solidFill>
                            <a:srgbClr val="FFFFFF"/>
                          </a:solidFill>
                          <a:latin typeface="Segoe UI" pitchFamily="34" charset="0"/>
                          <a:ea typeface="Segoe UI" pitchFamily="34" charset="-122"/>
                          <a:cs typeface="Segoe UI" pitchFamily="34" charset="-120"/>
                        </a:rPr>
                        <a:t>البند</a:t>
                      </a:r>
                      <a:endParaRPr lang="en-US" sz="1200" dirty="0">
                        <a:latin typeface="Segoe UI" charset="0"/>
                        <a:ea typeface="Segoe UI" charset="0"/>
                        <a:cs typeface="Segoe UI" charset="0"/>
                      </a:endParaRPr>
                    </a:p>
                  </a:txBody>
                  <a:tcPr marL="91440" marR="91440" marT="45720" marB="45720" anchor="ctr">
                    <a:lnL w="0" cap="flat" cmpd="sng" algn="ctr">
                      <a:noFill/>
                    </a:lnL>
                    <a:lnR w="0" cap="flat" cmpd="sng" algn="ctr">
                      <a:noFill/>
                    </a:lnR>
                    <a:lnT w="6350" cap="flat" cmpd="sng" algn="ctr">
                      <a:solidFill>
                        <a:srgbClr val="D6D3D1"/>
                      </a:solidFill>
                      <a:prstDash val="solid"/>
                      <a:round/>
                      <a:headEnd type="none" w="med" len="med"/>
                      <a:tailEnd type="none" w="med" len="med"/>
                    </a:lnT>
                    <a:lnB w="0" cap="flat" cmpd="sng" algn="ctr">
                      <a:noFill/>
                    </a:lnB>
                    <a:solidFill>
                      <a:srgbClr val="0B1F4D"/>
                    </a:solidFill>
                  </a:tcPr>
                </a:tc>
                <a:tc>
                  <a:txBody>
                    <a:bodyPr/>
                    <a:lstStyle/>
                    <a:p>
                      <a:pPr algn="r" indent="0" marL="0">
                        <a:buNone/>
                      </a:pPr>
                      <a:r>
                        <a:rPr lang="en-US" sz="1200" b="1" dirty="0">
                          <a:solidFill>
                            <a:srgbClr val="FFFFFF"/>
                          </a:solidFill>
                          <a:latin typeface="Segoe UI" pitchFamily="34" charset="0"/>
                          <a:ea typeface="Segoe UI" pitchFamily="34" charset="-122"/>
                          <a:cs typeface="Segoe UI" pitchFamily="34" charset="-120"/>
                        </a:rPr>
                        <a:t>المقترح الأساسي</a:t>
                      </a:r>
                      <a:endParaRPr lang="en-US" sz="1200" dirty="0">
                        <a:latin typeface="Segoe UI" charset="0"/>
                        <a:ea typeface="Segoe UI" charset="0"/>
                        <a:cs typeface="Segoe UI" charset="0"/>
                      </a:endParaRPr>
                    </a:p>
                  </a:txBody>
                  <a:tcPr marL="91440" marR="91440" marT="45720" marB="45720" anchor="ctr">
                    <a:lnL w="0" cap="flat" cmpd="sng" algn="ctr">
                      <a:noFill/>
                    </a:lnL>
                    <a:lnR w="0" cap="flat" cmpd="sng" algn="ctr">
                      <a:noFill/>
                    </a:lnR>
                    <a:lnT w="6350" cap="flat" cmpd="sng" algn="ctr">
                      <a:solidFill>
                        <a:srgbClr val="D6D3D1"/>
                      </a:solidFill>
                      <a:prstDash val="solid"/>
                      <a:round/>
                      <a:headEnd type="none" w="med" len="med"/>
                      <a:tailEnd type="none" w="med" len="med"/>
                    </a:lnT>
                    <a:lnB w="0" cap="flat" cmpd="sng" algn="ctr">
                      <a:noFill/>
                    </a:lnB>
                    <a:solidFill>
                      <a:srgbClr val="0B1F4D"/>
                    </a:solidFill>
                  </a:tcPr>
                </a:tc>
                <a:tc>
                  <a:txBody>
                    <a:bodyPr/>
                    <a:lstStyle/>
                    <a:p>
                      <a:pPr algn="r" indent="0" marL="0">
                        <a:buNone/>
                      </a:pPr>
                      <a:r>
                        <a:rPr lang="en-US" sz="1200" b="1" dirty="0">
                          <a:solidFill>
                            <a:srgbClr val="FFFFFF"/>
                          </a:solidFill>
                          <a:latin typeface="Segoe UI" pitchFamily="34" charset="0"/>
                          <a:ea typeface="Segoe UI" pitchFamily="34" charset="-122"/>
                          <a:cs typeface="Segoe UI" pitchFamily="34" charset="-120"/>
                        </a:rPr>
                        <a:t>ملاحظات</a:t>
                      </a:r>
                      <a:endParaRPr lang="en-US" sz="1200" dirty="0">
                        <a:latin typeface="Segoe UI" charset="0"/>
                        <a:ea typeface="Segoe UI" charset="0"/>
                        <a:cs typeface="Segoe UI" charset="0"/>
                      </a:endParaRPr>
                    </a:p>
                  </a:txBody>
                  <a:tcPr marL="91440" marR="91440" marT="45720" marB="45720" anchor="ctr">
                    <a:lnL w="0" cap="flat" cmpd="sng" algn="ctr">
                      <a:noFill/>
                    </a:lnL>
                    <a:lnR w="0" cap="flat" cmpd="sng" algn="ctr">
                      <a:noFill/>
                    </a:lnR>
                    <a:lnT w="6350" cap="flat" cmpd="sng" algn="ctr">
                      <a:solidFill>
                        <a:srgbClr val="D6D3D1"/>
                      </a:solidFill>
                      <a:prstDash val="solid"/>
                      <a:round/>
                      <a:headEnd type="none" w="med" len="med"/>
                      <a:tailEnd type="none" w="med" len="med"/>
                    </a:lnT>
                    <a:lnB w="0" cap="flat" cmpd="sng" algn="ctr">
                      <a:noFill/>
                    </a:lnB>
                    <a:solidFill>
                      <a:srgbClr val="0B1F4D"/>
                    </a:solidFill>
                  </a:tcPr>
                </a:tc>
              </a:tr>
              <a:tr h="0">
                <a:tc>
                  <a:txBody>
                    <a:bodyPr/>
                    <a:lstStyle/>
                    <a:p>
                      <a:pPr algn="r" indent="0" marL="0">
                        <a:buNone/>
                      </a:pPr>
                      <a:r>
                        <a:rPr lang="en-US" sz="1200" dirty="0">
                          <a:solidFill>
                            <a:srgbClr val="0F172A"/>
                          </a:solidFill>
                          <a:latin typeface="Segoe UI" pitchFamily="34" charset="0"/>
                          <a:ea typeface="Segoe UI" pitchFamily="34" charset="-122"/>
                          <a:cs typeface="Segoe UI" pitchFamily="34" charset="-120"/>
                        </a:rPr>
                        <a:t>عمولة على طلب Escrow ناجح</a:t>
                      </a:r>
                      <a:endParaRPr lang="en-US" sz="1200" dirty="0">
                        <a:latin typeface="Segoe UI" charset="0"/>
                        <a:ea typeface="Segoe UI" charset="0"/>
                        <a:cs typeface="Segoe UI" charset="0"/>
                      </a:endParaRPr>
                    </a:p>
                  </a:txBody>
                  <a:tcPr marL="91440" marR="91440" marT="45720" marB="45720" anchor="ctr">
                    <a:lnL w="0" cap="flat" cmpd="sng" algn="ctr">
                      <a:noFill/>
                    </a:lnL>
                    <a:lnR w="0" cap="flat" cmpd="sng" algn="ctr">
                      <a:noFill/>
                    </a:lnR>
                    <a:lnT w="6350" cap="flat" cmpd="sng" algn="ctr">
                      <a:solidFill>
                        <a:srgbClr val="D6D3D1"/>
                      </a:solidFill>
                      <a:prstDash val="solid"/>
                      <a:round/>
                      <a:headEnd type="none" w="med" len="med"/>
                      <a:tailEnd type="none" w="med" len="med"/>
                    </a:lnT>
                    <a:lnB w="0" cap="flat" cmpd="sng" algn="ctr">
                      <a:noFill/>
                    </a:lnB>
                    <a:solidFill>
                      <a:srgbClr val="FFFFFF"/>
                    </a:solidFill>
                  </a:tcPr>
                </a:tc>
                <a:tc>
                  <a:txBody>
                    <a:bodyPr/>
                    <a:lstStyle/>
                    <a:p>
                      <a:pPr algn="r" indent="0" marL="0">
                        <a:buNone/>
                      </a:pPr>
                      <a:r>
                        <a:rPr lang="en-US" sz="1200" dirty="0">
                          <a:solidFill>
                            <a:srgbClr val="0F172A"/>
                          </a:solidFill>
                          <a:latin typeface="Segoe UI" pitchFamily="34" charset="0"/>
                          <a:ea typeface="Segoe UI" pitchFamily="34" charset="-122"/>
                          <a:cs typeface="Segoe UI" pitchFamily="34" charset="-120"/>
                        </a:rPr>
                        <a:t>٥–١٥٪</a:t>
                      </a:r>
                      <a:endParaRPr lang="en-US" sz="1200" dirty="0">
                        <a:latin typeface="Segoe UI" charset="0"/>
                        <a:ea typeface="Segoe UI" charset="0"/>
                        <a:cs typeface="Segoe UI" charset="0"/>
                      </a:endParaRPr>
                    </a:p>
                  </a:txBody>
                  <a:tcPr marL="91440" marR="91440" marT="45720" marB="45720" anchor="ctr">
                    <a:lnL w="0" cap="flat" cmpd="sng" algn="ctr">
                      <a:noFill/>
                    </a:lnL>
                    <a:lnR w="0" cap="flat" cmpd="sng" algn="ctr">
                      <a:noFill/>
                    </a:lnR>
                    <a:lnT w="6350" cap="flat" cmpd="sng" algn="ctr">
                      <a:solidFill>
                        <a:srgbClr val="D6D3D1"/>
                      </a:solidFill>
                      <a:prstDash val="solid"/>
                      <a:round/>
                      <a:headEnd type="none" w="med" len="med"/>
                      <a:tailEnd type="none" w="med" len="med"/>
                    </a:lnT>
                    <a:lnB w="0" cap="flat" cmpd="sng" algn="ctr">
                      <a:noFill/>
                    </a:lnB>
                    <a:solidFill>
                      <a:srgbClr val="FFFFFF"/>
                    </a:solidFill>
                  </a:tcPr>
                </a:tc>
                <a:tc>
                  <a:txBody>
                    <a:bodyPr/>
                    <a:lstStyle/>
                    <a:p>
                      <a:pPr algn="r" indent="0" marL="0">
                        <a:buNone/>
                      </a:pPr>
                      <a:r>
                        <a:rPr lang="en-US" sz="1200" dirty="0">
                          <a:solidFill>
                            <a:srgbClr val="0F172A"/>
                          </a:solidFill>
                          <a:latin typeface="Segoe UI" pitchFamily="34" charset="0"/>
                          <a:ea typeface="Segoe UI" pitchFamily="34" charset="-122"/>
                          <a:cs typeface="Segoe UI" pitchFamily="34" charset="-120"/>
                        </a:rPr>
                        <a:t>تُناقش حسب حجم الكتالوج</a:t>
                      </a:r>
                      <a:endParaRPr lang="en-US" sz="1200" dirty="0">
                        <a:latin typeface="Segoe UI" charset="0"/>
                        <a:ea typeface="Segoe UI" charset="0"/>
                        <a:cs typeface="Segoe UI" charset="0"/>
                      </a:endParaRPr>
                    </a:p>
                  </a:txBody>
                  <a:tcPr marL="91440" marR="91440" marT="45720" marB="45720" anchor="ctr">
                    <a:lnL w="0" cap="flat" cmpd="sng" algn="ctr">
                      <a:noFill/>
                    </a:lnL>
                    <a:lnR w="0" cap="flat" cmpd="sng" algn="ctr">
                      <a:noFill/>
                    </a:lnR>
                    <a:lnT w="6350" cap="flat" cmpd="sng" algn="ctr">
                      <a:solidFill>
                        <a:srgbClr val="D6D3D1"/>
                      </a:solidFill>
                      <a:prstDash val="solid"/>
                      <a:round/>
                      <a:headEnd type="none" w="med" len="med"/>
                      <a:tailEnd type="none" w="med" len="med"/>
                    </a:lnT>
                    <a:lnB w="0" cap="flat" cmpd="sng" algn="ctr">
                      <a:noFill/>
                    </a:lnB>
                    <a:solidFill>
                      <a:srgbClr val="FFFFFF"/>
                    </a:solidFill>
                  </a:tcPr>
                </a:tc>
              </a:tr>
              <a:tr h="0">
                <a:tc>
                  <a:txBody>
                    <a:bodyPr/>
                    <a:lstStyle/>
                    <a:p>
                      <a:pPr algn="r" indent="0" marL="0">
                        <a:buNone/>
                      </a:pPr>
                      <a:r>
                        <a:rPr lang="en-US" sz="1200" dirty="0">
                          <a:solidFill>
                            <a:srgbClr val="0F172A"/>
                          </a:solidFill>
                          <a:latin typeface="Segoe UI" pitchFamily="34" charset="0"/>
                          <a:ea typeface="Segoe UI" pitchFamily="34" charset="-122"/>
                          <a:cs typeface="Segoe UI" pitchFamily="34" charset="-120"/>
                        </a:rPr>
                        <a:t>مثال</a:t>
                      </a:r>
                      <a:endParaRPr lang="en-US" sz="1200" dirty="0">
                        <a:latin typeface="Segoe UI" charset="0"/>
                        <a:ea typeface="Segoe UI" charset="0"/>
                        <a:cs typeface="Segoe UI" charset="0"/>
                      </a:endParaRPr>
                    </a:p>
                  </a:txBody>
                  <a:tcPr marL="91440" marR="91440" marT="45720" marB="45720" anchor="ctr">
                    <a:lnL w="0" cap="flat" cmpd="sng" algn="ctr">
                      <a:noFill/>
                    </a:lnL>
                    <a:lnR w="0" cap="flat" cmpd="sng" algn="ctr">
                      <a:noFill/>
                    </a:lnR>
                    <a:lnT w="6350" cap="flat" cmpd="sng" algn="ctr">
                      <a:solidFill>
                        <a:srgbClr val="D6D3D1"/>
                      </a:solidFill>
                      <a:prstDash val="solid"/>
                      <a:round/>
                      <a:headEnd type="none" w="med" len="med"/>
                      <a:tailEnd type="none" w="med" len="med"/>
                    </a:lnT>
                    <a:lnB w="0" cap="flat" cmpd="sng" algn="ctr">
                      <a:noFill/>
                    </a:lnB>
                    <a:solidFill>
                      <a:srgbClr val="FFFFFF"/>
                    </a:solidFill>
                  </a:tcPr>
                </a:tc>
                <a:tc>
                  <a:txBody>
                    <a:bodyPr/>
                    <a:lstStyle/>
                    <a:p>
                      <a:pPr algn="r" indent="0" marL="0">
                        <a:buNone/>
                      </a:pPr>
                      <a:r>
                        <a:rPr lang="en-US" sz="1200" dirty="0">
                          <a:solidFill>
                            <a:srgbClr val="0F172A"/>
                          </a:solidFill>
                          <a:latin typeface="Segoe UI" pitchFamily="34" charset="0"/>
                          <a:ea typeface="Segoe UI" pitchFamily="34" charset="-122"/>
                          <a:cs typeface="Segoe UI" pitchFamily="34" charset="-120"/>
                        </a:rPr>
                        <a:t>٨٠٠ ج.م × ٨٪ ≈ ٦٤ ج.م</a:t>
                      </a:r>
                      <a:endParaRPr lang="en-US" sz="1200" dirty="0">
                        <a:latin typeface="Segoe UI" charset="0"/>
                        <a:ea typeface="Segoe UI" charset="0"/>
                        <a:cs typeface="Segoe UI" charset="0"/>
                      </a:endParaRPr>
                    </a:p>
                  </a:txBody>
                  <a:tcPr marL="91440" marR="91440" marT="45720" marB="45720" anchor="ctr">
                    <a:lnL w="0" cap="flat" cmpd="sng" algn="ctr">
                      <a:noFill/>
                    </a:lnL>
                    <a:lnR w="0" cap="flat" cmpd="sng" algn="ctr">
                      <a:noFill/>
                    </a:lnR>
                    <a:lnT w="6350" cap="flat" cmpd="sng" algn="ctr">
                      <a:solidFill>
                        <a:srgbClr val="D6D3D1"/>
                      </a:solidFill>
                      <a:prstDash val="solid"/>
                      <a:round/>
                      <a:headEnd type="none" w="med" len="med"/>
                      <a:tailEnd type="none" w="med" len="med"/>
                    </a:lnT>
                    <a:lnB w="0" cap="flat" cmpd="sng" algn="ctr">
                      <a:noFill/>
                    </a:lnB>
                    <a:solidFill>
                      <a:srgbClr val="FFFFFF"/>
                    </a:solidFill>
                  </a:tcPr>
                </a:tc>
                <a:tc>
                  <a:txBody>
                    <a:bodyPr/>
                    <a:lstStyle/>
                    <a:p>
                      <a:pPr algn="r" indent="0" marL="0">
                        <a:buNone/>
                      </a:pPr>
                      <a:r>
                        <a:rPr lang="en-US" sz="1200" dirty="0">
                          <a:solidFill>
                            <a:srgbClr val="0F172A"/>
                          </a:solidFill>
                          <a:latin typeface="Segoe UI" pitchFamily="34" charset="0"/>
                          <a:ea typeface="Segoe UI" pitchFamily="34" charset="-122"/>
                          <a:cs typeface="Segoe UI" pitchFamily="34" charset="-120"/>
                        </a:rPr>
                        <a:t>للمنصة · صافيك بعد الاتفاق</a:t>
                      </a:r>
                      <a:endParaRPr lang="en-US" sz="1200" dirty="0">
                        <a:latin typeface="Segoe UI" charset="0"/>
                        <a:ea typeface="Segoe UI" charset="0"/>
                        <a:cs typeface="Segoe UI" charset="0"/>
                      </a:endParaRPr>
                    </a:p>
                  </a:txBody>
                  <a:tcPr marL="91440" marR="91440" marT="45720" marB="45720" anchor="ctr">
                    <a:lnL w="0" cap="flat" cmpd="sng" algn="ctr">
                      <a:noFill/>
                    </a:lnL>
                    <a:lnR w="0" cap="flat" cmpd="sng" algn="ctr">
                      <a:noFill/>
                    </a:lnR>
                    <a:lnT w="6350" cap="flat" cmpd="sng" algn="ctr">
                      <a:solidFill>
                        <a:srgbClr val="D6D3D1"/>
                      </a:solidFill>
                      <a:prstDash val="solid"/>
                      <a:round/>
                      <a:headEnd type="none" w="med" len="med"/>
                      <a:tailEnd type="none" w="med" len="med"/>
                    </a:lnT>
                    <a:lnB w="0" cap="flat" cmpd="sng" algn="ctr">
                      <a:noFill/>
                    </a:lnB>
                    <a:solidFill>
                      <a:srgbClr val="FFFFFF"/>
                    </a:solidFill>
                  </a:tcPr>
                </a:tc>
              </a:tr>
              <a:tr h="0">
                <a:tc>
                  <a:txBody>
                    <a:bodyPr/>
                    <a:lstStyle/>
                    <a:p>
                      <a:pPr algn="r" indent="0" marL="0">
                        <a:buNone/>
                      </a:pPr>
                      <a:r>
                        <a:rPr lang="en-US" sz="1200" dirty="0">
                          <a:solidFill>
                            <a:srgbClr val="0F172A"/>
                          </a:solidFill>
                          <a:latin typeface="Segoe UI" pitchFamily="34" charset="0"/>
                          <a:ea typeface="Segoe UI" pitchFamily="34" charset="-122"/>
                          <a:cs typeface="Segoe UI" pitchFamily="34" charset="-120"/>
                        </a:rPr>
                        <a:t>دليل Directory (تواصل فقط)</a:t>
                      </a:r>
                      <a:endParaRPr lang="en-US" sz="1200" dirty="0">
                        <a:latin typeface="Segoe UI" charset="0"/>
                        <a:ea typeface="Segoe UI" charset="0"/>
                        <a:cs typeface="Segoe UI" charset="0"/>
                      </a:endParaRPr>
                    </a:p>
                  </a:txBody>
                  <a:tcPr marL="91440" marR="91440" marT="45720" marB="45720" anchor="ctr">
                    <a:lnL w="0" cap="flat" cmpd="sng" algn="ctr">
                      <a:noFill/>
                    </a:lnL>
                    <a:lnR w="0" cap="flat" cmpd="sng" algn="ctr">
                      <a:noFill/>
                    </a:lnR>
                    <a:lnT w="6350" cap="flat" cmpd="sng" algn="ctr">
                      <a:solidFill>
                        <a:srgbClr val="D6D3D1"/>
                      </a:solidFill>
                      <a:prstDash val="solid"/>
                      <a:round/>
                      <a:headEnd type="none" w="med" len="med"/>
                      <a:tailEnd type="none" w="med" len="med"/>
                    </a:lnT>
                    <a:lnB w="0" cap="flat" cmpd="sng" algn="ctr">
                      <a:noFill/>
                    </a:lnB>
                    <a:solidFill>
                      <a:srgbClr val="FFFFFF"/>
                    </a:solidFill>
                  </a:tcPr>
                </a:tc>
                <a:tc>
                  <a:txBody>
                    <a:bodyPr/>
                    <a:lstStyle/>
                    <a:p>
                      <a:pPr algn="r" indent="0" marL="0">
                        <a:buNone/>
                      </a:pPr>
                      <a:r>
                        <a:rPr lang="en-US" sz="1200" dirty="0">
                          <a:solidFill>
                            <a:srgbClr val="0F172A"/>
                          </a:solidFill>
                          <a:latin typeface="Segoe UI" pitchFamily="34" charset="0"/>
                          <a:ea typeface="Segoe UI" pitchFamily="34" charset="-122"/>
                          <a:cs typeface="Segoe UI" pitchFamily="34" charset="-120"/>
                        </a:rPr>
                        <a:t>مجاني أو اشتراك خفيف</a:t>
                      </a:r>
                      <a:endParaRPr lang="en-US" sz="1200" dirty="0">
                        <a:latin typeface="Segoe UI" charset="0"/>
                        <a:ea typeface="Segoe UI" charset="0"/>
                        <a:cs typeface="Segoe UI" charset="0"/>
                      </a:endParaRPr>
                    </a:p>
                  </a:txBody>
                  <a:tcPr marL="91440" marR="91440" marT="45720" marB="45720" anchor="ctr">
                    <a:lnL w="0" cap="flat" cmpd="sng" algn="ctr">
                      <a:noFill/>
                    </a:lnL>
                    <a:lnR w="0" cap="flat" cmpd="sng" algn="ctr">
                      <a:noFill/>
                    </a:lnR>
                    <a:lnT w="6350" cap="flat" cmpd="sng" algn="ctr">
                      <a:solidFill>
                        <a:srgbClr val="D6D3D1"/>
                      </a:solidFill>
                      <a:prstDash val="solid"/>
                      <a:round/>
                      <a:headEnd type="none" w="med" len="med"/>
                      <a:tailEnd type="none" w="med" len="med"/>
                    </a:lnT>
                    <a:lnB w="0" cap="flat" cmpd="sng" algn="ctr">
                      <a:noFill/>
                    </a:lnB>
                    <a:solidFill>
                      <a:srgbClr val="FFFFFF"/>
                    </a:solidFill>
                  </a:tcPr>
                </a:tc>
                <a:tc>
                  <a:txBody>
                    <a:bodyPr/>
                    <a:lstStyle/>
                    <a:p>
                      <a:pPr algn="r" indent="0" marL="0">
                        <a:buNone/>
                      </a:pPr>
                      <a:r>
                        <a:rPr lang="en-US" sz="1200" dirty="0">
                          <a:solidFill>
                            <a:srgbClr val="0F172A"/>
                          </a:solidFill>
                          <a:latin typeface="Segoe UI" pitchFamily="34" charset="0"/>
                          <a:ea typeface="Segoe UI" pitchFamily="34" charset="-122"/>
                          <a:cs typeface="Segoe UI" pitchFamily="34" charset="-120"/>
                        </a:rPr>
                        <a:t>لا عمولة شراء إن لم يمر عبر Escrow</a:t>
                      </a:r>
                      <a:endParaRPr lang="en-US" sz="1200" dirty="0">
                        <a:latin typeface="Segoe UI" charset="0"/>
                        <a:ea typeface="Segoe UI" charset="0"/>
                        <a:cs typeface="Segoe UI" charset="0"/>
                      </a:endParaRPr>
                    </a:p>
                  </a:txBody>
                  <a:tcPr marL="91440" marR="91440" marT="45720" marB="45720" anchor="ctr">
                    <a:lnL w="0" cap="flat" cmpd="sng" algn="ctr">
                      <a:noFill/>
                    </a:lnL>
                    <a:lnR w="0" cap="flat" cmpd="sng" algn="ctr">
                      <a:noFill/>
                    </a:lnR>
                    <a:lnT w="6350" cap="flat" cmpd="sng" algn="ctr">
                      <a:solidFill>
                        <a:srgbClr val="D6D3D1"/>
                      </a:solidFill>
                      <a:prstDash val="solid"/>
                      <a:round/>
                      <a:headEnd type="none" w="med" len="med"/>
                      <a:tailEnd type="none" w="med" len="med"/>
                    </a:lnT>
                    <a:lnB w="0" cap="flat" cmpd="sng" algn="ctr">
                      <a:noFill/>
                    </a:lnB>
                    <a:solidFill>
                      <a:srgbClr val="FFFFFF"/>
                    </a:solidFill>
                  </a:tcPr>
                </a:tc>
              </a:tr>
              <a:tr h="0">
                <a:tc>
                  <a:txBody>
                    <a:bodyPr/>
                    <a:lstStyle/>
                    <a:p>
                      <a:pPr algn="r" indent="0" marL="0">
                        <a:buNone/>
                      </a:pPr>
                      <a:r>
                        <a:rPr lang="en-US" sz="1200" dirty="0">
                          <a:solidFill>
                            <a:srgbClr val="0F172A"/>
                          </a:solidFill>
                          <a:latin typeface="Segoe UI" pitchFamily="34" charset="0"/>
                          <a:ea typeface="Segoe UI" pitchFamily="34" charset="-122"/>
                          <a:cs typeface="Segoe UI" pitchFamily="34" charset="-120"/>
                        </a:rPr>
                        <a:t>استيراد كتالوج</a:t>
                      </a:r>
                      <a:endParaRPr lang="en-US" sz="1200" dirty="0">
                        <a:latin typeface="Segoe UI" charset="0"/>
                        <a:ea typeface="Segoe UI" charset="0"/>
                        <a:cs typeface="Segoe UI" charset="0"/>
                      </a:endParaRPr>
                    </a:p>
                  </a:txBody>
                  <a:tcPr marL="91440" marR="91440" marT="45720" marB="45720" anchor="ctr">
                    <a:lnL w="0" cap="flat" cmpd="sng" algn="ctr">
                      <a:noFill/>
                    </a:lnL>
                    <a:lnR w="0" cap="flat" cmpd="sng" algn="ctr">
                      <a:noFill/>
                    </a:lnR>
                    <a:lnT w="6350" cap="flat" cmpd="sng" algn="ctr">
                      <a:solidFill>
                        <a:srgbClr val="D6D3D1"/>
                      </a:solidFill>
                      <a:prstDash val="solid"/>
                      <a:round/>
                      <a:headEnd type="none" w="med" len="med"/>
                      <a:tailEnd type="none" w="med" len="med"/>
                    </a:lnT>
                    <a:lnB w="0" cap="flat" cmpd="sng" algn="ctr">
                      <a:noFill/>
                    </a:lnB>
                    <a:solidFill>
                      <a:srgbClr val="FFFFFF"/>
                    </a:solidFill>
                  </a:tcPr>
                </a:tc>
                <a:tc>
                  <a:txBody>
                    <a:bodyPr/>
                    <a:lstStyle/>
                    <a:p>
                      <a:pPr algn="r" indent="0" marL="0">
                        <a:buNone/>
                      </a:pPr>
                      <a:r>
                        <a:rPr lang="en-US" sz="1200" dirty="0">
                          <a:solidFill>
                            <a:srgbClr val="0F172A"/>
                          </a:solidFill>
                          <a:latin typeface="Segoe UI" pitchFamily="34" charset="0"/>
                          <a:ea typeface="Segoe UI" pitchFamily="34" charset="-122"/>
                          <a:cs typeface="Segoe UI" pitchFamily="34" charset="-120"/>
                        </a:rPr>
                        <a:t>رسوم لمرة واحدة</a:t>
                      </a:r>
                      <a:endParaRPr lang="en-US" sz="1200" dirty="0">
                        <a:latin typeface="Segoe UI" charset="0"/>
                        <a:ea typeface="Segoe UI" charset="0"/>
                        <a:cs typeface="Segoe UI" charset="0"/>
                      </a:endParaRPr>
                    </a:p>
                  </a:txBody>
                  <a:tcPr marL="91440" marR="91440" marT="45720" marB="45720" anchor="ctr">
                    <a:lnL w="0" cap="flat" cmpd="sng" algn="ctr">
                      <a:noFill/>
                    </a:lnL>
                    <a:lnR w="0" cap="flat" cmpd="sng" algn="ctr">
                      <a:noFill/>
                    </a:lnR>
                    <a:lnT w="6350" cap="flat" cmpd="sng" algn="ctr">
                      <a:solidFill>
                        <a:srgbClr val="D6D3D1"/>
                      </a:solidFill>
                      <a:prstDash val="solid"/>
                      <a:round/>
                      <a:headEnd type="none" w="med" len="med"/>
                      <a:tailEnd type="none" w="med" len="med"/>
                    </a:lnT>
                    <a:lnB w="0" cap="flat" cmpd="sng" algn="ctr">
                      <a:noFill/>
                    </a:lnB>
                    <a:solidFill>
                      <a:srgbClr val="FFFFFF"/>
                    </a:solidFill>
                  </a:tcPr>
                </a:tc>
                <a:tc>
                  <a:txBody>
                    <a:bodyPr/>
                    <a:lstStyle/>
                    <a:p>
                      <a:pPr algn="r" indent="0" marL="0">
                        <a:buNone/>
                      </a:pPr>
                      <a:r>
                        <a:rPr lang="en-US" sz="1200" dirty="0">
                          <a:solidFill>
                            <a:srgbClr val="0F172A"/>
                          </a:solidFill>
                          <a:latin typeface="Segoe UI" pitchFamily="34" charset="0"/>
                          <a:ea typeface="Segoe UI" pitchFamily="34" charset="-122"/>
                          <a:cs typeface="Segoe UI" pitchFamily="34" charset="-120"/>
                        </a:rPr>
                        <a:t>مزامنة WooCommerce / CSV</a:t>
                      </a:r>
                      <a:endParaRPr lang="en-US" sz="1200" dirty="0">
                        <a:latin typeface="Segoe UI" charset="0"/>
                        <a:ea typeface="Segoe UI" charset="0"/>
                        <a:cs typeface="Segoe UI" charset="0"/>
                      </a:endParaRPr>
                    </a:p>
                  </a:txBody>
                  <a:tcPr marL="91440" marR="91440" marT="45720" marB="45720" anchor="ctr">
                    <a:lnL w="0" cap="flat" cmpd="sng" algn="ctr">
                      <a:noFill/>
                    </a:lnL>
                    <a:lnR w="0" cap="flat" cmpd="sng" algn="ctr">
                      <a:noFill/>
                    </a:lnR>
                    <a:lnT w="6350" cap="flat" cmpd="sng" algn="ctr">
                      <a:solidFill>
                        <a:srgbClr val="D6D3D1"/>
                      </a:solidFill>
                      <a:prstDash val="solid"/>
                      <a:round/>
                      <a:headEnd type="none" w="med" len="med"/>
                      <a:tailEnd type="none" w="med" len="med"/>
                    </a:lnT>
                    <a:lnB w="0" cap="flat" cmpd="sng" algn="ctr">
                      <a:noFill/>
                    </a:lnB>
                    <a:solidFill>
                      <a:srgbClr val="FFFFFF"/>
                    </a:solidFill>
                  </a:tcPr>
                </a:tc>
              </a:tr>
            </a:tbl>
          </a:graphicData>
        </a:graphic>
      </p:graphicFrame>
      <p:sp>
        <p:nvSpPr>
          <p:cNvPr id="8" name="Shape 5"/>
          <p:cNvSpPr/>
          <p:nvPr/>
        </p:nvSpPr>
        <p:spPr>
          <a:xfrm>
            <a:off x="411480" y="3977640"/>
            <a:ext cx="11368735" cy="1965960"/>
          </a:xfrm>
          <a:prstGeom prst="roundRect">
            <a:avLst>
              <a:gd name="adj" fmla="val 4651"/>
            </a:avLst>
          </a:prstGeom>
          <a:solidFill>
            <a:srgbClr val="FFFBEB"/>
          </a:solidFill>
          <a:ln w="12700">
            <a:solidFill>
              <a:srgbClr val="B45309"/>
            </a:solidFill>
            <a:prstDash val="solid"/>
          </a:ln>
        </p:spPr>
      </p:sp>
      <p:sp>
        <p:nvSpPr>
          <p:cNvPr id="9" name="Text 6"/>
          <p:cNvSpPr/>
          <p:nvPr/>
        </p:nvSpPr>
        <p:spPr>
          <a:xfrm>
            <a:off x="685800" y="4114800"/>
            <a:ext cx="10820095" cy="320040"/>
          </a:xfrm>
          <a:prstGeom prst="rect">
            <a:avLst/>
          </a:prstGeom>
          <a:noFill/>
          <a:ln/>
        </p:spPr>
        <p:txBody>
          <a:bodyPr wrap="square" rtlCol="0" anchor="ctr"/>
          <a:lstStyle/>
          <a:p>
            <a:pPr rtl="1" algn="r" indent="0" marL="0">
              <a:buNone/>
            </a:pPr>
            <a:r>
              <a:rPr lang="en-US" sz="1500" b="1" dirty="0">
                <a:solidFill>
                  <a:srgbClr val="B45309"/>
                </a:solidFill>
                <a:latin typeface="Segoe UI" pitchFamily="34" charset="0"/>
                <a:ea typeface="Segoe UI" pitchFamily="34" charset="-122"/>
                <a:cs typeface="Segoe UI" pitchFamily="34" charset="-120"/>
              </a:rPr>
              <a:t>شفافية مهمة</a:t>
            </a:r>
            <a:endParaRPr lang="en-US" sz="1500" dirty="0"/>
          </a:p>
        </p:txBody>
      </p:sp>
      <p:sp>
        <p:nvSpPr>
          <p:cNvPr id="10" name="Text 7"/>
          <p:cNvSpPr/>
          <p:nvPr/>
        </p:nvSpPr>
        <p:spPr>
          <a:xfrm>
            <a:off x="685800" y="4526280"/>
            <a:ext cx="10820095" cy="1188720"/>
          </a:xfrm>
          <a:prstGeom prst="rect">
            <a:avLst/>
          </a:prstGeom>
          <a:noFill/>
          <a:ln/>
        </p:spPr>
        <p:txBody>
          <a:bodyPr wrap="square" rtlCol="0" anchor="ctr"/>
          <a:lstStyle/>
          <a:p>
            <a:pPr rtl="1" algn="r" indent="0" marL="0">
              <a:buNone/>
            </a:pPr>
            <a:r>
              <a:rPr lang="en-US" sz="1300" dirty="0">
                <a:solidFill>
                  <a:srgbClr val="0F172A"/>
                </a:solidFill>
                <a:latin typeface="Segoe UI" pitchFamily="34" charset="0"/>
                <a:ea typeface="Segoe UI" pitchFamily="34" charset="-122"/>
                <a:cs typeface="Segoe UI" pitchFamily="34" charset="-120"/>
              </a:rPr>
              <a:t>حالياً لا تُخصم عمولة تلقائياً من بوابة الدفع. التسوية (نسبة لكل طلب أو فاتورة شهرية) تُثبَّت في اتفاق الشراكة. تدفع على نجاح (طلب منفذ) لا على مجرد ظهور. الشريحة التالية تعرض بدائل أغنى لنمو الإيرادات.</a:t>
            </a:r>
            <a:endParaRPr lang="en-US" sz="1300" dirty="0"/>
          </a:p>
        </p:txBody>
      </p:sp>
      <p:sp>
        <p:nvSpPr>
          <p:cNvPr id="11" name="Shape 8"/>
          <p:cNvSpPr/>
          <p:nvPr/>
        </p:nvSpPr>
        <p:spPr>
          <a:xfrm>
            <a:off x="0" y="6510528"/>
            <a:ext cx="12191695" cy="347472"/>
          </a:xfrm>
          <a:prstGeom prst="rect">
            <a:avLst/>
          </a:prstGeom>
          <a:solidFill>
            <a:srgbClr val="F8F5F0"/>
          </a:solidFill>
          <a:ln/>
        </p:spPr>
      </p:sp>
      <p:sp>
        <p:nvSpPr>
          <p:cNvPr id="12" name="Text 9"/>
          <p:cNvSpPr/>
          <p:nvPr/>
        </p:nvSpPr>
        <p:spPr>
          <a:xfrm>
            <a:off x="411480" y="6547104"/>
            <a:ext cx="8229600" cy="256032"/>
          </a:xfrm>
          <a:prstGeom prst="rect">
            <a:avLst/>
          </a:prstGeom>
          <a:noFill/>
          <a:ln/>
        </p:spPr>
        <p:txBody>
          <a:bodyPr wrap="square" rtlCol="0" anchor="ctr"/>
          <a:lstStyle/>
          <a:p>
            <a:pPr rtl="1" algn="r" indent="0" marL="0">
              <a:buNone/>
            </a:pPr>
            <a:r>
              <a:rPr lang="en-US" sz="1000" dirty="0">
                <a:solidFill>
                  <a:srgbClr val="475569"/>
                </a:solidFill>
                <a:latin typeface="Segoe UI" pitchFamily="34" charset="0"/>
                <a:ea typeface="Segoe UI" pitchFamily="34" charset="-122"/>
                <a:cs typeface="Segoe UI" pitchFamily="34" charset="-120"/>
              </a:rPr>
              <a:t>AcadeGate · عرض شراكة الموردين · محدّث ١٩ سبتمبر ٢٠٢٦</a:t>
            </a:r>
            <a:endParaRPr lang="en-US" sz="1000" dirty="0"/>
          </a:p>
        </p:txBody>
      </p:sp>
      <p:sp>
        <p:nvSpPr>
          <p:cNvPr id="13" name="Text 10"/>
          <p:cNvSpPr/>
          <p:nvPr/>
        </p:nvSpPr>
        <p:spPr>
          <a:xfrm>
            <a:off x="10682935" y="6547104"/>
            <a:ext cx="1097280" cy="256032"/>
          </a:xfrm>
          <a:prstGeom prst="rect">
            <a:avLst/>
          </a:prstGeom>
          <a:noFill/>
          <a:ln/>
        </p:spPr>
        <p:txBody>
          <a:bodyPr wrap="square" rtlCol="0" anchor="ctr"/>
          <a:lstStyle/>
          <a:p>
            <a:pPr algn="l" indent="0" marL="0">
              <a:buNone/>
            </a:pPr>
            <a:r>
              <a:rPr lang="en-US" sz="1000" dirty="0">
                <a:solidFill>
                  <a:srgbClr val="475569"/>
                </a:solidFill>
                <a:latin typeface="Segoe UI" pitchFamily="34" charset="0"/>
                <a:ea typeface="Segoe UI" pitchFamily="34" charset="-122"/>
                <a:cs typeface="Segoe UI" pitchFamily="34" charset="-120"/>
              </a:rPr>
              <a:t>12 / 16</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sp>
      <p:sp>
        <p:nvSpPr>
          <p:cNvPr id="3" name="Shape 1"/>
          <p:cNvSpPr/>
          <p:nvPr/>
        </p:nvSpPr>
        <p:spPr>
          <a:xfrm>
            <a:off x="411480" y="256032"/>
            <a:ext cx="109728" cy="502920"/>
          </a:xfrm>
          <a:prstGeom prst="rect">
            <a:avLst/>
          </a:prstGeom>
          <a:solidFill>
            <a:srgbClr val="0F766E"/>
          </a:solidFill>
          <a:ln/>
        </p:spPr>
      </p:sp>
      <p:sp>
        <p:nvSpPr>
          <p:cNvPr id="4" name="Text 2"/>
          <p:cNvSpPr/>
          <p:nvPr/>
        </p:nvSpPr>
        <p:spPr>
          <a:xfrm>
            <a:off x="612648" y="201168"/>
            <a:ext cx="11167567" cy="566928"/>
          </a:xfrm>
          <a:prstGeom prst="rect">
            <a:avLst/>
          </a:prstGeom>
          <a:noFill/>
          <a:ln/>
        </p:spPr>
        <p:txBody>
          <a:bodyPr wrap="square" rtlCol="0" anchor="ctr"/>
          <a:lstStyle/>
          <a:p>
            <a:pPr rtl="1" algn="r" indent="0" marL="0">
              <a:buNone/>
            </a:pPr>
            <a:r>
              <a:rPr lang="en-US" sz="2400" b="1" dirty="0">
                <a:solidFill>
                  <a:srgbClr val="0B1F4D"/>
                </a:solidFill>
                <a:latin typeface="Segoe UI" pitchFamily="34" charset="0"/>
                <a:ea typeface="Segoe UI" pitchFamily="34" charset="-122"/>
                <a:cs typeface="Segoe UI" pitchFamily="34" charset="-120"/>
              </a:rPr>
              <a:t>٩ — مقترحات إضافية لنموذج الإيرادات</a:t>
            </a:r>
            <a:endParaRPr lang="en-US" sz="2400" dirty="0"/>
          </a:p>
        </p:txBody>
      </p:sp>
      <p:sp>
        <p:nvSpPr>
          <p:cNvPr id="5" name="Shape 3"/>
          <p:cNvSpPr/>
          <p:nvPr/>
        </p:nvSpPr>
        <p:spPr>
          <a:xfrm>
            <a:off x="411480" y="822960"/>
            <a:ext cx="11368735" cy="32004"/>
          </a:xfrm>
          <a:prstGeom prst="rect">
            <a:avLst/>
          </a:prstGeom>
          <a:solidFill>
            <a:srgbClr val="0F766E"/>
          </a:solidFill>
          <a:ln/>
        </p:spPr>
      </p:sp>
      <p:sp>
        <p:nvSpPr>
          <p:cNvPr id="6" name="Text 4"/>
          <p:cNvSpPr/>
          <p:nvPr/>
        </p:nvSpPr>
        <p:spPr>
          <a:xfrm>
            <a:off x="411480" y="960120"/>
            <a:ext cx="11368735" cy="457200"/>
          </a:xfrm>
          <a:prstGeom prst="rect">
            <a:avLst/>
          </a:prstGeom>
          <a:noFill/>
          <a:ln/>
        </p:spPr>
        <p:txBody>
          <a:bodyPr wrap="square" rtlCol="0" anchor="ctr"/>
          <a:lstStyle/>
          <a:p>
            <a:pPr rtl="1" algn="r" indent="0" marL="0">
              <a:buNone/>
            </a:pPr>
            <a:r>
              <a:rPr lang="en-US" sz="1300" dirty="0">
                <a:solidFill>
                  <a:srgbClr val="475569"/>
                </a:solidFill>
                <a:latin typeface="Segoe UI" pitchFamily="34" charset="0"/>
                <a:ea typeface="Segoe UI" pitchFamily="34" charset="-122"/>
                <a:cs typeface="Segoe UI" pitchFamily="34" charset="-120"/>
              </a:rPr>
              <a:t>لا نعتمد على عمولة واحدة فقط — مزيج Marketplace + SaaS أنسب للنمو والاستدامة.</a:t>
            </a:r>
            <a:endParaRPr lang="en-US" sz="1300" dirty="0"/>
          </a:p>
        </p:txBody>
      </p:sp>
      <p:sp>
        <p:nvSpPr>
          <p:cNvPr id="7" name="Shape 5"/>
          <p:cNvSpPr/>
          <p:nvPr/>
        </p:nvSpPr>
        <p:spPr>
          <a:xfrm>
            <a:off x="411480" y="1463040"/>
            <a:ext cx="3611880" cy="2011680"/>
          </a:xfrm>
          <a:prstGeom prst="roundRect">
            <a:avLst>
              <a:gd name="adj" fmla="val 4545"/>
            </a:avLst>
          </a:prstGeom>
          <a:solidFill>
            <a:srgbClr val="FFFFFF"/>
          </a:solidFill>
          <a:ln w="12700">
            <a:solidFill>
              <a:srgbClr val="D6D3D1"/>
            </a:solidFill>
            <a:prstDash val="solid"/>
          </a:ln>
        </p:spPr>
      </p:sp>
      <p:sp>
        <p:nvSpPr>
          <p:cNvPr id="8" name="Shape 6"/>
          <p:cNvSpPr/>
          <p:nvPr/>
        </p:nvSpPr>
        <p:spPr>
          <a:xfrm>
            <a:off x="3931920" y="1463040"/>
            <a:ext cx="91440" cy="2011680"/>
          </a:xfrm>
          <a:prstGeom prst="rect">
            <a:avLst/>
          </a:prstGeom>
          <a:solidFill>
            <a:srgbClr val="0B1F4D"/>
          </a:solidFill>
          <a:ln/>
        </p:spPr>
      </p:sp>
      <p:sp>
        <p:nvSpPr>
          <p:cNvPr id="9" name="Text 7"/>
          <p:cNvSpPr/>
          <p:nvPr/>
        </p:nvSpPr>
        <p:spPr>
          <a:xfrm>
            <a:off x="548640" y="1645920"/>
            <a:ext cx="3246120" cy="502920"/>
          </a:xfrm>
          <a:prstGeom prst="rect">
            <a:avLst/>
          </a:prstGeom>
          <a:noFill/>
          <a:ln/>
        </p:spPr>
        <p:txBody>
          <a:bodyPr wrap="square" rtlCol="0" anchor="ctr"/>
          <a:lstStyle/>
          <a:p>
            <a:pPr rtl="1" algn="r" indent="0" marL="0">
              <a:buNone/>
            </a:pPr>
            <a:r>
              <a:rPr lang="en-US" sz="1300" b="1" dirty="0">
                <a:solidFill>
                  <a:srgbClr val="0B1F4D"/>
                </a:solidFill>
                <a:latin typeface="Segoe UI" pitchFamily="34" charset="0"/>
                <a:ea typeface="Segoe UI" pitchFamily="34" charset="-122"/>
                <a:cs typeface="Segoe UI" pitchFamily="34" charset="-120"/>
              </a:rPr>
              <a:t>عمولة متدرجة حسب القسم</a:t>
            </a:r>
            <a:endParaRPr lang="en-US" sz="1300" dirty="0"/>
          </a:p>
        </p:txBody>
      </p:sp>
      <p:sp>
        <p:nvSpPr>
          <p:cNvPr id="10" name="Text 8"/>
          <p:cNvSpPr/>
          <p:nvPr/>
        </p:nvSpPr>
        <p:spPr>
          <a:xfrm>
            <a:off x="548640" y="2240280"/>
            <a:ext cx="3246120" cy="1051560"/>
          </a:xfrm>
          <a:prstGeom prst="rect">
            <a:avLst/>
          </a:prstGeom>
          <a:noFill/>
          <a:ln/>
        </p:spPr>
        <p:txBody>
          <a:bodyPr wrap="square" rtlCol="0" anchor="ctr"/>
          <a:lstStyle/>
          <a:p>
            <a:pPr rtl="1" algn="r" indent="0" marL="0">
              <a:buNone/>
            </a:pPr>
            <a:r>
              <a:rPr lang="en-US" sz="1200" dirty="0">
                <a:solidFill>
                  <a:srgbClr val="475569"/>
                </a:solidFill>
                <a:latin typeface="Segoe UI" pitchFamily="34" charset="0"/>
                <a:ea typeface="Segoe UI" pitchFamily="34" charset="-122"/>
                <a:cs typeface="Segoe UI" pitchFamily="34" charset="-120"/>
              </a:rPr>
              <a:t>كواشف/أجهزة هامش أعلى (١٠–١٥٪) · كتب/مستهلكات أقل (٥–٨٪) — أقرب لواقع السوق.</a:t>
            </a:r>
            <a:endParaRPr lang="en-US" sz="1200" dirty="0"/>
          </a:p>
        </p:txBody>
      </p:sp>
      <p:sp>
        <p:nvSpPr>
          <p:cNvPr id="11" name="Shape 9"/>
          <p:cNvSpPr/>
          <p:nvPr/>
        </p:nvSpPr>
        <p:spPr>
          <a:xfrm>
            <a:off x="4206240" y="1463040"/>
            <a:ext cx="3611880" cy="2011680"/>
          </a:xfrm>
          <a:prstGeom prst="roundRect">
            <a:avLst>
              <a:gd name="adj" fmla="val 4545"/>
            </a:avLst>
          </a:prstGeom>
          <a:solidFill>
            <a:srgbClr val="FFFFFF"/>
          </a:solidFill>
          <a:ln w="12700">
            <a:solidFill>
              <a:srgbClr val="D6D3D1"/>
            </a:solidFill>
            <a:prstDash val="solid"/>
          </a:ln>
        </p:spPr>
      </p:sp>
      <p:sp>
        <p:nvSpPr>
          <p:cNvPr id="12" name="Shape 10"/>
          <p:cNvSpPr/>
          <p:nvPr/>
        </p:nvSpPr>
        <p:spPr>
          <a:xfrm>
            <a:off x="7726680" y="1463040"/>
            <a:ext cx="91440" cy="2011680"/>
          </a:xfrm>
          <a:prstGeom prst="rect">
            <a:avLst/>
          </a:prstGeom>
          <a:solidFill>
            <a:srgbClr val="0B1F4D"/>
          </a:solidFill>
          <a:ln/>
        </p:spPr>
      </p:sp>
      <p:sp>
        <p:nvSpPr>
          <p:cNvPr id="13" name="Text 11"/>
          <p:cNvSpPr/>
          <p:nvPr/>
        </p:nvSpPr>
        <p:spPr>
          <a:xfrm>
            <a:off x="4343400" y="1645920"/>
            <a:ext cx="3246120" cy="502920"/>
          </a:xfrm>
          <a:prstGeom prst="rect">
            <a:avLst/>
          </a:prstGeom>
          <a:noFill/>
          <a:ln/>
        </p:spPr>
        <p:txBody>
          <a:bodyPr wrap="square" rtlCol="0" anchor="ctr"/>
          <a:lstStyle/>
          <a:p>
            <a:pPr rtl="1" algn="r" indent="0" marL="0">
              <a:buNone/>
            </a:pPr>
            <a:r>
              <a:rPr lang="en-US" sz="1300" b="1" dirty="0">
                <a:solidFill>
                  <a:srgbClr val="0B1F4D"/>
                </a:solidFill>
                <a:latin typeface="Segoe UI" pitchFamily="34" charset="0"/>
                <a:ea typeface="Segoe UI" pitchFamily="34" charset="-122"/>
                <a:cs typeface="Segoe UI" pitchFamily="34" charset="-120"/>
              </a:rPr>
              <a:t>اشتراك مورد مميّز (SaaS)</a:t>
            </a:r>
            <a:endParaRPr lang="en-US" sz="1300" dirty="0"/>
          </a:p>
        </p:txBody>
      </p:sp>
      <p:sp>
        <p:nvSpPr>
          <p:cNvPr id="14" name="Text 12"/>
          <p:cNvSpPr/>
          <p:nvPr/>
        </p:nvSpPr>
        <p:spPr>
          <a:xfrm>
            <a:off x="4343400" y="2240280"/>
            <a:ext cx="3246120" cy="1051560"/>
          </a:xfrm>
          <a:prstGeom prst="rect">
            <a:avLst/>
          </a:prstGeom>
          <a:noFill/>
          <a:ln/>
        </p:spPr>
        <p:txBody>
          <a:bodyPr wrap="square" rtlCol="0" anchor="ctr"/>
          <a:lstStyle/>
          <a:p>
            <a:pPr rtl="1" algn="r" indent="0" marL="0">
              <a:buNone/>
            </a:pPr>
            <a:r>
              <a:rPr lang="en-US" sz="1200" dirty="0">
                <a:solidFill>
                  <a:srgbClr val="475569"/>
                </a:solidFill>
                <a:latin typeface="Segoe UI" pitchFamily="34" charset="0"/>
                <a:ea typeface="Segoe UI" pitchFamily="34" charset="-122"/>
                <a:cs typeface="Segoe UI" pitchFamily="34" charset="-120"/>
              </a:rPr>
              <a:t>باقة شهرية: ظهور أعلى في Hub · شارة · تحليلات طلبات · أولوية مراجعة — دخل متكرر للمنصة.</a:t>
            </a:r>
            <a:endParaRPr lang="en-US" sz="1200" dirty="0"/>
          </a:p>
        </p:txBody>
      </p:sp>
      <p:sp>
        <p:nvSpPr>
          <p:cNvPr id="15" name="Shape 13"/>
          <p:cNvSpPr/>
          <p:nvPr/>
        </p:nvSpPr>
        <p:spPr>
          <a:xfrm>
            <a:off x="8001000" y="1463040"/>
            <a:ext cx="3611880" cy="2011680"/>
          </a:xfrm>
          <a:prstGeom prst="roundRect">
            <a:avLst>
              <a:gd name="adj" fmla="val 4545"/>
            </a:avLst>
          </a:prstGeom>
          <a:solidFill>
            <a:srgbClr val="FFFFFF"/>
          </a:solidFill>
          <a:ln w="12700">
            <a:solidFill>
              <a:srgbClr val="D6D3D1"/>
            </a:solidFill>
            <a:prstDash val="solid"/>
          </a:ln>
        </p:spPr>
      </p:sp>
      <p:sp>
        <p:nvSpPr>
          <p:cNvPr id="16" name="Shape 14"/>
          <p:cNvSpPr/>
          <p:nvPr/>
        </p:nvSpPr>
        <p:spPr>
          <a:xfrm>
            <a:off x="11521440" y="1463040"/>
            <a:ext cx="91440" cy="2011680"/>
          </a:xfrm>
          <a:prstGeom prst="rect">
            <a:avLst/>
          </a:prstGeom>
          <a:solidFill>
            <a:srgbClr val="0B1F4D"/>
          </a:solidFill>
          <a:ln/>
        </p:spPr>
      </p:sp>
      <p:sp>
        <p:nvSpPr>
          <p:cNvPr id="17" name="Text 15"/>
          <p:cNvSpPr/>
          <p:nvPr/>
        </p:nvSpPr>
        <p:spPr>
          <a:xfrm>
            <a:off x="8138160" y="1645920"/>
            <a:ext cx="3246120" cy="502920"/>
          </a:xfrm>
          <a:prstGeom prst="rect">
            <a:avLst/>
          </a:prstGeom>
          <a:noFill/>
          <a:ln/>
        </p:spPr>
        <p:txBody>
          <a:bodyPr wrap="square" rtlCol="0" anchor="ctr"/>
          <a:lstStyle/>
          <a:p>
            <a:pPr rtl="1" algn="r" indent="0" marL="0">
              <a:buNone/>
            </a:pPr>
            <a:r>
              <a:rPr lang="en-US" sz="1300" b="1" dirty="0">
                <a:solidFill>
                  <a:srgbClr val="0B1F4D"/>
                </a:solidFill>
                <a:latin typeface="Segoe UI" pitchFamily="34" charset="0"/>
                <a:ea typeface="Segoe UI" pitchFamily="34" charset="-122"/>
                <a:cs typeface="Segoe UI" pitchFamily="34" charset="-120"/>
              </a:rPr>
              <a:t>رسوم تحويل RFQ</a:t>
            </a:r>
            <a:endParaRPr lang="en-US" sz="1300" dirty="0"/>
          </a:p>
        </p:txBody>
      </p:sp>
      <p:sp>
        <p:nvSpPr>
          <p:cNvPr id="18" name="Text 16"/>
          <p:cNvSpPr/>
          <p:nvPr/>
        </p:nvSpPr>
        <p:spPr>
          <a:xfrm>
            <a:off x="8138160" y="2240280"/>
            <a:ext cx="3246120" cy="1051560"/>
          </a:xfrm>
          <a:prstGeom prst="rect">
            <a:avLst/>
          </a:prstGeom>
          <a:noFill/>
          <a:ln/>
        </p:spPr>
        <p:txBody>
          <a:bodyPr wrap="square" rtlCol="0" anchor="ctr"/>
          <a:lstStyle/>
          <a:p>
            <a:pPr rtl="1" algn="r" indent="0" marL="0">
              <a:buNone/>
            </a:pPr>
            <a:r>
              <a:rPr lang="en-US" sz="1200" dirty="0">
                <a:solidFill>
                  <a:srgbClr val="475569"/>
                </a:solidFill>
                <a:latin typeface="Segoe UI" pitchFamily="34" charset="0"/>
                <a:ea typeface="Segoe UI" pitchFamily="34" charset="-122"/>
                <a:cs typeface="Segoe UI" pitchFamily="34" charset="-120"/>
              </a:rPr>
              <a:t>مجاني لفتح الطلب · عمولة أعلى (١٢–١٨٪) عند تحويل عرض السعر لطلب مدفوع.</a:t>
            </a:r>
            <a:endParaRPr lang="en-US" sz="1200" dirty="0"/>
          </a:p>
        </p:txBody>
      </p:sp>
      <p:sp>
        <p:nvSpPr>
          <p:cNvPr id="19" name="Shape 17"/>
          <p:cNvSpPr/>
          <p:nvPr/>
        </p:nvSpPr>
        <p:spPr>
          <a:xfrm>
            <a:off x="411480" y="3657600"/>
            <a:ext cx="3611880" cy="2011680"/>
          </a:xfrm>
          <a:prstGeom prst="roundRect">
            <a:avLst>
              <a:gd name="adj" fmla="val 4545"/>
            </a:avLst>
          </a:prstGeom>
          <a:solidFill>
            <a:srgbClr val="FFFFFF"/>
          </a:solidFill>
          <a:ln w="12700">
            <a:solidFill>
              <a:srgbClr val="D6D3D1"/>
            </a:solidFill>
            <a:prstDash val="solid"/>
          </a:ln>
        </p:spPr>
      </p:sp>
      <p:sp>
        <p:nvSpPr>
          <p:cNvPr id="20" name="Shape 18"/>
          <p:cNvSpPr/>
          <p:nvPr/>
        </p:nvSpPr>
        <p:spPr>
          <a:xfrm>
            <a:off x="3931920" y="3657600"/>
            <a:ext cx="91440" cy="2011680"/>
          </a:xfrm>
          <a:prstGeom prst="rect">
            <a:avLst/>
          </a:prstGeom>
          <a:solidFill>
            <a:srgbClr val="0F766E"/>
          </a:solidFill>
          <a:ln/>
        </p:spPr>
      </p:sp>
      <p:sp>
        <p:nvSpPr>
          <p:cNvPr id="21" name="Text 19"/>
          <p:cNvSpPr/>
          <p:nvPr/>
        </p:nvSpPr>
        <p:spPr>
          <a:xfrm>
            <a:off x="548640" y="3840480"/>
            <a:ext cx="3246120" cy="502920"/>
          </a:xfrm>
          <a:prstGeom prst="rect">
            <a:avLst/>
          </a:prstGeom>
          <a:noFill/>
          <a:ln/>
        </p:spPr>
        <p:txBody>
          <a:bodyPr wrap="square" rtlCol="0" anchor="ctr"/>
          <a:lstStyle/>
          <a:p>
            <a:pPr rtl="1" algn="r" indent="0" marL="0">
              <a:buNone/>
            </a:pPr>
            <a:r>
              <a:rPr lang="en-US" sz="1300" b="1" dirty="0">
                <a:solidFill>
                  <a:srgbClr val="0B1F4D"/>
                </a:solidFill>
                <a:latin typeface="Segoe UI" pitchFamily="34" charset="0"/>
                <a:ea typeface="Segoe UI" pitchFamily="34" charset="-122"/>
                <a:cs typeface="Segoe UI" pitchFamily="34" charset="-120"/>
              </a:rPr>
              <a:t>إعلانات داخل المتجر</a:t>
            </a:r>
            <a:endParaRPr lang="en-US" sz="1300" dirty="0"/>
          </a:p>
        </p:txBody>
      </p:sp>
      <p:sp>
        <p:nvSpPr>
          <p:cNvPr id="22" name="Text 20"/>
          <p:cNvSpPr/>
          <p:nvPr/>
        </p:nvSpPr>
        <p:spPr>
          <a:xfrm>
            <a:off x="548640" y="4434840"/>
            <a:ext cx="3246120" cy="1051560"/>
          </a:xfrm>
          <a:prstGeom prst="rect">
            <a:avLst/>
          </a:prstGeom>
          <a:noFill/>
          <a:ln/>
        </p:spPr>
        <p:txBody>
          <a:bodyPr wrap="square" rtlCol="0" anchor="ctr"/>
          <a:lstStyle/>
          <a:p>
            <a:pPr rtl="1" algn="r" indent="0" marL="0">
              <a:buNone/>
            </a:pPr>
            <a:r>
              <a:rPr lang="en-US" sz="1200" dirty="0">
                <a:solidFill>
                  <a:srgbClr val="475569"/>
                </a:solidFill>
                <a:latin typeface="Segoe UI" pitchFamily="34" charset="0"/>
                <a:ea typeface="Segoe UI" pitchFamily="34" charset="-122"/>
                <a:cs typeface="Segoe UI" pitchFamily="34" charset="-120"/>
              </a:rPr>
              <a:t>راعي قسم / بنر في Hub / منتج مموّل — بدون إزعاج واجهة الباحث إن بقيت محدودة.</a:t>
            </a:r>
            <a:endParaRPr lang="en-US" sz="1200" dirty="0"/>
          </a:p>
        </p:txBody>
      </p:sp>
      <p:sp>
        <p:nvSpPr>
          <p:cNvPr id="23" name="Shape 21"/>
          <p:cNvSpPr/>
          <p:nvPr/>
        </p:nvSpPr>
        <p:spPr>
          <a:xfrm>
            <a:off x="4206240" y="3657600"/>
            <a:ext cx="3611880" cy="2011680"/>
          </a:xfrm>
          <a:prstGeom prst="roundRect">
            <a:avLst>
              <a:gd name="adj" fmla="val 4545"/>
            </a:avLst>
          </a:prstGeom>
          <a:solidFill>
            <a:srgbClr val="FFFFFF"/>
          </a:solidFill>
          <a:ln w="12700">
            <a:solidFill>
              <a:srgbClr val="D6D3D1"/>
            </a:solidFill>
            <a:prstDash val="solid"/>
          </a:ln>
        </p:spPr>
      </p:sp>
      <p:sp>
        <p:nvSpPr>
          <p:cNvPr id="24" name="Shape 22"/>
          <p:cNvSpPr/>
          <p:nvPr/>
        </p:nvSpPr>
        <p:spPr>
          <a:xfrm>
            <a:off x="7726680" y="3657600"/>
            <a:ext cx="91440" cy="2011680"/>
          </a:xfrm>
          <a:prstGeom prst="rect">
            <a:avLst/>
          </a:prstGeom>
          <a:solidFill>
            <a:srgbClr val="0F766E"/>
          </a:solidFill>
          <a:ln/>
        </p:spPr>
      </p:sp>
      <p:sp>
        <p:nvSpPr>
          <p:cNvPr id="25" name="Text 23"/>
          <p:cNvSpPr/>
          <p:nvPr/>
        </p:nvSpPr>
        <p:spPr>
          <a:xfrm>
            <a:off x="4343400" y="3840480"/>
            <a:ext cx="3246120" cy="502920"/>
          </a:xfrm>
          <a:prstGeom prst="rect">
            <a:avLst/>
          </a:prstGeom>
          <a:noFill/>
          <a:ln/>
        </p:spPr>
        <p:txBody>
          <a:bodyPr wrap="square" rtlCol="0" anchor="ctr"/>
          <a:lstStyle/>
          <a:p>
            <a:pPr rtl="1" algn="r" indent="0" marL="0">
              <a:buNone/>
            </a:pPr>
            <a:r>
              <a:rPr lang="en-US" sz="1300" b="1" dirty="0">
                <a:solidFill>
                  <a:srgbClr val="0B1F4D"/>
                </a:solidFill>
                <a:latin typeface="Segoe UI" pitchFamily="34" charset="0"/>
                <a:ea typeface="Segoe UI" pitchFamily="34" charset="-122"/>
                <a:cs typeface="Segoe UI" pitchFamily="34" charset="-120"/>
              </a:rPr>
              <a:t>باقة مختبر / جامعة (B2B)</a:t>
            </a:r>
            <a:endParaRPr lang="en-US" sz="1300" dirty="0"/>
          </a:p>
        </p:txBody>
      </p:sp>
      <p:sp>
        <p:nvSpPr>
          <p:cNvPr id="26" name="Text 24"/>
          <p:cNvSpPr/>
          <p:nvPr/>
        </p:nvSpPr>
        <p:spPr>
          <a:xfrm>
            <a:off x="4343400" y="4434840"/>
            <a:ext cx="3246120" cy="1051560"/>
          </a:xfrm>
          <a:prstGeom prst="rect">
            <a:avLst/>
          </a:prstGeom>
          <a:noFill/>
          <a:ln/>
        </p:spPr>
        <p:txBody>
          <a:bodyPr wrap="square" rtlCol="0" anchor="ctr"/>
          <a:lstStyle/>
          <a:p>
            <a:pPr rtl="1" algn="r" indent="0" marL="0">
              <a:buNone/>
            </a:pPr>
            <a:r>
              <a:rPr lang="en-US" sz="1200" dirty="0">
                <a:solidFill>
                  <a:srgbClr val="475569"/>
                </a:solidFill>
                <a:latin typeface="Segoe UI" pitchFamily="34" charset="0"/>
                <a:ea typeface="Segoe UI" pitchFamily="34" charset="-122"/>
                <a:cs typeface="Segoe UI" pitchFamily="34" charset="-120"/>
              </a:rPr>
              <a:t>عقد سنوي لمشتريات متكررة + فاتورة مجمّعة — أعلى قيمة متوسط الطلب (AOV).</a:t>
            </a:r>
            <a:endParaRPr lang="en-US" sz="1200" dirty="0"/>
          </a:p>
        </p:txBody>
      </p:sp>
      <p:sp>
        <p:nvSpPr>
          <p:cNvPr id="27" name="Shape 25"/>
          <p:cNvSpPr/>
          <p:nvPr/>
        </p:nvSpPr>
        <p:spPr>
          <a:xfrm>
            <a:off x="8001000" y="3657600"/>
            <a:ext cx="3611880" cy="2011680"/>
          </a:xfrm>
          <a:prstGeom prst="roundRect">
            <a:avLst>
              <a:gd name="adj" fmla="val 4545"/>
            </a:avLst>
          </a:prstGeom>
          <a:solidFill>
            <a:srgbClr val="FFFFFF"/>
          </a:solidFill>
          <a:ln w="12700">
            <a:solidFill>
              <a:srgbClr val="D6D3D1"/>
            </a:solidFill>
            <a:prstDash val="solid"/>
          </a:ln>
        </p:spPr>
      </p:sp>
      <p:sp>
        <p:nvSpPr>
          <p:cNvPr id="28" name="Shape 26"/>
          <p:cNvSpPr/>
          <p:nvPr/>
        </p:nvSpPr>
        <p:spPr>
          <a:xfrm>
            <a:off x="11521440" y="3657600"/>
            <a:ext cx="91440" cy="2011680"/>
          </a:xfrm>
          <a:prstGeom prst="rect">
            <a:avLst/>
          </a:prstGeom>
          <a:solidFill>
            <a:srgbClr val="0F766E"/>
          </a:solidFill>
          <a:ln/>
        </p:spPr>
      </p:sp>
      <p:sp>
        <p:nvSpPr>
          <p:cNvPr id="29" name="Text 27"/>
          <p:cNvSpPr/>
          <p:nvPr/>
        </p:nvSpPr>
        <p:spPr>
          <a:xfrm>
            <a:off x="8138160" y="3840480"/>
            <a:ext cx="3246120" cy="502920"/>
          </a:xfrm>
          <a:prstGeom prst="rect">
            <a:avLst/>
          </a:prstGeom>
          <a:noFill/>
          <a:ln/>
        </p:spPr>
        <p:txBody>
          <a:bodyPr wrap="square" rtlCol="0" anchor="ctr"/>
          <a:lstStyle/>
          <a:p>
            <a:pPr rtl="1" algn="r" indent="0" marL="0">
              <a:buNone/>
            </a:pPr>
            <a:r>
              <a:rPr lang="en-US" sz="1300" b="1" dirty="0">
                <a:solidFill>
                  <a:srgbClr val="0B1F4D"/>
                </a:solidFill>
                <a:latin typeface="Segoe UI" pitchFamily="34" charset="0"/>
                <a:ea typeface="Segoe UI" pitchFamily="34" charset="-122"/>
                <a:cs typeface="Segoe UI" pitchFamily="34" charset="-120"/>
              </a:rPr>
              <a:t>تجربة شراكة مبكرة</a:t>
            </a:r>
            <a:endParaRPr lang="en-US" sz="1300" dirty="0"/>
          </a:p>
        </p:txBody>
      </p:sp>
      <p:sp>
        <p:nvSpPr>
          <p:cNvPr id="30" name="Text 28"/>
          <p:cNvSpPr/>
          <p:nvPr/>
        </p:nvSpPr>
        <p:spPr>
          <a:xfrm>
            <a:off x="8138160" y="4434840"/>
            <a:ext cx="3246120" cy="1051560"/>
          </a:xfrm>
          <a:prstGeom prst="rect">
            <a:avLst/>
          </a:prstGeom>
          <a:noFill/>
          <a:ln/>
        </p:spPr>
        <p:txBody>
          <a:bodyPr wrap="square" rtlCol="0" anchor="ctr"/>
          <a:lstStyle/>
          <a:p>
            <a:pPr rtl="1" algn="r" indent="0" marL="0">
              <a:buNone/>
            </a:pPr>
            <a:r>
              <a:rPr lang="en-US" sz="1200" dirty="0">
                <a:solidFill>
                  <a:srgbClr val="475569"/>
                </a:solidFill>
                <a:latin typeface="Segoe UI" pitchFamily="34" charset="0"/>
                <a:ea typeface="Segoe UI" pitchFamily="34" charset="-122"/>
                <a:cs typeface="Segoe UI" pitchFamily="34" charset="-120"/>
              </a:rPr>
              <a:t>٣ أشهر عمولة مخفّضة (مثلاً ٥٪) لأول ١٠ موردين — ثم العودة للشريحة المعيارية.</a:t>
            </a:r>
            <a:endParaRPr lang="en-US" sz="1200" dirty="0"/>
          </a:p>
        </p:txBody>
      </p:sp>
      <p:sp>
        <p:nvSpPr>
          <p:cNvPr id="31" name="Shape 29"/>
          <p:cNvSpPr/>
          <p:nvPr/>
        </p:nvSpPr>
        <p:spPr>
          <a:xfrm>
            <a:off x="0" y="6510528"/>
            <a:ext cx="12191695" cy="347472"/>
          </a:xfrm>
          <a:prstGeom prst="rect">
            <a:avLst/>
          </a:prstGeom>
          <a:solidFill>
            <a:srgbClr val="F8F5F0"/>
          </a:solidFill>
          <a:ln/>
        </p:spPr>
      </p:sp>
      <p:sp>
        <p:nvSpPr>
          <p:cNvPr id="32" name="Text 30"/>
          <p:cNvSpPr/>
          <p:nvPr/>
        </p:nvSpPr>
        <p:spPr>
          <a:xfrm>
            <a:off x="411480" y="6547104"/>
            <a:ext cx="8229600" cy="256032"/>
          </a:xfrm>
          <a:prstGeom prst="rect">
            <a:avLst/>
          </a:prstGeom>
          <a:noFill/>
          <a:ln/>
        </p:spPr>
        <p:txBody>
          <a:bodyPr wrap="square" rtlCol="0" anchor="ctr"/>
          <a:lstStyle/>
          <a:p>
            <a:pPr rtl="1" algn="r" indent="0" marL="0">
              <a:buNone/>
            </a:pPr>
            <a:r>
              <a:rPr lang="en-US" sz="1000" dirty="0">
                <a:solidFill>
                  <a:srgbClr val="475569"/>
                </a:solidFill>
                <a:latin typeface="Segoe UI" pitchFamily="34" charset="0"/>
                <a:ea typeface="Segoe UI" pitchFamily="34" charset="-122"/>
                <a:cs typeface="Segoe UI" pitchFamily="34" charset="-120"/>
              </a:rPr>
              <a:t>AcadeGate · عرض شراكة الموردين · محدّث ١٩ سبتمبر ٢٠٢٦</a:t>
            </a:r>
            <a:endParaRPr lang="en-US" sz="1000" dirty="0"/>
          </a:p>
        </p:txBody>
      </p:sp>
      <p:sp>
        <p:nvSpPr>
          <p:cNvPr id="33" name="Text 31"/>
          <p:cNvSpPr/>
          <p:nvPr/>
        </p:nvSpPr>
        <p:spPr>
          <a:xfrm>
            <a:off x="10682935" y="6547104"/>
            <a:ext cx="1097280" cy="256032"/>
          </a:xfrm>
          <a:prstGeom prst="rect">
            <a:avLst/>
          </a:prstGeom>
          <a:noFill/>
          <a:ln/>
        </p:spPr>
        <p:txBody>
          <a:bodyPr wrap="square" rtlCol="0" anchor="ctr"/>
          <a:lstStyle/>
          <a:p>
            <a:pPr algn="l" indent="0" marL="0">
              <a:buNone/>
            </a:pPr>
            <a:r>
              <a:rPr lang="en-US" sz="1000" dirty="0">
                <a:solidFill>
                  <a:srgbClr val="475569"/>
                </a:solidFill>
                <a:latin typeface="Segoe UI" pitchFamily="34" charset="0"/>
                <a:ea typeface="Segoe UI" pitchFamily="34" charset="-122"/>
                <a:cs typeface="Segoe UI" pitchFamily="34" charset="-120"/>
              </a:rPr>
              <a:t>13 / 16</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sp>
      <p:sp>
        <p:nvSpPr>
          <p:cNvPr id="3" name="Shape 1"/>
          <p:cNvSpPr/>
          <p:nvPr/>
        </p:nvSpPr>
        <p:spPr>
          <a:xfrm>
            <a:off x="411480" y="256032"/>
            <a:ext cx="109728" cy="502920"/>
          </a:xfrm>
          <a:prstGeom prst="rect">
            <a:avLst/>
          </a:prstGeom>
          <a:solidFill>
            <a:srgbClr val="0F766E"/>
          </a:solidFill>
          <a:ln/>
        </p:spPr>
      </p:sp>
      <p:sp>
        <p:nvSpPr>
          <p:cNvPr id="4" name="Text 2"/>
          <p:cNvSpPr/>
          <p:nvPr/>
        </p:nvSpPr>
        <p:spPr>
          <a:xfrm>
            <a:off x="612648" y="201168"/>
            <a:ext cx="11167567" cy="566928"/>
          </a:xfrm>
          <a:prstGeom prst="rect">
            <a:avLst/>
          </a:prstGeom>
          <a:noFill/>
          <a:ln/>
        </p:spPr>
        <p:txBody>
          <a:bodyPr wrap="square" rtlCol="0" anchor="ctr"/>
          <a:lstStyle/>
          <a:p>
            <a:pPr rtl="1" algn="r" indent="0" marL="0">
              <a:buNone/>
            </a:pPr>
            <a:r>
              <a:rPr lang="en-US" sz="2400" b="1" dirty="0">
                <a:solidFill>
                  <a:srgbClr val="0B1F4D"/>
                </a:solidFill>
                <a:latin typeface="Segoe UI" pitchFamily="34" charset="0"/>
                <a:ea typeface="Segoe UI" pitchFamily="34" charset="-122"/>
                <a:cs typeface="Segoe UI" pitchFamily="34" charset="-120"/>
              </a:rPr>
              <a:t>١٠ — أشياء يجب أن تكون على علم بها</a:t>
            </a:r>
            <a:endParaRPr lang="en-US" sz="2400" dirty="0"/>
          </a:p>
        </p:txBody>
      </p:sp>
      <p:sp>
        <p:nvSpPr>
          <p:cNvPr id="5" name="Shape 3"/>
          <p:cNvSpPr/>
          <p:nvPr/>
        </p:nvSpPr>
        <p:spPr>
          <a:xfrm>
            <a:off x="411480" y="822960"/>
            <a:ext cx="11368735" cy="32004"/>
          </a:xfrm>
          <a:prstGeom prst="rect">
            <a:avLst/>
          </a:prstGeom>
          <a:solidFill>
            <a:srgbClr val="0F766E"/>
          </a:solidFill>
          <a:ln/>
        </p:spPr>
      </p:sp>
      <p:sp>
        <p:nvSpPr>
          <p:cNvPr id="6" name="Shape 4"/>
          <p:cNvSpPr/>
          <p:nvPr/>
        </p:nvSpPr>
        <p:spPr>
          <a:xfrm>
            <a:off x="411480" y="1188720"/>
            <a:ext cx="3611880" cy="2103120"/>
          </a:xfrm>
          <a:prstGeom prst="roundRect">
            <a:avLst>
              <a:gd name="adj" fmla="val 4348"/>
            </a:avLst>
          </a:prstGeom>
          <a:solidFill>
            <a:srgbClr val="FFFFFF"/>
          </a:solidFill>
          <a:ln w="12700">
            <a:solidFill>
              <a:srgbClr val="D6D3D1"/>
            </a:solidFill>
            <a:prstDash val="solid"/>
          </a:ln>
        </p:spPr>
      </p:sp>
      <p:sp>
        <p:nvSpPr>
          <p:cNvPr id="7" name="Shape 5"/>
          <p:cNvSpPr/>
          <p:nvPr/>
        </p:nvSpPr>
        <p:spPr>
          <a:xfrm>
            <a:off x="3931920" y="1188720"/>
            <a:ext cx="91440" cy="2103120"/>
          </a:xfrm>
          <a:prstGeom prst="rect">
            <a:avLst/>
          </a:prstGeom>
          <a:solidFill>
            <a:srgbClr val="0B1F4D"/>
          </a:solidFill>
          <a:ln/>
        </p:spPr>
      </p:sp>
      <p:sp>
        <p:nvSpPr>
          <p:cNvPr id="8" name="Text 6"/>
          <p:cNvSpPr/>
          <p:nvPr/>
        </p:nvSpPr>
        <p:spPr>
          <a:xfrm>
            <a:off x="594360" y="1508760"/>
            <a:ext cx="3200400" cy="640080"/>
          </a:xfrm>
          <a:prstGeom prst="rect">
            <a:avLst/>
          </a:prstGeom>
          <a:noFill/>
          <a:ln/>
        </p:spPr>
        <p:txBody>
          <a:bodyPr wrap="square" rtlCol="0" anchor="ctr"/>
          <a:lstStyle/>
          <a:p>
            <a:pPr rtl="1" algn="r" indent="0" marL="0">
              <a:buNone/>
            </a:pPr>
            <a:r>
              <a:rPr lang="en-US" sz="1500" b="1" dirty="0">
                <a:solidFill>
                  <a:srgbClr val="0B1F4D"/>
                </a:solidFill>
                <a:latin typeface="Segoe UI" pitchFamily="34" charset="0"/>
                <a:ea typeface="Segoe UI" pitchFamily="34" charset="-122"/>
                <a:cs typeface="Segoe UI" pitchFamily="34" charset="-120"/>
              </a:rPr>
              <a:t>جمهور عربي وأكاديمي</a:t>
            </a:r>
            <a:endParaRPr lang="en-US" sz="1500" dirty="0"/>
          </a:p>
        </p:txBody>
      </p:sp>
      <p:sp>
        <p:nvSpPr>
          <p:cNvPr id="9" name="Text 7"/>
          <p:cNvSpPr/>
          <p:nvPr/>
        </p:nvSpPr>
        <p:spPr>
          <a:xfrm>
            <a:off x="594360" y="2240280"/>
            <a:ext cx="3200400" cy="731520"/>
          </a:xfrm>
          <a:prstGeom prst="rect">
            <a:avLst/>
          </a:prstGeom>
          <a:noFill/>
          <a:ln/>
        </p:spPr>
        <p:txBody>
          <a:bodyPr wrap="square" rtlCol="0" anchor="ctr"/>
          <a:lstStyle/>
          <a:p>
            <a:pPr rtl="1" algn="r" indent="0" marL="0">
              <a:buNone/>
            </a:pPr>
            <a:r>
              <a:rPr lang="en-US" sz="1300" dirty="0">
                <a:solidFill>
                  <a:srgbClr val="475569"/>
                </a:solidFill>
                <a:latin typeface="Segoe UI" pitchFamily="34" charset="0"/>
                <a:ea typeface="Segoe UI" pitchFamily="34" charset="-122"/>
                <a:cs typeface="Segoe UI" pitchFamily="34" charset="-120"/>
              </a:rPr>
              <a:t>واجهة RTL · أسعار بالجنيه · تواصل سريع</a:t>
            </a:r>
            <a:endParaRPr lang="en-US" sz="1300" dirty="0"/>
          </a:p>
        </p:txBody>
      </p:sp>
      <p:sp>
        <p:nvSpPr>
          <p:cNvPr id="10" name="Shape 8"/>
          <p:cNvSpPr/>
          <p:nvPr/>
        </p:nvSpPr>
        <p:spPr>
          <a:xfrm>
            <a:off x="4206240" y="1188720"/>
            <a:ext cx="3611880" cy="2103120"/>
          </a:xfrm>
          <a:prstGeom prst="roundRect">
            <a:avLst>
              <a:gd name="adj" fmla="val 4348"/>
            </a:avLst>
          </a:prstGeom>
          <a:solidFill>
            <a:srgbClr val="FFFFFF"/>
          </a:solidFill>
          <a:ln w="12700">
            <a:solidFill>
              <a:srgbClr val="D6D3D1"/>
            </a:solidFill>
            <a:prstDash val="solid"/>
          </a:ln>
        </p:spPr>
      </p:sp>
      <p:sp>
        <p:nvSpPr>
          <p:cNvPr id="11" name="Shape 9"/>
          <p:cNvSpPr/>
          <p:nvPr/>
        </p:nvSpPr>
        <p:spPr>
          <a:xfrm>
            <a:off x="7726680" y="1188720"/>
            <a:ext cx="91440" cy="2103120"/>
          </a:xfrm>
          <a:prstGeom prst="rect">
            <a:avLst/>
          </a:prstGeom>
          <a:solidFill>
            <a:srgbClr val="0B1F4D"/>
          </a:solidFill>
          <a:ln/>
        </p:spPr>
      </p:sp>
      <p:sp>
        <p:nvSpPr>
          <p:cNvPr id="12" name="Text 10"/>
          <p:cNvSpPr/>
          <p:nvPr/>
        </p:nvSpPr>
        <p:spPr>
          <a:xfrm>
            <a:off x="4389120" y="1508760"/>
            <a:ext cx="3200400" cy="640080"/>
          </a:xfrm>
          <a:prstGeom prst="rect">
            <a:avLst/>
          </a:prstGeom>
          <a:noFill/>
          <a:ln/>
        </p:spPr>
        <p:txBody>
          <a:bodyPr wrap="square" rtlCol="0" anchor="ctr"/>
          <a:lstStyle/>
          <a:p>
            <a:pPr rtl="1" algn="r" indent="0" marL="0">
              <a:buNone/>
            </a:pPr>
            <a:r>
              <a:rPr lang="en-US" sz="1500" b="1" dirty="0">
                <a:solidFill>
                  <a:srgbClr val="0B1F4D"/>
                </a:solidFill>
                <a:latin typeface="Segoe UI" pitchFamily="34" charset="0"/>
                <a:ea typeface="Segoe UI" pitchFamily="34" charset="-122"/>
                <a:cs typeface="Segoe UI" pitchFamily="34" charset="-120"/>
              </a:rPr>
              <a:t>الجودة قبل الكمية</a:t>
            </a:r>
            <a:endParaRPr lang="en-US" sz="1500" dirty="0"/>
          </a:p>
        </p:txBody>
      </p:sp>
      <p:sp>
        <p:nvSpPr>
          <p:cNvPr id="13" name="Text 11"/>
          <p:cNvSpPr/>
          <p:nvPr/>
        </p:nvSpPr>
        <p:spPr>
          <a:xfrm>
            <a:off x="4389120" y="2240280"/>
            <a:ext cx="3200400" cy="731520"/>
          </a:xfrm>
          <a:prstGeom prst="rect">
            <a:avLst/>
          </a:prstGeom>
          <a:noFill/>
          <a:ln/>
        </p:spPr>
        <p:txBody>
          <a:bodyPr wrap="square" rtlCol="0" anchor="ctr"/>
          <a:lstStyle/>
          <a:p>
            <a:pPr rtl="1" algn="r" indent="0" marL="0">
              <a:buNone/>
            </a:pPr>
            <a:r>
              <a:rPr lang="en-US" sz="1300" dirty="0">
                <a:solidFill>
                  <a:srgbClr val="475569"/>
                </a:solidFill>
                <a:latin typeface="Segoe UI" pitchFamily="34" charset="0"/>
                <a:ea typeface="Segoe UI" pitchFamily="34" charset="-122"/>
                <a:cs typeface="Segoe UI" pitchFamily="34" charset="-120"/>
              </a:rPr>
              <a:t>المراجعة فلتر يحمي سمعة الجميع</a:t>
            </a:r>
            <a:endParaRPr lang="en-US" sz="1300" dirty="0"/>
          </a:p>
        </p:txBody>
      </p:sp>
      <p:sp>
        <p:nvSpPr>
          <p:cNvPr id="14" name="Shape 12"/>
          <p:cNvSpPr/>
          <p:nvPr/>
        </p:nvSpPr>
        <p:spPr>
          <a:xfrm>
            <a:off x="8001000" y="1188720"/>
            <a:ext cx="3611880" cy="2103120"/>
          </a:xfrm>
          <a:prstGeom prst="roundRect">
            <a:avLst>
              <a:gd name="adj" fmla="val 4348"/>
            </a:avLst>
          </a:prstGeom>
          <a:solidFill>
            <a:srgbClr val="FFFFFF"/>
          </a:solidFill>
          <a:ln w="12700">
            <a:solidFill>
              <a:srgbClr val="D6D3D1"/>
            </a:solidFill>
            <a:prstDash val="solid"/>
          </a:ln>
        </p:spPr>
      </p:sp>
      <p:sp>
        <p:nvSpPr>
          <p:cNvPr id="15" name="Shape 13"/>
          <p:cNvSpPr/>
          <p:nvPr/>
        </p:nvSpPr>
        <p:spPr>
          <a:xfrm>
            <a:off x="11521440" y="1188720"/>
            <a:ext cx="91440" cy="2103120"/>
          </a:xfrm>
          <a:prstGeom prst="rect">
            <a:avLst/>
          </a:prstGeom>
          <a:solidFill>
            <a:srgbClr val="0B1F4D"/>
          </a:solidFill>
          <a:ln/>
        </p:spPr>
      </p:sp>
      <p:sp>
        <p:nvSpPr>
          <p:cNvPr id="16" name="Text 14"/>
          <p:cNvSpPr/>
          <p:nvPr/>
        </p:nvSpPr>
        <p:spPr>
          <a:xfrm>
            <a:off x="8183880" y="1508760"/>
            <a:ext cx="3200400" cy="640080"/>
          </a:xfrm>
          <a:prstGeom prst="rect">
            <a:avLst/>
          </a:prstGeom>
          <a:noFill/>
          <a:ln/>
        </p:spPr>
        <p:txBody>
          <a:bodyPr wrap="square" rtlCol="0" anchor="ctr"/>
          <a:lstStyle/>
          <a:p>
            <a:pPr rtl="1" algn="r" indent="0" marL="0">
              <a:buNone/>
            </a:pPr>
            <a:r>
              <a:rPr lang="en-US" sz="1500" b="1" dirty="0">
                <a:solidFill>
                  <a:srgbClr val="0B1F4D"/>
                </a:solidFill>
                <a:latin typeface="Segoe UI" pitchFamily="34" charset="0"/>
                <a:ea typeface="Segoe UI" pitchFamily="34" charset="-122"/>
                <a:cs typeface="Segoe UI" pitchFamily="34" charset="-120"/>
              </a:rPr>
              <a:t>الدفع الإلكتروني</a:t>
            </a:r>
            <a:endParaRPr lang="en-US" sz="1500" dirty="0"/>
          </a:p>
        </p:txBody>
      </p:sp>
      <p:sp>
        <p:nvSpPr>
          <p:cNvPr id="17" name="Text 15"/>
          <p:cNvSpPr/>
          <p:nvPr/>
        </p:nvSpPr>
        <p:spPr>
          <a:xfrm>
            <a:off x="8183880" y="2240280"/>
            <a:ext cx="3200400" cy="731520"/>
          </a:xfrm>
          <a:prstGeom prst="rect">
            <a:avLst/>
          </a:prstGeom>
          <a:noFill/>
          <a:ln/>
        </p:spPr>
        <p:txBody>
          <a:bodyPr wrap="square" rtlCol="0" anchor="ctr"/>
          <a:lstStyle/>
          <a:p>
            <a:pPr rtl="1" algn="r" indent="0" marL="0">
              <a:buNone/>
            </a:pPr>
            <a:r>
              <a:rPr lang="en-US" sz="1300" dirty="0">
                <a:solidFill>
                  <a:srgbClr val="475569"/>
                </a:solidFill>
                <a:latin typeface="Segoe UI" pitchFamily="34" charset="0"/>
                <a:ea typeface="Segoe UI" pitchFamily="34" charset="-122"/>
                <a:cs typeface="Segoe UI" pitchFamily="34" charset="-120"/>
              </a:rPr>
              <a:t>يدوي الآن · Paymob جاهز للتفعيل</a:t>
            </a:r>
            <a:endParaRPr lang="en-US" sz="1300" dirty="0"/>
          </a:p>
        </p:txBody>
      </p:sp>
      <p:sp>
        <p:nvSpPr>
          <p:cNvPr id="18" name="Shape 16"/>
          <p:cNvSpPr/>
          <p:nvPr/>
        </p:nvSpPr>
        <p:spPr>
          <a:xfrm>
            <a:off x="411480" y="3520440"/>
            <a:ext cx="3611880" cy="2103120"/>
          </a:xfrm>
          <a:prstGeom prst="roundRect">
            <a:avLst>
              <a:gd name="adj" fmla="val 4348"/>
            </a:avLst>
          </a:prstGeom>
          <a:solidFill>
            <a:srgbClr val="FFFFFF"/>
          </a:solidFill>
          <a:ln w="12700">
            <a:solidFill>
              <a:srgbClr val="D6D3D1"/>
            </a:solidFill>
            <a:prstDash val="solid"/>
          </a:ln>
        </p:spPr>
      </p:sp>
      <p:sp>
        <p:nvSpPr>
          <p:cNvPr id="19" name="Shape 17"/>
          <p:cNvSpPr/>
          <p:nvPr/>
        </p:nvSpPr>
        <p:spPr>
          <a:xfrm>
            <a:off x="3931920" y="3520440"/>
            <a:ext cx="91440" cy="2103120"/>
          </a:xfrm>
          <a:prstGeom prst="rect">
            <a:avLst/>
          </a:prstGeom>
          <a:solidFill>
            <a:srgbClr val="0F766E"/>
          </a:solidFill>
          <a:ln/>
        </p:spPr>
      </p:sp>
      <p:sp>
        <p:nvSpPr>
          <p:cNvPr id="20" name="Text 18"/>
          <p:cNvSpPr/>
          <p:nvPr/>
        </p:nvSpPr>
        <p:spPr>
          <a:xfrm>
            <a:off x="594360" y="3840480"/>
            <a:ext cx="3200400" cy="640080"/>
          </a:xfrm>
          <a:prstGeom prst="rect">
            <a:avLst/>
          </a:prstGeom>
          <a:noFill/>
          <a:ln/>
        </p:spPr>
        <p:txBody>
          <a:bodyPr wrap="square" rtlCol="0" anchor="ctr"/>
          <a:lstStyle/>
          <a:p>
            <a:pPr rtl="1" algn="r" indent="0" marL="0">
              <a:buNone/>
            </a:pPr>
            <a:r>
              <a:rPr lang="en-US" sz="1500" b="1" dirty="0">
                <a:solidFill>
                  <a:srgbClr val="0B1F4D"/>
                </a:solidFill>
                <a:latin typeface="Segoe UI" pitchFamily="34" charset="0"/>
                <a:ea typeface="Segoe UI" pitchFamily="34" charset="-122"/>
                <a:cs typeface="Segoe UI" pitchFamily="34" charset="-120"/>
              </a:rPr>
              <a:t>دليل أو شراء Escrow</a:t>
            </a:r>
            <a:endParaRPr lang="en-US" sz="1500" dirty="0"/>
          </a:p>
        </p:txBody>
      </p:sp>
      <p:sp>
        <p:nvSpPr>
          <p:cNvPr id="21" name="Text 19"/>
          <p:cNvSpPr/>
          <p:nvPr/>
        </p:nvSpPr>
        <p:spPr>
          <a:xfrm>
            <a:off x="594360" y="4572000"/>
            <a:ext cx="3200400" cy="731520"/>
          </a:xfrm>
          <a:prstGeom prst="rect">
            <a:avLst/>
          </a:prstGeom>
          <a:noFill/>
          <a:ln/>
        </p:spPr>
        <p:txBody>
          <a:bodyPr wrap="square" rtlCol="0" anchor="ctr"/>
          <a:lstStyle/>
          <a:p>
            <a:pPr rtl="1" algn="r" indent="0" marL="0">
              <a:buNone/>
            </a:pPr>
            <a:r>
              <a:rPr lang="en-US" sz="1300" dirty="0">
                <a:solidFill>
                  <a:srgbClr val="475569"/>
                </a:solidFill>
                <a:latin typeface="Segoe UI" pitchFamily="34" charset="0"/>
                <a:ea typeface="Segoe UI" pitchFamily="34" charset="-122"/>
                <a:cs typeface="Segoe UI" pitchFamily="34" charset="-120"/>
              </a:rPr>
              <a:t>أو الاثنان حسب استراتيجيتك</a:t>
            </a:r>
            <a:endParaRPr lang="en-US" sz="1300" dirty="0"/>
          </a:p>
        </p:txBody>
      </p:sp>
      <p:sp>
        <p:nvSpPr>
          <p:cNvPr id="22" name="Shape 20"/>
          <p:cNvSpPr/>
          <p:nvPr/>
        </p:nvSpPr>
        <p:spPr>
          <a:xfrm>
            <a:off x="4206240" y="3520440"/>
            <a:ext cx="3611880" cy="2103120"/>
          </a:xfrm>
          <a:prstGeom prst="roundRect">
            <a:avLst>
              <a:gd name="adj" fmla="val 4348"/>
            </a:avLst>
          </a:prstGeom>
          <a:solidFill>
            <a:srgbClr val="FFFFFF"/>
          </a:solidFill>
          <a:ln w="12700">
            <a:solidFill>
              <a:srgbClr val="D6D3D1"/>
            </a:solidFill>
            <a:prstDash val="solid"/>
          </a:ln>
        </p:spPr>
      </p:sp>
      <p:sp>
        <p:nvSpPr>
          <p:cNvPr id="23" name="Shape 21"/>
          <p:cNvSpPr/>
          <p:nvPr/>
        </p:nvSpPr>
        <p:spPr>
          <a:xfrm>
            <a:off x="7726680" y="3520440"/>
            <a:ext cx="91440" cy="2103120"/>
          </a:xfrm>
          <a:prstGeom prst="rect">
            <a:avLst/>
          </a:prstGeom>
          <a:solidFill>
            <a:srgbClr val="0F766E"/>
          </a:solidFill>
          <a:ln/>
        </p:spPr>
      </p:sp>
      <p:sp>
        <p:nvSpPr>
          <p:cNvPr id="24" name="Text 22"/>
          <p:cNvSpPr/>
          <p:nvPr/>
        </p:nvSpPr>
        <p:spPr>
          <a:xfrm>
            <a:off x="4389120" y="3840480"/>
            <a:ext cx="3200400" cy="640080"/>
          </a:xfrm>
          <a:prstGeom prst="rect">
            <a:avLst/>
          </a:prstGeom>
          <a:noFill/>
          <a:ln/>
        </p:spPr>
        <p:txBody>
          <a:bodyPr wrap="square" rtlCol="0" anchor="ctr"/>
          <a:lstStyle/>
          <a:p>
            <a:pPr rtl="1" algn="r" indent="0" marL="0">
              <a:buNone/>
            </a:pPr>
            <a:r>
              <a:rPr lang="en-US" sz="1500" b="1" dirty="0">
                <a:solidFill>
                  <a:srgbClr val="0B1F4D"/>
                </a:solidFill>
                <a:latin typeface="Segoe UI" pitchFamily="34" charset="0"/>
                <a:ea typeface="Segoe UI" pitchFamily="34" charset="-122"/>
                <a:cs typeface="Segoe UI" pitchFamily="34" charset="-120"/>
              </a:rPr>
              <a:t>خصوصية وشروط</a:t>
            </a:r>
            <a:endParaRPr lang="en-US" sz="1500" dirty="0"/>
          </a:p>
        </p:txBody>
      </p:sp>
      <p:sp>
        <p:nvSpPr>
          <p:cNvPr id="25" name="Text 23"/>
          <p:cNvSpPr/>
          <p:nvPr/>
        </p:nvSpPr>
        <p:spPr>
          <a:xfrm>
            <a:off x="4389120" y="4572000"/>
            <a:ext cx="3200400" cy="731520"/>
          </a:xfrm>
          <a:prstGeom prst="rect">
            <a:avLst/>
          </a:prstGeom>
          <a:noFill/>
          <a:ln/>
        </p:spPr>
        <p:txBody>
          <a:bodyPr wrap="square" rtlCol="0" anchor="ctr"/>
          <a:lstStyle/>
          <a:p>
            <a:pPr rtl="1" algn="r" indent="0" marL="0">
              <a:buNone/>
            </a:pPr>
            <a:r>
              <a:rPr lang="en-US" sz="1300" dirty="0">
                <a:solidFill>
                  <a:srgbClr val="475569"/>
                </a:solidFill>
                <a:latin typeface="Segoe UI" pitchFamily="34" charset="0"/>
                <a:ea typeface="Segoe UI" pitchFamily="34" charset="-122"/>
                <a:cs typeface="Segoe UI" pitchFamily="34" charset="-120"/>
              </a:rPr>
              <a:t>موافقة عند التسجيل · صفحات قانونية محدّثة</a:t>
            </a:r>
            <a:endParaRPr lang="en-US" sz="1300" dirty="0"/>
          </a:p>
        </p:txBody>
      </p:sp>
      <p:sp>
        <p:nvSpPr>
          <p:cNvPr id="26" name="Shape 24"/>
          <p:cNvSpPr/>
          <p:nvPr/>
        </p:nvSpPr>
        <p:spPr>
          <a:xfrm>
            <a:off x="8001000" y="3520440"/>
            <a:ext cx="3611880" cy="2103120"/>
          </a:xfrm>
          <a:prstGeom prst="roundRect">
            <a:avLst>
              <a:gd name="adj" fmla="val 4348"/>
            </a:avLst>
          </a:prstGeom>
          <a:solidFill>
            <a:srgbClr val="FFFFFF"/>
          </a:solidFill>
          <a:ln w="12700">
            <a:solidFill>
              <a:srgbClr val="D6D3D1"/>
            </a:solidFill>
            <a:prstDash val="solid"/>
          </a:ln>
        </p:spPr>
      </p:sp>
      <p:sp>
        <p:nvSpPr>
          <p:cNvPr id="27" name="Shape 25"/>
          <p:cNvSpPr/>
          <p:nvPr/>
        </p:nvSpPr>
        <p:spPr>
          <a:xfrm>
            <a:off x="11521440" y="3520440"/>
            <a:ext cx="91440" cy="2103120"/>
          </a:xfrm>
          <a:prstGeom prst="rect">
            <a:avLst/>
          </a:prstGeom>
          <a:solidFill>
            <a:srgbClr val="0F766E"/>
          </a:solidFill>
          <a:ln/>
        </p:spPr>
      </p:sp>
      <p:sp>
        <p:nvSpPr>
          <p:cNvPr id="28" name="Text 26"/>
          <p:cNvSpPr/>
          <p:nvPr/>
        </p:nvSpPr>
        <p:spPr>
          <a:xfrm>
            <a:off x="8183880" y="3840480"/>
            <a:ext cx="3200400" cy="640080"/>
          </a:xfrm>
          <a:prstGeom prst="rect">
            <a:avLst/>
          </a:prstGeom>
          <a:noFill/>
          <a:ln/>
        </p:spPr>
        <p:txBody>
          <a:bodyPr wrap="square" rtlCol="0" anchor="ctr"/>
          <a:lstStyle/>
          <a:p>
            <a:pPr rtl="1" algn="r" indent="0" marL="0">
              <a:buNone/>
            </a:pPr>
            <a:r>
              <a:rPr lang="en-US" sz="1500" b="1" dirty="0">
                <a:solidFill>
                  <a:srgbClr val="0B1F4D"/>
                </a:solidFill>
                <a:latin typeface="Segoe UI" pitchFamily="34" charset="0"/>
                <a:ea typeface="Segoe UI" pitchFamily="34" charset="-122"/>
                <a:cs typeface="Segoe UI" pitchFamily="34" charset="-120"/>
              </a:rPr>
              <a:t>ملكية البيانات</a:t>
            </a:r>
            <a:endParaRPr lang="en-US" sz="1500" dirty="0"/>
          </a:p>
        </p:txBody>
      </p:sp>
      <p:sp>
        <p:nvSpPr>
          <p:cNvPr id="29" name="Text 27"/>
          <p:cNvSpPr/>
          <p:nvPr/>
        </p:nvSpPr>
        <p:spPr>
          <a:xfrm>
            <a:off x="8183880" y="4572000"/>
            <a:ext cx="3200400" cy="731520"/>
          </a:xfrm>
          <a:prstGeom prst="rect">
            <a:avLst/>
          </a:prstGeom>
          <a:noFill/>
          <a:ln/>
        </p:spPr>
        <p:txBody>
          <a:bodyPr wrap="square" rtlCol="0" anchor="ctr"/>
          <a:lstStyle/>
          <a:p>
            <a:pPr rtl="1" algn="r" indent="0" marL="0">
              <a:buNone/>
            </a:pPr>
            <a:r>
              <a:rPr lang="en-US" sz="1300" dirty="0">
                <a:solidFill>
                  <a:srgbClr val="475569"/>
                </a:solidFill>
                <a:latin typeface="Segoe UI" pitchFamily="34" charset="0"/>
                <a:ea typeface="Segoe UI" pitchFamily="34" charset="-122"/>
                <a:cs typeface="Segoe UI" pitchFamily="34" charset="-120"/>
              </a:rPr>
              <a:t>كتالوجك يبقى لك — نحن قناة توزيع</a:t>
            </a:r>
            <a:endParaRPr lang="en-US" sz="1300" dirty="0"/>
          </a:p>
        </p:txBody>
      </p:sp>
      <p:sp>
        <p:nvSpPr>
          <p:cNvPr id="30" name="Shape 28"/>
          <p:cNvSpPr/>
          <p:nvPr/>
        </p:nvSpPr>
        <p:spPr>
          <a:xfrm>
            <a:off x="0" y="6510528"/>
            <a:ext cx="12191695" cy="347472"/>
          </a:xfrm>
          <a:prstGeom prst="rect">
            <a:avLst/>
          </a:prstGeom>
          <a:solidFill>
            <a:srgbClr val="F8F5F0"/>
          </a:solidFill>
          <a:ln/>
        </p:spPr>
      </p:sp>
      <p:sp>
        <p:nvSpPr>
          <p:cNvPr id="31" name="Text 29"/>
          <p:cNvSpPr/>
          <p:nvPr/>
        </p:nvSpPr>
        <p:spPr>
          <a:xfrm>
            <a:off x="411480" y="6547104"/>
            <a:ext cx="8229600" cy="256032"/>
          </a:xfrm>
          <a:prstGeom prst="rect">
            <a:avLst/>
          </a:prstGeom>
          <a:noFill/>
          <a:ln/>
        </p:spPr>
        <p:txBody>
          <a:bodyPr wrap="square" rtlCol="0" anchor="ctr"/>
          <a:lstStyle/>
          <a:p>
            <a:pPr rtl="1" algn="r" indent="0" marL="0">
              <a:buNone/>
            </a:pPr>
            <a:r>
              <a:rPr lang="en-US" sz="1000" dirty="0">
                <a:solidFill>
                  <a:srgbClr val="475569"/>
                </a:solidFill>
                <a:latin typeface="Segoe UI" pitchFamily="34" charset="0"/>
                <a:ea typeface="Segoe UI" pitchFamily="34" charset="-122"/>
                <a:cs typeface="Segoe UI" pitchFamily="34" charset="-120"/>
              </a:rPr>
              <a:t>AcadeGate · عرض شراكة الموردين · محدّث ١٩ سبتمبر ٢٠٢٦</a:t>
            </a:r>
            <a:endParaRPr lang="en-US" sz="1000" dirty="0"/>
          </a:p>
        </p:txBody>
      </p:sp>
      <p:sp>
        <p:nvSpPr>
          <p:cNvPr id="32" name="Text 30"/>
          <p:cNvSpPr/>
          <p:nvPr/>
        </p:nvSpPr>
        <p:spPr>
          <a:xfrm>
            <a:off x="10682935" y="6547104"/>
            <a:ext cx="1097280" cy="256032"/>
          </a:xfrm>
          <a:prstGeom prst="rect">
            <a:avLst/>
          </a:prstGeom>
          <a:noFill/>
          <a:ln/>
        </p:spPr>
        <p:txBody>
          <a:bodyPr wrap="square" rtlCol="0" anchor="ctr"/>
          <a:lstStyle/>
          <a:p>
            <a:pPr algn="l" indent="0" marL="0">
              <a:buNone/>
            </a:pPr>
            <a:r>
              <a:rPr lang="en-US" sz="1000" dirty="0">
                <a:solidFill>
                  <a:srgbClr val="475569"/>
                </a:solidFill>
                <a:latin typeface="Segoe UI" pitchFamily="34" charset="0"/>
                <a:ea typeface="Segoe UI" pitchFamily="34" charset="-122"/>
                <a:cs typeface="Segoe UI" pitchFamily="34" charset="-120"/>
              </a:rPr>
              <a:t>14 / 16</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sp>
      <p:sp>
        <p:nvSpPr>
          <p:cNvPr id="3" name="Shape 1"/>
          <p:cNvSpPr/>
          <p:nvPr/>
        </p:nvSpPr>
        <p:spPr>
          <a:xfrm>
            <a:off x="411480" y="256032"/>
            <a:ext cx="109728" cy="502920"/>
          </a:xfrm>
          <a:prstGeom prst="rect">
            <a:avLst/>
          </a:prstGeom>
          <a:solidFill>
            <a:srgbClr val="0F766E"/>
          </a:solidFill>
          <a:ln/>
        </p:spPr>
      </p:sp>
      <p:sp>
        <p:nvSpPr>
          <p:cNvPr id="4" name="Text 2"/>
          <p:cNvSpPr/>
          <p:nvPr/>
        </p:nvSpPr>
        <p:spPr>
          <a:xfrm>
            <a:off x="612648" y="201168"/>
            <a:ext cx="11167567" cy="566928"/>
          </a:xfrm>
          <a:prstGeom prst="rect">
            <a:avLst/>
          </a:prstGeom>
          <a:noFill/>
          <a:ln/>
        </p:spPr>
        <p:txBody>
          <a:bodyPr wrap="square" rtlCol="0" anchor="ctr"/>
          <a:lstStyle/>
          <a:p>
            <a:pPr rtl="1" algn="r" indent="0" marL="0">
              <a:buNone/>
            </a:pPr>
            <a:r>
              <a:rPr lang="en-US" sz="2400" b="1" dirty="0">
                <a:solidFill>
                  <a:srgbClr val="0B1F4D"/>
                </a:solidFill>
                <a:latin typeface="Segoe UI" pitchFamily="34" charset="0"/>
                <a:ea typeface="Segoe UI" pitchFamily="34" charset="-122"/>
                <a:cs typeface="Segoe UI" pitchFamily="34" charset="-120"/>
              </a:rPr>
              <a:t>١١ — لماذا الآن؟ وخطوات البدء</a:t>
            </a:r>
            <a:endParaRPr lang="en-US" sz="2400" dirty="0"/>
          </a:p>
        </p:txBody>
      </p:sp>
      <p:sp>
        <p:nvSpPr>
          <p:cNvPr id="5" name="Shape 3"/>
          <p:cNvSpPr/>
          <p:nvPr/>
        </p:nvSpPr>
        <p:spPr>
          <a:xfrm>
            <a:off x="411480" y="822960"/>
            <a:ext cx="11368735" cy="32004"/>
          </a:xfrm>
          <a:prstGeom prst="rect">
            <a:avLst/>
          </a:prstGeom>
          <a:solidFill>
            <a:srgbClr val="0F766E"/>
          </a:solidFill>
          <a:ln/>
        </p:spPr>
      </p:sp>
      <p:sp>
        <p:nvSpPr>
          <p:cNvPr id="6" name="Shape 4"/>
          <p:cNvSpPr/>
          <p:nvPr/>
        </p:nvSpPr>
        <p:spPr>
          <a:xfrm>
            <a:off x="411480" y="1143000"/>
            <a:ext cx="11368735" cy="685800"/>
          </a:xfrm>
          <a:prstGeom prst="roundRect">
            <a:avLst>
              <a:gd name="adj" fmla="val 13333"/>
            </a:avLst>
          </a:prstGeom>
          <a:solidFill>
            <a:srgbClr val="FFFFFF"/>
          </a:solidFill>
          <a:ln w="12700">
            <a:solidFill>
              <a:srgbClr val="D6D3D1"/>
            </a:solidFill>
            <a:prstDash val="solid"/>
          </a:ln>
        </p:spPr>
      </p:sp>
      <p:sp>
        <p:nvSpPr>
          <p:cNvPr id="7" name="Text 5"/>
          <p:cNvSpPr/>
          <p:nvPr/>
        </p:nvSpPr>
        <p:spPr>
          <a:xfrm>
            <a:off x="640080" y="1280160"/>
            <a:ext cx="10911535" cy="411480"/>
          </a:xfrm>
          <a:prstGeom prst="rect">
            <a:avLst/>
          </a:prstGeom>
          <a:noFill/>
          <a:ln/>
        </p:spPr>
        <p:txBody>
          <a:bodyPr wrap="square" rtlCol="0" anchor="ctr"/>
          <a:lstStyle/>
          <a:p>
            <a:pPr rtl="1" algn="r" indent="0" marL="0">
              <a:buNone/>
            </a:pPr>
            <a:r>
              <a:rPr lang="en-US" sz="1400" dirty="0">
                <a:solidFill>
                  <a:srgbClr val="0F172A"/>
                </a:solidFill>
                <a:latin typeface="Segoe UI" pitchFamily="34" charset="0"/>
                <a:ea typeface="Segoe UI" pitchFamily="34" charset="-122"/>
                <a:cs typeface="Segoe UI" pitchFamily="34" charset="-120"/>
              </a:rPr>
              <a:t>1. ميزة الرائد — أول الموردين يبنون سمعة وكتالوجاً يظهر أولاً</a:t>
            </a:r>
            <a:endParaRPr lang="en-US" sz="1400" dirty="0"/>
          </a:p>
        </p:txBody>
      </p:sp>
      <p:sp>
        <p:nvSpPr>
          <p:cNvPr id="8" name="Shape 6"/>
          <p:cNvSpPr/>
          <p:nvPr/>
        </p:nvSpPr>
        <p:spPr>
          <a:xfrm>
            <a:off x="411480" y="1920240"/>
            <a:ext cx="11368735" cy="685800"/>
          </a:xfrm>
          <a:prstGeom prst="roundRect">
            <a:avLst>
              <a:gd name="adj" fmla="val 13333"/>
            </a:avLst>
          </a:prstGeom>
          <a:solidFill>
            <a:srgbClr val="EEF6F5"/>
          </a:solidFill>
          <a:ln w="12700">
            <a:solidFill>
              <a:srgbClr val="CCFBF1"/>
            </a:solidFill>
            <a:prstDash val="solid"/>
          </a:ln>
        </p:spPr>
      </p:sp>
      <p:sp>
        <p:nvSpPr>
          <p:cNvPr id="9" name="Text 7"/>
          <p:cNvSpPr/>
          <p:nvPr/>
        </p:nvSpPr>
        <p:spPr>
          <a:xfrm>
            <a:off x="640080" y="2057400"/>
            <a:ext cx="10911535" cy="411480"/>
          </a:xfrm>
          <a:prstGeom prst="rect">
            <a:avLst/>
          </a:prstGeom>
          <a:noFill/>
          <a:ln/>
        </p:spPr>
        <p:txBody>
          <a:bodyPr wrap="square" rtlCol="0" anchor="ctr"/>
          <a:lstStyle/>
          <a:p>
            <a:pPr rtl="1" algn="r" indent="0" marL="0">
              <a:buNone/>
            </a:pPr>
            <a:r>
              <a:rPr lang="en-US" sz="1400" dirty="0">
                <a:solidFill>
                  <a:srgbClr val="0F172A"/>
                </a:solidFill>
                <a:latin typeface="Segoe UI" pitchFamily="34" charset="0"/>
                <a:ea typeface="Segoe UI" pitchFamily="34" charset="-122"/>
                <a:cs typeface="Segoe UI" pitchFamily="34" charset="-120"/>
              </a:rPr>
              <a:t>2. المتجر صار جاهزاً أكثر — Hub · عربة · RFQ · متاجر موردين — أقل احتكاكاً للمشتري</a:t>
            </a:r>
            <a:endParaRPr lang="en-US" sz="1400" dirty="0"/>
          </a:p>
        </p:txBody>
      </p:sp>
      <p:sp>
        <p:nvSpPr>
          <p:cNvPr id="10" name="Shape 8"/>
          <p:cNvSpPr/>
          <p:nvPr/>
        </p:nvSpPr>
        <p:spPr>
          <a:xfrm>
            <a:off x="411480" y="2697480"/>
            <a:ext cx="11368735" cy="685800"/>
          </a:xfrm>
          <a:prstGeom prst="roundRect">
            <a:avLst>
              <a:gd name="adj" fmla="val 13333"/>
            </a:avLst>
          </a:prstGeom>
          <a:solidFill>
            <a:srgbClr val="FFFFFF"/>
          </a:solidFill>
          <a:ln w="12700">
            <a:solidFill>
              <a:srgbClr val="D6D3D1"/>
            </a:solidFill>
            <a:prstDash val="solid"/>
          </a:ln>
        </p:spPr>
      </p:sp>
      <p:sp>
        <p:nvSpPr>
          <p:cNvPr id="11" name="Text 9"/>
          <p:cNvSpPr/>
          <p:nvPr/>
        </p:nvSpPr>
        <p:spPr>
          <a:xfrm>
            <a:off x="640080" y="2834640"/>
            <a:ext cx="10911535" cy="411480"/>
          </a:xfrm>
          <a:prstGeom prst="rect">
            <a:avLst/>
          </a:prstGeom>
          <a:noFill/>
          <a:ln/>
        </p:spPr>
        <p:txBody>
          <a:bodyPr wrap="square" rtlCol="0" anchor="ctr"/>
          <a:lstStyle/>
          <a:p>
            <a:pPr rtl="1" algn="r" indent="0" marL="0">
              <a:buNone/>
            </a:pPr>
            <a:r>
              <a:rPr lang="en-US" sz="1400" dirty="0">
                <a:solidFill>
                  <a:srgbClr val="0F172A"/>
                </a:solidFill>
                <a:latin typeface="Segoe UI" pitchFamily="34" charset="0"/>
                <a:ea typeface="Segoe UI" pitchFamily="34" charset="-122"/>
                <a:cs typeface="Segoe UI" pitchFamily="34" charset="-120"/>
              </a:rPr>
              <a:t>3. تأثير الشبكة — كل باحث جديد يرى متجرك ضمن رحلته</a:t>
            </a:r>
            <a:endParaRPr lang="en-US" sz="1400" dirty="0"/>
          </a:p>
        </p:txBody>
      </p:sp>
      <p:sp>
        <p:nvSpPr>
          <p:cNvPr id="12" name="Shape 10"/>
          <p:cNvSpPr/>
          <p:nvPr/>
        </p:nvSpPr>
        <p:spPr>
          <a:xfrm>
            <a:off x="411480" y="3474720"/>
            <a:ext cx="11368735" cy="685800"/>
          </a:xfrm>
          <a:prstGeom prst="roundRect">
            <a:avLst>
              <a:gd name="adj" fmla="val 13333"/>
            </a:avLst>
          </a:prstGeom>
          <a:solidFill>
            <a:srgbClr val="EEF6F5"/>
          </a:solidFill>
          <a:ln w="12700">
            <a:solidFill>
              <a:srgbClr val="CCFBF1"/>
            </a:solidFill>
            <a:prstDash val="solid"/>
          </a:ln>
        </p:spPr>
      </p:sp>
      <p:sp>
        <p:nvSpPr>
          <p:cNvPr id="13" name="Text 11"/>
          <p:cNvSpPr/>
          <p:nvPr/>
        </p:nvSpPr>
        <p:spPr>
          <a:xfrm>
            <a:off x="640080" y="3611880"/>
            <a:ext cx="10911535" cy="411480"/>
          </a:xfrm>
          <a:prstGeom prst="rect">
            <a:avLst/>
          </a:prstGeom>
          <a:noFill/>
          <a:ln/>
        </p:spPr>
        <p:txBody>
          <a:bodyPr wrap="square" rtlCol="0" anchor="ctr"/>
          <a:lstStyle/>
          <a:p>
            <a:pPr rtl="1" algn="r" indent="0" marL="0">
              <a:buNone/>
            </a:pPr>
            <a:r>
              <a:rPr lang="en-US" sz="1400" dirty="0">
                <a:solidFill>
                  <a:srgbClr val="0F172A"/>
                </a:solidFill>
                <a:latin typeface="Segoe UI" pitchFamily="34" charset="0"/>
                <a:ea typeface="Segoe UI" pitchFamily="34" charset="-122"/>
                <a:cs typeface="Segoe UI" pitchFamily="34" charset="-120"/>
              </a:rPr>
              <a:t>4. مرونة التجربة — ابدأ بـ ٣–١٠ منتجات عالية الدوران ثم وسّع</a:t>
            </a:r>
            <a:endParaRPr lang="en-US" sz="1400" dirty="0"/>
          </a:p>
        </p:txBody>
      </p:sp>
      <p:sp>
        <p:nvSpPr>
          <p:cNvPr id="14" name="Shape 12"/>
          <p:cNvSpPr/>
          <p:nvPr/>
        </p:nvSpPr>
        <p:spPr>
          <a:xfrm>
            <a:off x="411480" y="4389120"/>
            <a:ext cx="11368735" cy="1554480"/>
          </a:xfrm>
          <a:prstGeom prst="roundRect">
            <a:avLst>
              <a:gd name="adj" fmla="val 5882"/>
            </a:avLst>
          </a:prstGeom>
          <a:solidFill>
            <a:srgbClr val="0B1F4D"/>
          </a:solidFill>
          <a:ln w="12700">
            <a:solidFill>
              <a:srgbClr val="0B1F4D"/>
            </a:solidFill>
            <a:prstDash val="solid"/>
          </a:ln>
        </p:spPr>
      </p:sp>
      <p:sp>
        <p:nvSpPr>
          <p:cNvPr id="15" name="Text 13"/>
          <p:cNvSpPr/>
          <p:nvPr/>
        </p:nvSpPr>
        <p:spPr>
          <a:xfrm>
            <a:off x="685800" y="4572000"/>
            <a:ext cx="10820095" cy="365760"/>
          </a:xfrm>
          <a:prstGeom prst="rect">
            <a:avLst/>
          </a:prstGeom>
          <a:noFill/>
          <a:ln/>
        </p:spPr>
        <p:txBody>
          <a:bodyPr wrap="square" rtlCol="0" anchor="ctr"/>
          <a:lstStyle/>
          <a:p>
            <a:pPr rtl="1" algn="r" indent="0" marL="0">
              <a:buNone/>
            </a:pPr>
            <a:r>
              <a:rPr lang="en-US" sz="1400" b="1" dirty="0">
                <a:solidFill>
                  <a:srgbClr val="FFFFFF"/>
                </a:solidFill>
                <a:latin typeface="Segoe UI" pitchFamily="34" charset="0"/>
                <a:ea typeface="Segoe UI" pitchFamily="34" charset="-122"/>
                <a:cs typeface="Segoe UI" pitchFamily="34" charset="-120"/>
              </a:rPr>
              <a:t>الخطوات: تواصل كشريك → حساب تاجر → ٣–١٠ منتجات → اتفاق قسم وعمولة</a:t>
            </a:r>
            <a:endParaRPr lang="en-US" sz="1400" dirty="0"/>
          </a:p>
        </p:txBody>
      </p:sp>
      <p:sp>
        <p:nvSpPr>
          <p:cNvPr id="16" name="Text 14"/>
          <p:cNvSpPr/>
          <p:nvPr/>
        </p:nvSpPr>
        <p:spPr>
          <a:xfrm>
            <a:off x="685800" y="4983480"/>
            <a:ext cx="10820095" cy="320040"/>
          </a:xfrm>
          <a:prstGeom prst="rect">
            <a:avLst/>
          </a:prstGeom>
          <a:noFill/>
          <a:ln/>
        </p:spPr>
        <p:txBody>
          <a:bodyPr wrap="square" rtlCol="0" anchor="ctr"/>
          <a:lstStyle/>
          <a:p>
            <a:pPr rtl="1" algn="r" indent="0" marL="0">
              <a:buNone/>
            </a:pPr>
            <a:r>
              <a:rPr lang="en-US" sz="1300" b="1" dirty="0">
                <a:solidFill>
                  <a:srgbClr val="FBBF24"/>
                </a:solidFill>
                <a:latin typeface="Segoe UI" pitchFamily="34" charset="0"/>
                <a:ea typeface="Segoe UI" pitchFamily="34" charset="-122"/>
                <a:cs typeface="Segoe UI" pitchFamily="34" charset="-120"/>
              </a:rPr>
              <a:t>المنصة: https://acadegate-new.web.app   ·   التسجيل: https://acadegate-new.web.app/register</a:t>
            </a:r>
            <a:endParaRPr lang="en-US" sz="1300" dirty="0"/>
          </a:p>
        </p:txBody>
      </p:sp>
      <p:sp>
        <p:nvSpPr>
          <p:cNvPr id="17" name="Text 15"/>
          <p:cNvSpPr/>
          <p:nvPr/>
        </p:nvSpPr>
        <p:spPr>
          <a:xfrm>
            <a:off x="685800" y="5349240"/>
            <a:ext cx="10820095" cy="320040"/>
          </a:xfrm>
          <a:prstGeom prst="rect">
            <a:avLst/>
          </a:prstGeom>
          <a:noFill/>
          <a:ln/>
        </p:spPr>
        <p:txBody>
          <a:bodyPr wrap="square" rtlCol="0" anchor="ctr"/>
          <a:lstStyle/>
          <a:p>
            <a:pPr rtl="1" algn="r" indent="0" marL="0">
              <a:buNone/>
            </a:pPr>
            <a:r>
              <a:rPr lang="en-US" sz="1200" dirty="0">
                <a:solidFill>
                  <a:srgbClr val="E2E8F0"/>
                </a:solidFill>
                <a:latin typeface="Segoe UI" pitchFamily="34" charset="0"/>
                <a:ea typeface="Segoe UI" pitchFamily="34" charset="-122"/>
                <a:cs typeface="Segoe UI" pitchFamily="34" charset="-120"/>
              </a:rPr>
              <a:t>بريد: acadegate@gmail.com   ·   بديل واتساب: https://acadegate-new.firebaseapp.com</a:t>
            </a:r>
            <a:endParaRPr lang="en-US" sz="1200" dirty="0"/>
          </a:p>
        </p:txBody>
      </p:sp>
      <p:sp>
        <p:nvSpPr>
          <p:cNvPr id="18" name="Shape 16"/>
          <p:cNvSpPr/>
          <p:nvPr/>
        </p:nvSpPr>
        <p:spPr>
          <a:xfrm>
            <a:off x="0" y="6510528"/>
            <a:ext cx="12191695" cy="347472"/>
          </a:xfrm>
          <a:prstGeom prst="rect">
            <a:avLst/>
          </a:prstGeom>
          <a:solidFill>
            <a:srgbClr val="F8F5F0"/>
          </a:solidFill>
          <a:ln/>
        </p:spPr>
      </p:sp>
      <p:sp>
        <p:nvSpPr>
          <p:cNvPr id="19" name="Text 17"/>
          <p:cNvSpPr/>
          <p:nvPr/>
        </p:nvSpPr>
        <p:spPr>
          <a:xfrm>
            <a:off x="411480" y="6547104"/>
            <a:ext cx="8229600" cy="256032"/>
          </a:xfrm>
          <a:prstGeom prst="rect">
            <a:avLst/>
          </a:prstGeom>
          <a:noFill/>
          <a:ln/>
        </p:spPr>
        <p:txBody>
          <a:bodyPr wrap="square" rtlCol="0" anchor="ctr"/>
          <a:lstStyle/>
          <a:p>
            <a:pPr rtl="1" algn="r" indent="0" marL="0">
              <a:buNone/>
            </a:pPr>
            <a:r>
              <a:rPr lang="en-US" sz="1000" dirty="0">
                <a:solidFill>
                  <a:srgbClr val="475569"/>
                </a:solidFill>
                <a:latin typeface="Segoe UI" pitchFamily="34" charset="0"/>
                <a:ea typeface="Segoe UI" pitchFamily="34" charset="-122"/>
                <a:cs typeface="Segoe UI" pitchFamily="34" charset="-120"/>
              </a:rPr>
              <a:t>AcadeGate · عرض شراكة الموردين · محدّث ١٩ سبتمبر ٢٠٢٦</a:t>
            </a:r>
            <a:endParaRPr lang="en-US" sz="1000" dirty="0"/>
          </a:p>
        </p:txBody>
      </p:sp>
      <p:sp>
        <p:nvSpPr>
          <p:cNvPr id="20" name="Text 18"/>
          <p:cNvSpPr/>
          <p:nvPr/>
        </p:nvSpPr>
        <p:spPr>
          <a:xfrm>
            <a:off x="10682935" y="6547104"/>
            <a:ext cx="1097280" cy="256032"/>
          </a:xfrm>
          <a:prstGeom prst="rect">
            <a:avLst/>
          </a:prstGeom>
          <a:noFill/>
          <a:ln/>
        </p:spPr>
        <p:txBody>
          <a:bodyPr wrap="square" rtlCol="0" anchor="ctr"/>
          <a:lstStyle/>
          <a:p>
            <a:pPr algn="l" indent="0" marL="0">
              <a:buNone/>
            </a:pPr>
            <a:r>
              <a:rPr lang="en-US" sz="1000" dirty="0">
                <a:solidFill>
                  <a:srgbClr val="475569"/>
                </a:solidFill>
                <a:latin typeface="Segoe UI" pitchFamily="34" charset="0"/>
                <a:ea typeface="Segoe UI" pitchFamily="34" charset="-122"/>
                <a:cs typeface="Segoe UI" pitchFamily="34" charset="-120"/>
              </a:rPr>
              <a:t>15 / 16</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sp>
      <p:sp>
        <p:nvSpPr>
          <p:cNvPr id="3" name="Shape 1"/>
          <p:cNvSpPr/>
          <p:nvPr/>
        </p:nvSpPr>
        <p:spPr>
          <a:xfrm>
            <a:off x="411480" y="256032"/>
            <a:ext cx="109728" cy="502920"/>
          </a:xfrm>
          <a:prstGeom prst="rect">
            <a:avLst/>
          </a:prstGeom>
          <a:solidFill>
            <a:srgbClr val="0F766E"/>
          </a:solidFill>
          <a:ln/>
        </p:spPr>
      </p:sp>
      <p:sp>
        <p:nvSpPr>
          <p:cNvPr id="4" name="Text 2"/>
          <p:cNvSpPr/>
          <p:nvPr/>
        </p:nvSpPr>
        <p:spPr>
          <a:xfrm>
            <a:off x="612648" y="201168"/>
            <a:ext cx="11167567" cy="566928"/>
          </a:xfrm>
          <a:prstGeom prst="rect">
            <a:avLst/>
          </a:prstGeom>
          <a:noFill/>
          <a:ln/>
        </p:spPr>
        <p:txBody>
          <a:bodyPr wrap="square" rtlCol="0" anchor="ctr"/>
          <a:lstStyle/>
          <a:p>
            <a:pPr rtl="1" algn="r" indent="0" marL="0">
              <a:buNone/>
            </a:pPr>
            <a:r>
              <a:rPr lang="en-US" sz="2400" b="1" dirty="0">
                <a:solidFill>
                  <a:srgbClr val="0B1F4D"/>
                </a:solidFill>
                <a:latin typeface="Segoe UI" pitchFamily="34" charset="0"/>
                <a:ea typeface="Segoe UI" pitchFamily="34" charset="-122"/>
                <a:cs typeface="Segoe UI" pitchFamily="34" charset="-120"/>
              </a:rPr>
              <a:t>ملحق — ملخص تنفيذي لصفحة واحدة</a:t>
            </a:r>
            <a:endParaRPr lang="en-US" sz="2400" dirty="0"/>
          </a:p>
        </p:txBody>
      </p:sp>
      <p:sp>
        <p:nvSpPr>
          <p:cNvPr id="5" name="Shape 3"/>
          <p:cNvSpPr/>
          <p:nvPr/>
        </p:nvSpPr>
        <p:spPr>
          <a:xfrm>
            <a:off x="411480" y="822960"/>
            <a:ext cx="11368735" cy="32004"/>
          </a:xfrm>
          <a:prstGeom prst="rect">
            <a:avLst/>
          </a:prstGeom>
          <a:solidFill>
            <a:srgbClr val="0F766E"/>
          </a:solidFill>
          <a:ln/>
        </p:spPr>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11480" y="1051560"/>
          <a:ext cx="11368735" cy="914400"/>
        </p:xfrm>
        <a:graphic>
          <a:graphicData uri="http://schemas.openxmlformats.org/drawingml/2006/table">
            <a:tbl>
              <a:tblPr/>
              <a:tblGrid>
                <a:gridCol w="3200400"/>
                <a:gridCol w="8214055"/>
              </a:tblGrid>
              <a:tr h="0">
                <a:tc>
                  <a:txBody>
                    <a:bodyPr/>
                    <a:lstStyle/>
                    <a:p>
                      <a:pPr algn="r" indent="0" marL="0">
                        <a:buNone/>
                      </a:pPr>
                      <a:r>
                        <a:rPr lang="en-US" sz="1200" b="1" dirty="0">
                          <a:solidFill>
                            <a:srgbClr val="FFFFFF"/>
                          </a:solidFill>
                          <a:latin typeface="Segoe UI" pitchFamily="34" charset="0"/>
                          <a:ea typeface="Segoe UI" pitchFamily="34" charset="-122"/>
                          <a:cs typeface="Segoe UI" pitchFamily="34" charset="-120"/>
                        </a:rPr>
                        <a:t>البند</a:t>
                      </a:r>
                      <a:endParaRPr lang="en-US" sz="1200" dirty="0">
                        <a:latin typeface="Segoe UI" charset="0"/>
                        <a:ea typeface="Segoe UI" charset="0"/>
                        <a:cs typeface="Segoe UI" charset="0"/>
                      </a:endParaRPr>
                    </a:p>
                  </a:txBody>
                  <a:tcPr marL="91440" marR="91440" marT="45720" marB="45720" anchor="ctr">
                    <a:lnL w="0" cap="flat" cmpd="sng" algn="ctr">
                      <a:noFill/>
                    </a:lnL>
                    <a:lnR w="0" cap="flat" cmpd="sng" algn="ctr">
                      <a:noFill/>
                    </a:lnR>
                    <a:lnT w="6350" cap="flat" cmpd="sng" algn="ctr">
                      <a:solidFill>
                        <a:srgbClr val="D6D3D1"/>
                      </a:solidFill>
                      <a:prstDash val="solid"/>
                      <a:round/>
                      <a:headEnd type="none" w="med" len="med"/>
                      <a:tailEnd type="none" w="med" len="med"/>
                    </a:lnT>
                    <a:lnB w="0" cap="flat" cmpd="sng" algn="ctr">
                      <a:noFill/>
                    </a:lnB>
                    <a:solidFill>
                      <a:srgbClr val="0B1F4D"/>
                    </a:solidFill>
                  </a:tcPr>
                </a:tc>
                <a:tc>
                  <a:txBody>
                    <a:bodyPr/>
                    <a:lstStyle/>
                    <a:p>
                      <a:pPr algn="r" indent="0" marL="0">
                        <a:buNone/>
                      </a:pPr>
                      <a:r>
                        <a:rPr lang="en-US" sz="1200" b="1" dirty="0">
                          <a:solidFill>
                            <a:srgbClr val="FFFFFF"/>
                          </a:solidFill>
                          <a:latin typeface="Segoe UI" pitchFamily="34" charset="0"/>
                          <a:ea typeface="Segoe UI" pitchFamily="34" charset="-122"/>
                          <a:cs typeface="Segoe UI" pitchFamily="34" charset="-120"/>
                        </a:rPr>
                        <a:t>المحتوى</a:t>
                      </a:r>
                      <a:endParaRPr lang="en-US" sz="1200" dirty="0">
                        <a:latin typeface="Segoe UI" charset="0"/>
                        <a:ea typeface="Segoe UI" charset="0"/>
                        <a:cs typeface="Segoe UI" charset="0"/>
                      </a:endParaRPr>
                    </a:p>
                  </a:txBody>
                  <a:tcPr marL="91440" marR="91440" marT="45720" marB="45720" anchor="ctr">
                    <a:lnL w="0" cap="flat" cmpd="sng" algn="ctr">
                      <a:noFill/>
                    </a:lnL>
                    <a:lnR w="0" cap="flat" cmpd="sng" algn="ctr">
                      <a:noFill/>
                    </a:lnR>
                    <a:lnT w="6350" cap="flat" cmpd="sng" algn="ctr">
                      <a:solidFill>
                        <a:srgbClr val="D6D3D1"/>
                      </a:solidFill>
                      <a:prstDash val="solid"/>
                      <a:round/>
                      <a:headEnd type="none" w="med" len="med"/>
                      <a:tailEnd type="none" w="med" len="med"/>
                    </a:lnT>
                    <a:lnB w="0" cap="flat" cmpd="sng" algn="ctr">
                      <a:noFill/>
                    </a:lnB>
                    <a:solidFill>
                      <a:srgbClr val="0B1F4D"/>
                    </a:solidFill>
                  </a:tcPr>
                </a:tc>
              </a:tr>
              <a:tr h="0">
                <a:tc>
                  <a:txBody>
                    <a:bodyPr/>
                    <a:lstStyle/>
                    <a:p>
                      <a:pPr algn="r" indent="0" marL="0">
                        <a:buNone/>
                      </a:pPr>
                      <a:r>
                        <a:rPr lang="en-US" sz="1200" dirty="0">
                          <a:solidFill>
                            <a:srgbClr val="0F172A"/>
                          </a:solidFill>
                          <a:latin typeface="Segoe UI" pitchFamily="34" charset="0"/>
                          <a:ea typeface="Segoe UI" pitchFamily="34" charset="-122"/>
                          <a:cs typeface="Segoe UI" pitchFamily="34" charset="-120"/>
                        </a:rPr>
                        <a:t>فكرة المنصة</a:t>
                      </a:r>
                      <a:endParaRPr lang="en-US" sz="1200" dirty="0">
                        <a:latin typeface="Segoe UI" charset="0"/>
                        <a:ea typeface="Segoe UI" charset="0"/>
                        <a:cs typeface="Segoe UI" charset="0"/>
                      </a:endParaRPr>
                    </a:p>
                  </a:txBody>
                  <a:tcPr marL="91440" marR="91440" marT="45720" marB="45720" anchor="ctr">
                    <a:lnL w="0" cap="flat" cmpd="sng" algn="ctr">
                      <a:noFill/>
                    </a:lnL>
                    <a:lnR w="0" cap="flat" cmpd="sng" algn="ctr">
                      <a:noFill/>
                    </a:lnR>
                    <a:lnT w="6350" cap="flat" cmpd="sng" algn="ctr">
                      <a:solidFill>
                        <a:srgbClr val="D6D3D1"/>
                      </a:solidFill>
                      <a:prstDash val="solid"/>
                      <a:round/>
                      <a:headEnd type="none" w="med" len="med"/>
                      <a:tailEnd type="none" w="med" len="med"/>
                    </a:lnT>
                    <a:lnB w="0" cap="flat" cmpd="sng" algn="ctr">
                      <a:noFill/>
                    </a:lnB>
                    <a:solidFill>
                      <a:srgbClr val="FFFFFF"/>
                    </a:solidFill>
                  </a:tcPr>
                </a:tc>
                <a:tc>
                  <a:txBody>
                    <a:bodyPr/>
                    <a:lstStyle/>
                    <a:p>
                      <a:pPr algn="r" indent="0" marL="0">
                        <a:buNone/>
                      </a:pPr>
                      <a:r>
                        <a:rPr lang="en-US" sz="1200" dirty="0">
                          <a:solidFill>
                            <a:srgbClr val="0F172A"/>
                          </a:solidFill>
                          <a:latin typeface="Segoe UI" pitchFamily="34" charset="0"/>
                          <a:ea typeface="Segoe UI" pitchFamily="34" charset="-122"/>
                          <a:cs typeface="Segoe UI" pitchFamily="34" charset="-120"/>
                        </a:rPr>
                        <a:t>رحلة دراسات عليا متكاملة — المتجر نقطة التنفيذ المادي</a:t>
                      </a:r>
                      <a:endParaRPr lang="en-US" sz="1200" dirty="0">
                        <a:latin typeface="Segoe UI" charset="0"/>
                        <a:ea typeface="Segoe UI" charset="0"/>
                        <a:cs typeface="Segoe UI" charset="0"/>
                      </a:endParaRPr>
                    </a:p>
                  </a:txBody>
                  <a:tcPr marL="91440" marR="91440" marT="45720" marB="45720" anchor="ctr">
                    <a:lnL w="0" cap="flat" cmpd="sng" algn="ctr">
                      <a:noFill/>
                    </a:lnL>
                    <a:lnR w="0" cap="flat" cmpd="sng" algn="ctr">
                      <a:noFill/>
                    </a:lnR>
                    <a:lnT w="6350" cap="flat" cmpd="sng" algn="ctr">
                      <a:solidFill>
                        <a:srgbClr val="D6D3D1"/>
                      </a:solidFill>
                      <a:prstDash val="solid"/>
                      <a:round/>
                      <a:headEnd type="none" w="med" len="med"/>
                      <a:tailEnd type="none" w="med" len="med"/>
                    </a:lnT>
                    <a:lnB w="0" cap="flat" cmpd="sng" algn="ctr">
                      <a:noFill/>
                    </a:lnB>
                    <a:solidFill>
                      <a:srgbClr val="FFFFFF"/>
                    </a:solidFill>
                  </a:tcPr>
                </a:tc>
              </a:tr>
              <a:tr h="0">
                <a:tc>
                  <a:txBody>
                    <a:bodyPr/>
                    <a:lstStyle/>
                    <a:p>
                      <a:pPr algn="r" indent="0" marL="0">
                        <a:buNone/>
                      </a:pPr>
                      <a:r>
                        <a:rPr lang="en-US" sz="1200" dirty="0">
                          <a:solidFill>
                            <a:srgbClr val="0F172A"/>
                          </a:solidFill>
                          <a:latin typeface="Segoe UI" pitchFamily="34" charset="0"/>
                          <a:ea typeface="Segoe UI" pitchFamily="34" charset="-122"/>
                          <a:cs typeface="Segoe UI" pitchFamily="34" charset="-120"/>
                        </a:rPr>
                        <a:t>عرض المورد</a:t>
                      </a:r>
                      <a:endParaRPr lang="en-US" sz="1200" dirty="0">
                        <a:latin typeface="Segoe UI" charset="0"/>
                        <a:ea typeface="Segoe UI" charset="0"/>
                        <a:cs typeface="Segoe UI" charset="0"/>
                      </a:endParaRPr>
                    </a:p>
                  </a:txBody>
                  <a:tcPr marL="91440" marR="91440" marT="45720" marB="45720" anchor="ctr">
                    <a:lnL w="0" cap="flat" cmpd="sng" algn="ctr">
                      <a:noFill/>
                    </a:lnL>
                    <a:lnR w="0" cap="flat" cmpd="sng" algn="ctr">
                      <a:noFill/>
                    </a:lnR>
                    <a:lnT w="6350" cap="flat" cmpd="sng" algn="ctr">
                      <a:solidFill>
                        <a:srgbClr val="D6D3D1"/>
                      </a:solidFill>
                      <a:prstDash val="solid"/>
                      <a:round/>
                      <a:headEnd type="none" w="med" len="med"/>
                      <a:tailEnd type="none" w="med" len="med"/>
                    </a:lnT>
                    <a:lnB w="0" cap="flat" cmpd="sng" algn="ctr">
                      <a:noFill/>
                    </a:lnB>
                    <a:solidFill>
                      <a:srgbClr val="FFFFFF"/>
                    </a:solidFill>
                  </a:tcPr>
                </a:tc>
                <a:tc>
                  <a:txBody>
                    <a:bodyPr/>
                    <a:lstStyle/>
                    <a:p>
                      <a:pPr algn="r" indent="0" marL="0">
                        <a:buNone/>
                      </a:pPr>
                      <a:r>
                        <a:rPr lang="en-US" sz="1200" dirty="0">
                          <a:solidFill>
                            <a:srgbClr val="0F172A"/>
                          </a:solidFill>
                          <a:latin typeface="Segoe UI" pitchFamily="34" charset="0"/>
                          <a:ea typeface="Segoe UI" pitchFamily="34" charset="-122"/>
                          <a:cs typeface="Segoe UI" pitchFamily="34" charset="-120"/>
                        </a:rPr>
                        <a:t>قناة بيع أكاديمية + Escrow + Hub + عربة + RFQ</a:t>
                      </a:r>
                      <a:endParaRPr lang="en-US" sz="1200" dirty="0">
                        <a:latin typeface="Segoe UI" charset="0"/>
                        <a:ea typeface="Segoe UI" charset="0"/>
                        <a:cs typeface="Segoe UI" charset="0"/>
                      </a:endParaRPr>
                    </a:p>
                  </a:txBody>
                  <a:tcPr marL="91440" marR="91440" marT="45720" marB="45720" anchor="ctr">
                    <a:lnL w="0" cap="flat" cmpd="sng" algn="ctr">
                      <a:noFill/>
                    </a:lnL>
                    <a:lnR w="0" cap="flat" cmpd="sng" algn="ctr">
                      <a:noFill/>
                    </a:lnR>
                    <a:lnT w="6350" cap="flat" cmpd="sng" algn="ctr">
                      <a:solidFill>
                        <a:srgbClr val="D6D3D1"/>
                      </a:solidFill>
                      <a:prstDash val="solid"/>
                      <a:round/>
                      <a:headEnd type="none" w="med" len="med"/>
                      <a:tailEnd type="none" w="med" len="med"/>
                    </a:lnT>
                    <a:lnB w="0" cap="flat" cmpd="sng" algn="ctr">
                      <a:noFill/>
                    </a:lnB>
                    <a:solidFill>
                      <a:srgbClr val="FFFFFF"/>
                    </a:solidFill>
                  </a:tcPr>
                </a:tc>
              </a:tr>
              <a:tr h="0">
                <a:tc>
                  <a:txBody>
                    <a:bodyPr/>
                    <a:lstStyle/>
                    <a:p>
                      <a:pPr algn="r" indent="0" marL="0">
                        <a:buNone/>
                      </a:pPr>
                      <a:r>
                        <a:rPr lang="en-US" sz="1200" dirty="0">
                          <a:solidFill>
                            <a:srgbClr val="0F172A"/>
                          </a:solidFill>
                          <a:latin typeface="Segoe UI" pitchFamily="34" charset="0"/>
                          <a:ea typeface="Segoe UI" pitchFamily="34" charset="-122"/>
                          <a:cs typeface="Segoe UI" pitchFamily="34" charset="-120"/>
                        </a:rPr>
                        <a:t>الأقسام</a:t>
                      </a:r>
                      <a:endParaRPr lang="en-US" sz="1200" dirty="0">
                        <a:latin typeface="Segoe UI" charset="0"/>
                        <a:ea typeface="Segoe UI" charset="0"/>
                        <a:cs typeface="Segoe UI" charset="0"/>
                      </a:endParaRPr>
                    </a:p>
                  </a:txBody>
                  <a:tcPr marL="91440" marR="91440" marT="45720" marB="45720" anchor="ctr">
                    <a:lnL w="0" cap="flat" cmpd="sng" algn="ctr">
                      <a:noFill/>
                    </a:lnL>
                    <a:lnR w="0" cap="flat" cmpd="sng" algn="ctr">
                      <a:noFill/>
                    </a:lnR>
                    <a:lnT w="6350" cap="flat" cmpd="sng" algn="ctr">
                      <a:solidFill>
                        <a:srgbClr val="D6D3D1"/>
                      </a:solidFill>
                      <a:prstDash val="solid"/>
                      <a:round/>
                      <a:headEnd type="none" w="med" len="med"/>
                      <a:tailEnd type="none" w="med" len="med"/>
                    </a:lnT>
                    <a:lnB w="0" cap="flat" cmpd="sng" algn="ctr">
                      <a:noFill/>
                    </a:lnB>
                    <a:solidFill>
                      <a:srgbClr val="FFFFFF"/>
                    </a:solidFill>
                  </a:tcPr>
                </a:tc>
                <a:tc>
                  <a:txBody>
                    <a:bodyPr/>
                    <a:lstStyle/>
                    <a:p>
                      <a:pPr algn="r" indent="0" marL="0">
                        <a:buNone/>
                      </a:pPr>
                      <a:r>
                        <a:rPr lang="en-US" sz="1200" dirty="0">
                          <a:solidFill>
                            <a:srgbClr val="0F172A"/>
                          </a:solidFill>
                          <a:latin typeface="Segoe UI" pitchFamily="34" charset="0"/>
                          <a:ea typeface="Segoe UI" pitchFamily="34" charset="-122"/>
                          <a:cs typeface="Segoe UI" pitchFamily="34" charset="-120"/>
                        </a:rPr>
                        <a:t>١٥ قسماً متخصصاً</a:t>
                      </a:r>
                      <a:endParaRPr lang="en-US" sz="1200" dirty="0">
                        <a:latin typeface="Segoe UI" charset="0"/>
                        <a:ea typeface="Segoe UI" charset="0"/>
                        <a:cs typeface="Segoe UI" charset="0"/>
                      </a:endParaRPr>
                    </a:p>
                  </a:txBody>
                  <a:tcPr marL="91440" marR="91440" marT="45720" marB="45720" anchor="ctr">
                    <a:lnL w="0" cap="flat" cmpd="sng" algn="ctr">
                      <a:noFill/>
                    </a:lnL>
                    <a:lnR w="0" cap="flat" cmpd="sng" algn="ctr">
                      <a:noFill/>
                    </a:lnR>
                    <a:lnT w="6350" cap="flat" cmpd="sng" algn="ctr">
                      <a:solidFill>
                        <a:srgbClr val="D6D3D1"/>
                      </a:solidFill>
                      <a:prstDash val="solid"/>
                      <a:round/>
                      <a:headEnd type="none" w="med" len="med"/>
                      <a:tailEnd type="none" w="med" len="med"/>
                    </a:lnT>
                    <a:lnB w="0" cap="flat" cmpd="sng" algn="ctr">
                      <a:noFill/>
                    </a:lnB>
                    <a:solidFill>
                      <a:srgbClr val="FFFFFF"/>
                    </a:solidFill>
                  </a:tcPr>
                </a:tc>
              </a:tr>
              <a:tr h="0">
                <a:tc>
                  <a:txBody>
                    <a:bodyPr/>
                    <a:lstStyle/>
                    <a:p>
                      <a:pPr algn="r" indent="0" marL="0">
                        <a:buNone/>
                      </a:pPr>
                      <a:r>
                        <a:rPr lang="en-US" sz="1200" dirty="0">
                          <a:solidFill>
                            <a:srgbClr val="0F172A"/>
                          </a:solidFill>
                          <a:latin typeface="Segoe UI" pitchFamily="34" charset="0"/>
                          <a:ea typeface="Segoe UI" pitchFamily="34" charset="-122"/>
                          <a:cs typeface="Segoe UI" pitchFamily="34" charset="-120"/>
                        </a:rPr>
                        <a:t>الدور</a:t>
                      </a:r>
                      <a:endParaRPr lang="en-US" sz="1200" dirty="0">
                        <a:latin typeface="Segoe UI" charset="0"/>
                        <a:ea typeface="Segoe UI" charset="0"/>
                        <a:cs typeface="Segoe UI" charset="0"/>
                      </a:endParaRPr>
                    </a:p>
                  </a:txBody>
                  <a:tcPr marL="91440" marR="91440" marT="45720" marB="45720" anchor="ctr">
                    <a:lnL w="0" cap="flat" cmpd="sng" algn="ctr">
                      <a:noFill/>
                    </a:lnL>
                    <a:lnR w="0" cap="flat" cmpd="sng" algn="ctr">
                      <a:noFill/>
                    </a:lnR>
                    <a:lnT w="6350" cap="flat" cmpd="sng" algn="ctr">
                      <a:solidFill>
                        <a:srgbClr val="D6D3D1"/>
                      </a:solidFill>
                      <a:prstDash val="solid"/>
                      <a:round/>
                      <a:headEnd type="none" w="med" len="med"/>
                      <a:tailEnd type="none" w="med" len="med"/>
                    </a:lnT>
                    <a:lnB w="0" cap="flat" cmpd="sng" algn="ctr">
                      <a:noFill/>
                    </a:lnB>
                    <a:solidFill>
                      <a:srgbClr val="FFFFFF"/>
                    </a:solidFill>
                  </a:tcPr>
                </a:tc>
                <a:tc>
                  <a:txBody>
                    <a:bodyPr/>
                    <a:lstStyle/>
                    <a:p>
                      <a:pPr algn="r" indent="0" marL="0">
                        <a:buNone/>
                      </a:pPr>
                      <a:r>
                        <a:rPr lang="en-US" sz="1200" dirty="0">
                          <a:solidFill>
                            <a:srgbClr val="0F172A"/>
                          </a:solidFill>
                          <a:latin typeface="Segoe UI" pitchFamily="34" charset="0"/>
                          <a:ea typeface="Segoe UI" pitchFamily="34" charset="-122"/>
                          <a:cs typeface="Segoe UI" pitchFamily="34" charset="-120"/>
                        </a:rPr>
                        <a:t>merchant (تاجر)</a:t>
                      </a:r>
                      <a:endParaRPr lang="en-US" sz="1200" dirty="0">
                        <a:latin typeface="Segoe UI" charset="0"/>
                        <a:ea typeface="Segoe UI" charset="0"/>
                        <a:cs typeface="Segoe UI" charset="0"/>
                      </a:endParaRPr>
                    </a:p>
                  </a:txBody>
                  <a:tcPr marL="91440" marR="91440" marT="45720" marB="45720" anchor="ctr">
                    <a:lnL w="0" cap="flat" cmpd="sng" algn="ctr">
                      <a:noFill/>
                    </a:lnL>
                    <a:lnR w="0" cap="flat" cmpd="sng" algn="ctr">
                      <a:noFill/>
                    </a:lnR>
                    <a:lnT w="6350" cap="flat" cmpd="sng" algn="ctr">
                      <a:solidFill>
                        <a:srgbClr val="D6D3D1"/>
                      </a:solidFill>
                      <a:prstDash val="solid"/>
                      <a:round/>
                      <a:headEnd type="none" w="med" len="med"/>
                      <a:tailEnd type="none" w="med" len="med"/>
                    </a:lnT>
                    <a:lnB w="0" cap="flat" cmpd="sng" algn="ctr">
                      <a:noFill/>
                    </a:lnB>
                    <a:solidFill>
                      <a:srgbClr val="FFFFFF"/>
                    </a:solidFill>
                  </a:tcPr>
                </a:tc>
              </a:tr>
              <a:tr h="0">
                <a:tc>
                  <a:txBody>
                    <a:bodyPr/>
                    <a:lstStyle/>
                    <a:p>
                      <a:pPr algn="r" indent="0" marL="0">
                        <a:buNone/>
                      </a:pPr>
                      <a:r>
                        <a:rPr lang="en-US" sz="1200" dirty="0">
                          <a:solidFill>
                            <a:srgbClr val="0F172A"/>
                          </a:solidFill>
                          <a:latin typeface="Segoe UI" pitchFamily="34" charset="0"/>
                          <a:ea typeface="Segoe UI" pitchFamily="34" charset="-122"/>
                          <a:cs typeface="Segoe UI" pitchFamily="34" charset="-120"/>
                        </a:rPr>
                        <a:t>الظهور</a:t>
                      </a:r>
                      <a:endParaRPr lang="en-US" sz="1200" dirty="0">
                        <a:latin typeface="Segoe UI" charset="0"/>
                        <a:ea typeface="Segoe UI" charset="0"/>
                        <a:cs typeface="Segoe UI" charset="0"/>
                      </a:endParaRPr>
                    </a:p>
                  </a:txBody>
                  <a:tcPr marL="91440" marR="91440" marT="45720" marB="45720" anchor="ctr">
                    <a:lnL w="0" cap="flat" cmpd="sng" algn="ctr">
                      <a:noFill/>
                    </a:lnL>
                    <a:lnR w="0" cap="flat" cmpd="sng" algn="ctr">
                      <a:noFill/>
                    </a:lnR>
                    <a:lnT w="6350" cap="flat" cmpd="sng" algn="ctr">
                      <a:solidFill>
                        <a:srgbClr val="D6D3D1"/>
                      </a:solidFill>
                      <a:prstDash val="solid"/>
                      <a:round/>
                      <a:headEnd type="none" w="med" len="med"/>
                      <a:tailEnd type="none" w="med" len="med"/>
                    </a:lnT>
                    <a:lnB w="0" cap="flat" cmpd="sng" algn="ctr">
                      <a:noFill/>
                    </a:lnB>
                    <a:solidFill>
                      <a:srgbClr val="FFFFFF"/>
                    </a:solidFill>
                  </a:tcPr>
                </a:tc>
                <a:tc>
                  <a:txBody>
                    <a:bodyPr/>
                    <a:lstStyle/>
                    <a:p>
                      <a:pPr algn="r" indent="0" marL="0">
                        <a:buNone/>
                      </a:pPr>
                      <a:r>
                        <a:rPr lang="en-US" sz="1200" dirty="0">
                          <a:solidFill>
                            <a:srgbClr val="0F172A"/>
                          </a:solidFill>
                          <a:latin typeface="Segoe UI" pitchFamily="34" charset="0"/>
                          <a:ea typeface="Segoe UI" pitchFamily="34" charset="-122"/>
                          <a:cs typeface="Segoe UI" pitchFamily="34" charset="-120"/>
                        </a:rPr>
                        <a:t>بعد موافقة الإدارة</a:t>
                      </a:r>
                      <a:endParaRPr lang="en-US" sz="1200" dirty="0">
                        <a:latin typeface="Segoe UI" charset="0"/>
                        <a:ea typeface="Segoe UI" charset="0"/>
                        <a:cs typeface="Segoe UI" charset="0"/>
                      </a:endParaRPr>
                    </a:p>
                  </a:txBody>
                  <a:tcPr marL="91440" marR="91440" marT="45720" marB="45720" anchor="ctr">
                    <a:lnL w="0" cap="flat" cmpd="sng" algn="ctr">
                      <a:noFill/>
                    </a:lnL>
                    <a:lnR w="0" cap="flat" cmpd="sng" algn="ctr">
                      <a:noFill/>
                    </a:lnR>
                    <a:lnT w="6350" cap="flat" cmpd="sng" algn="ctr">
                      <a:solidFill>
                        <a:srgbClr val="D6D3D1"/>
                      </a:solidFill>
                      <a:prstDash val="solid"/>
                      <a:round/>
                      <a:headEnd type="none" w="med" len="med"/>
                      <a:tailEnd type="none" w="med" len="med"/>
                    </a:lnT>
                    <a:lnB w="0" cap="flat" cmpd="sng" algn="ctr">
                      <a:noFill/>
                    </a:lnB>
                    <a:solidFill>
                      <a:srgbClr val="FFFFFF"/>
                    </a:solidFill>
                  </a:tcPr>
                </a:tc>
              </a:tr>
              <a:tr h="0">
                <a:tc>
                  <a:txBody>
                    <a:bodyPr/>
                    <a:lstStyle/>
                    <a:p>
                      <a:pPr algn="r" indent="0" marL="0">
                        <a:buNone/>
                      </a:pPr>
                      <a:r>
                        <a:rPr lang="en-US" sz="1200" dirty="0">
                          <a:solidFill>
                            <a:srgbClr val="0F172A"/>
                          </a:solidFill>
                          <a:latin typeface="Segoe UI" pitchFamily="34" charset="0"/>
                          <a:ea typeface="Segoe UI" pitchFamily="34" charset="-122"/>
                          <a:cs typeface="Segoe UI" pitchFamily="34" charset="-120"/>
                        </a:rPr>
                        <a:t>الدفع</a:t>
                      </a:r>
                      <a:endParaRPr lang="en-US" sz="1200" dirty="0">
                        <a:latin typeface="Segoe UI" charset="0"/>
                        <a:ea typeface="Segoe UI" charset="0"/>
                        <a:cs typeface="Segoe UI" charset="0"/>
                      </a:endParaRPr>
                    </a:p>
                  </a:txBody>
                  <a:tcPr marL="91440" marR="91440" marT="45720" marB="45720" anchor="ctr">
                    <a:lnL w="0" cap="flat" cmpd="sng" algn="ctr">
                      <a:noFill/>
                    </a:lnL>
                    <a:lnR w="0" cap="flat" cmpd="sng" algn="ctr">
                      <a:noFill/>
                    </a:lnR>
                    <a:lnT w="6350" cap="flat" cmpd="sng" algn="ctr">
                      <a:solidFill>
                        <a:srgbClr val="D6D3D1"/>
                      </a:solidFill>
                      <a:prstDash val="solid"/>
                      <a:round/>
                      <a:headEnd type="none" w="med" len="med"/>
                      <a:tailEnd type="none" w="med" len="med"/>
                    </a:lnT>
                    <a:lnB w="0" cap="flat" cmpd="sng" algn="ctr">
                      <a:noFill/>
                    </a:lnB>
                    <a:solidFill>
                      <a:srgbClr val="FFFFFF"/>
                    </a:solidFill>
                  </a:tcPr>
                </a:tc>
                <a:tc>
                  <a:txBody>
                    <a:bodyPr/>
                    <a:lstStyle/>
                    <a:p>
                      <a:pPr algn="r" indent="0" marL="0">
                        <a:buNone/>
                      </a:pPr>
                      <a:r>
                        <a:rPr lang="en-US" sz="1200" dirty="0">
                          <a:solidFill>
                            <a:srgbClr val="0F172A"/>
                          </a:solidFill>
                          <a:latin typeface="Segoe UI" pitchFamily="34" charset="0"/>
                          <a:ea typeface="Segoe UI" pitchFamily="34" charset="-122"/>
                          <a:cs typeface="Segoe UI" pitchFamily="34" charset="-120"/>
                        </a:rPr>
                        <a:t>تحويل يدوي الآن · Paymob جاهز</a:t>
                      </a:r>
                      <a:endParaRPr lang="en-US" sz="1200" dirty="0">
                        <a:latin typeface="Segoe UI" charset="0"/>
                        <a:ea typeface="Segoe UI" charset="0"/>
                        <a:cs typeface="Segoe UI" charset="0"/>
                      </a:endParaRPr>
                    </a:p>
                  </a:txBody>
                  <a:tcPr marL="91440" marR="91440" marT="45720" marB="45720" anchor="ctr">
                    <a:lnL w="0" cap="flat" cmpd="sng" algn="ctr">
                      <a:noFill/>
                    </a:lnL>
                    <a:lnR w="0" cap="flat" cmpd="sng" algn="ctr">
                      <a:noFill/>
                    </a:lnR>
                    <a:lnT w="6350" cap="flat" cmpd="sng" algn="ctr">
                      <a:solidFill>
                        <a:srgbClr val="D6D3D1"/>
                      </a:solidFill>
                      <a:prstDash val="solid"/>
                      <a:round/>
                      <a:headEnd type="none" w="med" len="med"/>
                      <a:tailEnd type="none" w="med" len="med"/>
                    </a:lnT>
                    <a:lnB w="0" cap="flat" cmpd="sng" algn="ctr">
                      <a:noFill/>
                    </a:lnB>
                    <a:solidFill>
                      <a:srgbClr val="FFFFFF"/>
                    </a:solidFill>
                  </a:tcPr>
                </a:tc>
              </a:tr>
              <a:tr h="0">
                <a:tc>
                  <a:txBody>
                    <a:bodyPr/>
                    <a:lstStyle/>
                    <a:p>
                      <a:pPr algn="r" indent="0" marL="0">
                        <a:buNone/>
                      </a:pPr>
                      <a:r>
                        <a:rPr lang="en-US" sz="1200" dirty="0">
                          <a:solidFill>
                            <a:srgbClr val="0F172A"/>
                          </a:solidFill>
                          <a:latin typeface="Segoe UI" pitchFamily="34" charset="0"/>
                          <a:ea typeface="Segoe UI" pitchFamily="34" charset="-122"/>
                          <a:cs typeface="Segoe UI" pitchFamily="34" charset="-120"/>
                        </a:rPr>
                        <a:t>إيراد أساسي</a:t>
                      </a:r>
                      <a:endParaRPr lang="en-US" sz="1200" dirty="0">
                        <a:latin typeface="Segoe UI" charset="0"/>
                        <a:ea typeface="Segoe UI" charset="0"/>
                        <a:cs typeface="Segoe UI" charset="0"/>
                      </a:endParaRPr>
                    </a:p>
                  </a:txBody>
                  <a:tcPr marL="91440" marR="91440" marT="45720" marB="45720" anchor="ctr">
                    <a:lnL w="0" cap="flat" cmpd="sng" algn="ctr">
                      <a:noFill/>
                    </a:lnL>
                    <a:lnR w="0" cap="flat" cmpd="sng" algn="ctr">
                      <a:noFill/>
                    </a:lnR>
                    <a:lnT w="6350" cap="flat" cmpd="sng" algn="ctr">
                      <a:solidFill>
                        <a:srgbClr val="D6D3D1"/>
                      </a:solidFill>
                      <a:prstDash val="solid"/>
                      <a:round/>
                      <a:headEnd type="none" w="med" len="med"/>
                      <a:tailEnd type="none" w="med" len="med"/>
                    </a:lnT>
                    <a:lnB w="0" cap="flat" cmpd="sng" algn="ctr">
                      <a:noFill/>
                    </a:lnB>
                    <a:solidFill>
                      <a:srgbClr val="FFFFFF"/>
                    </a:solidFill>
                  </a:tcPr>
                </a:tc>
                <a:tc>
                  <a:txBody>
                    <a:bodyPr/>
                    <a:lstStyle/>
                    <a:p>
                      <a:pPr algn="r" indent="0" marL="0">
                        <a:buNone/>
                      </a:pPr>
                      <a:r>
                        <a:rPr lang="en-US" sz="1200" dirty="0">
                          <a:solidFill>
                            <a:srgbClr val="0F172A"/>
                          </a:solidFill>
                          <a:latin typeface="Segoe UI" pitchFamily="34" charset="0"/>
                          <a:ea typeface="Segoe UI" pitchFamily="34" charset="-122"/>
                          <a:cs typeface="Segoe UI" pitchFamily="34" charset="-120"/>
                        </a:rPr>
                        <a:t>عمولة ٥–١٥٪ على طلب ناجح (بالاتفاق)</a:t>
                      </a:r>
                      <a:endParaRPr lang="en-US" sz="1200" dirty="0">
                        <a:latin typeface="Segoe UI" charset="0"/>
                        <a:ea typeface="Segoe UI" charset="0"/>
                        <a:cs typeface="Segoe UI" charset="0"/>
                      </a:endParaRPr>
                    </a:p>
                  </a:txBody>
                  <a:tcPr marL="91440" marR="91440" marT="45720" marB="45720" anchor="ctr">
                    <a:lnL w="0" cap="flat" cmpd="sng" algn="ctr">
                      <a:noFill/>
                    </a:lnL>
                    <a:lnR w="0" cap="flat" cmpd="sng" algn="ctr">
                      <a:noFill/>
                    </a:lnR>
                    <a:lnT w="6350" cap="flat" cmpd="sng" algn="ctr">
                      <a:solidFill>
                        <a:srgbClr val="D6D3D1"/>
                      </a:solidFill>
                      <a:prstDash val="solid"/>
                      <a:round/>
                      <a:headEnd type="none" w="med" len="med"/>
                      <a:tailEnd type="none" w="med" len="med"/>
                    </a:lnT>
                    <a:lnB w="0" cap="flat" cmpd="sng" algn="ctr">
                      <a:noFill/>
                    </a:lnB>
                    <a:solidFill>
                      <a:srgbClr val="FFFFFF"/>
                    </a:solidFill>
                  </a:tcPr>
                </a:tc>
              </a:tr>
              <a:tr h="0">
                <a:tc>
                  <a:txBody>
                    <a:bodyPr/>
                    <a:lstStyle/>
                    <a:p>
                      <a:pPr algn="r" indent="0" marL="0">
                        <a:buNone/>
                      </a:pPr>
                      <a:r>
                        <a:rPr lang="en-US" sz="1200" dirty="0">
                          <a:solidFill>
                            <a:srgbClr val="0F172A"/>
                          </a:solidFill>
                          <a:latin typeface="Segoe UI" pitchFamily="34" charset="0"/>
                          <a:ea typeface="Segoe UI" pitchFamily="34" charset="-122"/>
                          <a:cs typeface="Segoe UI" pitchFamily="34" charset="-120"/>
                        </a:rPr>
                        <a:t>إيرادات مقترحة</a:t>
                      </a:r>
                      <a:endParaRPr lang="en-US" sz="1200" dirty="0">
                        <a:latin typeface="Segoe UI" charset="0"/>
                        <a:ea typeface="Segoe UI" charset="0"/>
                        <a:cs typeface="Segoe UI" charset="0"/>
                      </a:endParaRPr>
                    </a:p>
                  </a:txBody>
                  <a:tcPr marL="91440" marR="91440" marT="45720" marB="45720" anchor="ctr">
                    <a:lnL w="0" cap="flat" cmpd="sng" algn="ctr">
                      <a:noFill/>
                    </a:lnL>
                    <a:lnR w="0" cap="flat" cmpd="sng" algn="ctr">
                      <a:noFill/>
                    </a:lnR>
                    <a:lnT w="6350" cap="flat" cmpd="sng" algn="ctr">
                      <a:solidFill>
                        <a:srgbClr val="D6D3D1"/>
                      </a:solidFill>
                      <a:prstDash val="solid"/>
                      <a:round/>
                      <a:headEnd type="none" w="med" len="med"/>
                      <a:tailEnd type="none" w="med" len="med"/>
                    </a:lnT>
                    <a:lnB w="0" cap="flat" cmpd="sng" algn="ctr">
                      <a:noFill/>
                    </a:lnB>
                    <a:solidFill>
                      <a:srgbClr val="FFFFFF"/>
                    </a:solidFill>
                  </a:tcPr>
                </a:tc>
                <a:tc>
                  <a:txBody>
                    <a:bodyPr/>
                    <a:lstStyle/>
                    <a:p>
                      <a:pPr algn="r" indent="0" marL="0">
                        <a:buNone/>
                      </a:pPr>
                      <a:r>
                        <a:rPr lang="en-US" sz="1200" dirty="0">
                          <a:solidFill>
                            <a:srgbClr val="0F172A"/>
                          </a:solidFill>
                          <a:latin typeface="Segoe UI" pitchFamily="34" charset="0"/>
                          <a:ea typeface="Segoe UI" pitchFamily="34" charset="-122"/>
                          <a:cs typeface="Segoe UI" pitchFamily="34" charset="-120"/>
                        </a:rPr>
                        <a:t>اشتراك مميّز · RFQ · إعلان · B2B · عمولة متدرجة</a:t>
                      </a:r>
                      <a:endParaRPr lang="en-US" sz="1200" dirty="0">
                        <a:latin typeface="Segoe UI" charset="0"/>
                        <a:ea typeface="Segoe UI" charset="0"/>
                        <a:cs typeface="Segoe UI" charset="0"/>
                      </a:endParaRPr>
                    </a:p>
                  </a:txBody>
                  <a:tcPr marL="91440" marR="91440" marT="45720" marB="45720" anchor="ctr">
                    <a:lnL w="0" cap="flat" cmpd="sng" algn="ctr">
                      <a:noFill/>
                    </a:lnL>
                    <a:lnR w="0" cap="flat" cmpd="sng" algn="ctr">
                      <a:noFill/>
                    </a:lnR>
                    <a:lnT w="6350" cap="flat" cmpd="sng" algn="ctr">
                      <a:solidFill>
                        <a:srgbClr val="D6D3D1"/>
                      </a:solidFill>
                      <a:prstDash val="solid"/>
                      <a:round/>
                      <a:headEnd type="none" w="med" len="med"/>
                      <a:tailEnd type="none" w="med" len="med"/>
                    </a:lnT>
                    <a:lnB w="0" cap="flat" cmpd="sng" algn="ctr">
                      <a:noFill/>
                    </a:lnB>
                    <a:solidFill>
                      <a:srgbClr val="FFFFFF"/>
                    </a:solidFill>
                  </a:tcPr>
                </a:tc>
              </a:tr>
              <a:tr h="0">
                <a:tc>
                  <a:txBody>
                    <a:bodyPr/>
                    <a:lstStyle/>
                    <a:p>
                      <a:pPr algn="r" indent="0" marL="0">
                        <a:buNone/>
                      </a:pPr>
                      <a:r>
                        <a:rPr lang="en-US" sz="1200" dirty="0">
                          <a:solidFill>
                            <a:srgbClr val="0F172A"/>
                          </a:solidFill>
                          <a:latin typeface="Segoe UI" pitchFamily="34" charset="0"/>
                          <a:ea typeface="Segoe UI" pitchFamily="34" charset="-122"/>
                          <a:cs typeface="Segoe UI" pitchFamily="34" charset="-120"/>
                        </a:rPr>
                        <a:t>الخطوة التالية</a:t>
                      </a:r>
                      <a:endParaRPr lang="en-US" sz="1200" dirty="0">
                        <a:latin typeface="Segoe UI" charset="0"/>
                        <a:ea typeface="Segoe UI" charset="0"/>
                        <a:cs typeface="Segoe UI" charset="0"/>
                      </a:endParaRPr>
                    </a:p>
                  </a:txBody>
                  <a:tcPr marL="91440" marR="91440" marT="45720" marB="45720" anchor="ctr">
                    <a:lnL w="0" cap="flat" cmpd="sng" algn="ctr">
                      <a:noFill/>
                    </a:lnL>
                    <a:lnR w="0" cap="flat" cmpd="sng" algn="ctr">
                      <a:noFill/>
                    </a:lnR>
                    <a:lnT w="6350" cap="flat" cmpd="sng" algn="ctr">
                      <a:solidFill>
                        <a:srgbClr val="D6D3D1"/>
                      </a:solidFill>
                      <a:prstDash val="solid"/>
                      <a:round/>
                      <a:headEnd type="none" w="med" len="med"/>
                      <a:tailEnd type="none" w="med" len="med"/>
                    </a:lnT>
                    <a:lnB w="0" cap="flat" cmpd="sng" algn="ctr">
                      <a:noFill/>
                    </a:lnB>
                    <a:solidFill>
                      <a:srgbClr val="FFFFFF"/>
                    </a:solidFill>
                  </a:tcPr>
                </a:tc>
                <a:tc>
                  <a:txBody>
                    <a:bodyPr/>
                    <a:lstStyle/>
                    <a:p>
                      <a:pPr algn="r" indent="0" marL="0">
                        <a:buNone/>
                      </a:pPr>
                      <a:r>
                        <a:rPr lang="en-US" sz="1200" dirty="0">
                          <a:solidFill>
                            <a:srgbClr val="0F172A"/>
                          </a:solidFill>
                          <a:latin typeface="Segoe UI" pitchFamily="34" charset="0"/>
                          <a:ea typeface="Segoe UI" pitchFamily="34" charset="-122"/>
                          <a:cs typeface="Segoe UI" pitchFamily="34" charset="-120"/>
                        </a:rPr>
                        <a:t>حساب تجريبي + كتالوج صغير + اجتماع تشغيل</a:t>
                      </a:r>
                      <a:endParaRPr lang="en-US" sz="1200" dirty="0">
                        <a:latin typeface="Segoe UI" charset="0"/>
                        <a:ea typeface="Segoe UI" charset="0"/>
                        <a:cs typeface="Segoe UI" charset="0"/>
                      </a:endParaRPr>
                    </a:p>
                  </a:txBody>
                  <a:tcPr marL="91440" marR="91440" marT="45720" marB="45720" anchor="ctr">
                    <a:lnL w="0" cap="flat" cmpd="sng" algn="ctr">
                      <a:noFill/>
                    </a:lnL>
                    <a:lnR w="0" cap="flat" cmpd="sng" algn="ctr">
                      <a:noFill/>
                    </a:lnR>
                    <a:lnT w="6350" cap="flat" cmpd="sng" algn="ctr">
                      <a:solidFill>
                        <a:srgbClr val="D6D3D1"/>
                      </a:solidFill>
                      <a:prstDash val="solid"/>
                      <a:round/>
                      <a:headEnd type="none" w="med" len="med"/>
                      <a:tailEnd type="none" w="med" len="med"/>
                    </a:lnT>
                    <a:lnB w="0" cap="flat" cmpd="sng" algn="ctr">
                      <a:noFill/>
                    </a:lnB>
                    <a:solidFill>
                      <a:srgbClr val="FFFFFF"/>
                    </a:solidFill>
                  </a:tcPr>
                </a:tc>
              </a:tr>
              <a:tr h="0">
                <a:tc>
                  <a:txBody>
                    <a:bodyPr/>
                    <a:lstStyle/>
                    <a:p>
                      <a:pPr algn="r" indent="0" marL="0">
                        <a:buNone/>
                      </a:pPr>
                      <a:r>
                        <a:rPr lang="en-US" sz="1200" dirty="0">
                          <a:solidFill>
                            <a:srgbClr val="0F172A"/>
                          </a:solidFill>
                          <a:latin typeface="Segoe UI" pitchFamily="34" charset="0"/>
                          <a:ea typeface="Segoe UI" pitchFamily="34" charset="-122"/>
                          <a:cs typeface="Segoe UI" pitchFamily="34" charset="-120"/>
                        </a:rPr>
                        <a:t>المنصة</a:t>
                      </a:r>
                      <a:endParaRPr lang="en-US" sz="1200" dirty="0">
                        <a:latin typeface="Segoe UI" charset="0"/>
                        <a:ea typeface="Segoe UI" charset="0"/>
                        <a:cs typeface="Segoe UI" charset="0"/>
                      </a:endParaRPr>
                    </a:p>
                  </a:txBody>
                  <a:tcPr marL="91440" marR="91440" marT="45720" marB="45720" anchor="ctr">
                    <a:lnL w="0" cap="flat" cmpd="sng" algn="ctr">
                      <a:noFill/>
                    </a:lnL>
                    <a:lnR w="0" cap="flat" cmpd="sng" algn="ctr">
                      <a:noFill/>
                    </a:lnR>
                    <a:lnT w="6350" cap="flat" cmpd="sng" algn="ctr">
                      <a:solidFill>
                        <a:srgbClr val="D6D3D1"/>
                      </a:solidFill>
                      <a:prstDash val="solid"/>
                      <a:round/>
                      <a:headEnd type="none" w="med" len="med"/>
                      <a:tailEnd type="none" w="med" len="med"/>
                    </a:lnT>
                    <a:lnB w="0" cap="flat" cmpd="sng" algn="ctr">
                      <a:noFill/>
                    </a:lnB>
                    <a:solidFill>
                      <a:srgbClr val="FFFFFF"/>
                    </a:solidFill>
                  </a:tcPr>
                </a:tc>
                <a:tc>
                  <a:txBody>
                    <a:bodyPr/>
                    <a:lstStyle/>
                    <a:p>
                      <a:pPr algn="r" indent="0" marL="0">
                        <a:buNone/>
                      </a:pPr>
                      <a:r>
                        <a:rPr lang="en-US" sz="1200" dirty="0">
                          <a:solidFill>
                            <a:srgbClr val="0F172A"/>
                          </a:solidFill>
                          <a:latin typeface="Segoe UI" pitchFamily="34" charset="0"/>
                          <a:ea typeface="Segoe UI" pitchFamily="34" charset="-122"/>
                          <a:cs typeface="Segoe UI" pitchFamily="34" charset="-120"/>
                        </a:rPr>
                        <a:t>https://acadegate-new.web.app</a:t>
                      </a:r>
                      <a:endParaRPr lang="en-US" sz="1200" dirty="0">
                        <a:latin typeface="Segoe UI" charset="0"/>
                        <a:ea typeface="Segoe UI" charset="0"/>
                        <a:cs typeface="Segoe UI" charset="0"/>
                      </a:endParaRPr>
                    </a:p>
                  </a:txBody>
                  <a:tcPr marL="91440" marR="91440" marT="45720" marB="45720" anchor="ctr">
                    <a:lnL w="0" cap="flat" cmpd="sng" algn="ctr">
                      <a:noFill/>
                    </a:lnL>
                    <a:lnR w="0" cap="flat" cmpd="sng" algn="ctr">
                      <a:noFill/>
                    </a:lnR>
                    <a:lnT w="6350" cap="flat" cmpd="sng" algn="ctr">
                      <a:solidFill>
                        <a:srgbClr val="D6D3D1"/>
                      </a:solidFill>
                      <a:prstDash val="solid"/>
                      <a:round/>
                      <a:headEnd type="none" w="med" len="med"/>
                      <a:tailEnd type="none" w="med" len="med"/>
                    </a:lnT>
                    <a:lnB w="0" cap="flat" cmpd="sng" algn="ctr">
                      <a:noFill/>
                    </a:lnB>
                    <a:solidFill>
                      <a:srgbClr val="FFFFFF"/>
                    </a:solidFill>
                  </a:tcPr>
                </a:tc>
              </a:tr>
              <a:tr h="0">
                <a:tc>
                  <a:txBody>
                    <a:bodyPr/>
                    <a:lstStyle/>
                    <a:p>
                      <a:pPr algn="r" indent="0" marL="0">
                        <a:buNone/>
                      </a:pPr>
                      <a:r>
                        <a:rPr lang="en-US" sz="1200" dirty="0">
                          <a:solidFill>
                            <a:srgbClr val="0F172A"/>
                          </a:solidFill>
                          <a:latin typeface="Segoe UI" pitchFamily="34" charset="0"/>
                          <a:ea typeface="Segoe UI" pitchFamily="34" charset="-122"/>
                          <a:cs typeface="Segoe UI" pitchFamily="34" charset="-120"/>
                        </a:rPr>
                        <a:t>التسجيل</a:t>
                      </a:r>
                      <a:endParaRPr lang="en-US" sz="1200" dirty="0">
                        <a:latin typeface="Segoe UI" charset="0"/>
                        <a:ea typeface="Segoe UI" charset="0"/>
                        <a:cs typeface="Segoe UI" charset="0"/>
                      </a:endParaRPr>
                    </a:p>
                  </a:txBody>
                  <a:tcPr marL="91440" marR="91440" marT="45720" marB="45720" anchor="ctr">
                    <a:lnL w="0" cap="flat" cmpd="sng" algn="ctr">
                      <a:noFill/>
                    </a:lnL>
                    <a:lnR w="0" cap="flat" cmpd="sng" algn="ctr">
                      <a:noFill/>
                    </a:lnR>
                    <a:lnT w="6350" cap="flat" cmpd="sng" algn="ctr">
                      <a:solidFill>
                        <a:srgbClr val="D6D3D1"/>
                      </a:solidFill>
                      <a:prstDash val="solid"/>
                      <a:round/>
                      <a:headEnd type="none" w="med" len="med"/>
                      <a:tailEnd type="none" w="med" len="med"/>
                    </a:lnT>
                    <a:lnB w="0" cap="flat" cmpd="sng" algn="ctr">
                      <a:noFill/>
                    </a:lnB>
                    <a:solidFill>
                      <a:srgbClr val="FFFFFF"/>
                    </a:solidFill>
                  </a:tcPr>
                </a:tc>
                <a:tc>
                  <a:txBody>
                    <a:bodyPr/>
                    <a:lstStyle/>
                    <a:p>
                      <a:pPr algn="r" indent="0" marL="0">
                        <a:buNone/>
                      </a:pPr>
                      <a:r>
                        <a:rPr lang="en-US" sz="1200" dirty="0">
                          <a:solidFill>
                            <a:srgbClr val="0F172A"/>
                          </a:solidFill>
                          <a:latin typeface="Segoe UI" pitchFamily="34" charset="0"/>
                          <a:ea typeface="Segoe UI" pitchFamily="34" charset="-122"/>
                          <a:cs typeface="Segoe UI" pitchFamily="34" charset="-120"/>
                        </a:rPr>
                        <a:t>https://acadegate-new.web.app/register</a:t>
                      </a:r>
                      <a:endParaRPr lang="en-US" sz="1200" dirty="0">
                        <a:latin typeface="Segoe UI" charset="0"/>
                        <a:ea typeface="Segoe UI" charset="0"/>
                        <a:cs typeface="Segoe UI" charset="0"/>
                      </a:endParaRPr>
                    </a:p>
                  </a:txBody>
                  <a:tcPr marL="91440" marR="91440" marT="45720" marB="45720" anchor="ctr">
                    <a:lnL w="0" cap="flat" cmpd="sng" algn="ctr">
                      <a:noFill/>
                    </a:lnL>
                    <a:lnR w="0" cap="flat" cmpd="sng" algn="ctr">
                      <a:noFill/>
                    </a:lnR>
                    <a:lnT w="6350" cap="flat" cmpd="sng" algn="ctr">
                      <a:solidFill>
                        <a:srgbClr val="D6D3D1"/>
                      </a:solidFill>
                      <a:prstDash val="solid"/>
                      <a:round/>
                      <a:headEnd type="none" w="med" len="med"/>
                      <a:tailEnd type="none" w="med" len="med"/>
                    </a:lnT>
                    <a:lnB w="0" cap="flat" cmpd="sng" algn="ctr">
                      <a:noFill/>
                    </a:lnB>
                    <a:solidFill>
                      <a:srgbClr val="FFFFFF"/>
                    </a:solidFill>
                  </a:tcPr>
                </a:tc>
              </a:tr>
            </a:tbl>
          </a:graphicData>
        </a:graphic>
      </p:graphicFrame>
      <p:sp>
        <p:nvSpPr>
          <p:cNvPr id="7" name="Text 4"/>
          <p:cNvSpPr/>
          <p:nvPr/>
        </p:nvSpPr>
        <p:spPr>
          <a:xfrm>
            <a:off x="411480" y="5989320"/>
            <a:ext cx="11368735" cy="365760"/>
          </a:xfrm>
          <a:prstGeom prst="rect">
            <a:avLst/>
          </a:prstGeom>
          <a:noFill/>
          <a:ln/>
        </p:spPr>
        <p:txBody>
          <a:bodyPr wrap="square" rtlCol="0" anchor="ctr"/>
          <a:lstStyle/>
          <a:p>
            <a:pPr rtl="1" algn="r" indent="0" marL="0">
              <a:buNone/>
            </a:pPr>
            <a:r>
              <a:rPr lang="en-US" sz="1100" dirty="0">
                <a:solidFill>
                  <a:srgbClr val="475569"/>
                </a:solidFill>
                <a:latin typeface="Segoe UI" pitchFamily="34" charset="0"/>
                <a:ea typeface="Segoe UI" pitchFamily="34" charset="-122"/>
                <a:cs typeface="Segoe UI" pitchFamily="34" charset="-120"/>
              </a:rPr>
              <a:t>مبني على وظائف التطبيق الفعلية. الأرقام قابلة للتفاوض. أعِد التوليد: npm run pitch:suppliers</a:t>
            </a:r>
            <a:endParaRPr lang="en-US" sz="1100" dirty="0"/>
          </a:p>
        </p:txBody>
      </p:sp>
      <p:sp>
        <p:nvSpPr>
          <p:cNvPr id="8" name="Shape 5"/>
          <p:cNvSpPr/>
          <p:nvPr/>
        </p:nvSpPr>
        <p:spPr>
          <a:xfrm>
            <a:off x="0" y="6510528"/>
            <a:ext cx="12191695" cy="347472"/>
          </a:xfrm>
          <a:prstGeom prst="rect">
            <a:avLst/>
          </a:prstGeom>
          <a:solidFill>
            <a:srgbClr val="F8F5F0"/>
          </a:solidFill>
          <a:ln/>
        </p:spPr>
      </p:sp>
      <p:sp>
        <p:nvSpPr>
          <p:cNvPr id="9" name="Text 6"/>
          <p:cNvSpPr/>
          <p:nvPr/>
        </p:nvSpPr>
        <p:spPr>
          <a:xfrm>
            <a:off x="411480" y="6547104"/>
            <a:ext cx="8229600" cy="256032"/>
          </a:xfrm>
          <a:prstGeom prst="rect">
            <a:avLst/>
          </a:prstGeom>
          <a:noFill/>
          <a:ln/>
        </p:spPr>
        <p:txBody>
          <a:bodyPr wrap="square" rtlCol="0" anchor="ctr"/>
          <a:lstStyle/>
          <a:p>
            <a:pPr rtl="1" algn="r" indent="0" marL="0">
              <a:buNone/>
            </a:pPr>
            <a:r>
              <a:rPr lang="en-US" sz="1000" dirty="0">
                <a:solidFill>
                  <a:srgbClr val="475569"/>
                </a:solidFill>
                <a:latin typeface="Segoe UI" pitchFamily="34" charset="0"/>
                <a:ea typeface="Segoe UI" pitchFamily="34" charset="-122"/>
                <a:cs typeface="Segoe UI" pitchFamily="34" charset="-120"/>
              </a:rPr>
              <a:t>AcadeGate · عرض شراكة الموردين · محدّث ١٩ سبتمبر ٢٠٢٦</a:t>
            </a:r>
            <a:endParaRPr lang="en-US" sz="1000" dirty="0"/>
          </a:p>
        </p:txBody>
      </p:sp>
      <p:sp>
        <p:nvSpPr>
          <p:cNvPr id="10" name="Text 7"/>
          <p:cNvSpPr/>
          <p:nvPr/>
        </p:nvSpPr>
        <p:spPr>
          <a:xfrm>
            <a:off x="10682935" y="6547104"/>
            <a:ext cx="1097280" cy="256032"/>
          </a:xfrm>
          <a:prstGeom prst="rect">
            <a:avLst/>
          </a:prstGeom>
          <a:noFill/>
          <a:ln/>
        </p:spPr>
        <p:txBody>
          <a:bodyPr wrap="square" rtlCol="0" anchor="ctr"/>
          <a:lstStyle/>
          <a:p>
            <a:pPr algn="l" indent="0" marL="0">
              <a:buNone/>
            </a:pPr>
            <a:r>
              <a:rPr lang="en-US" sz="1000" dirty="0">
                <a:solidFill>
                  <a:srgbClr val="475569"/>
                </a:solidFill>
                <a:latin typeface="Segoe UI" pitchFamily="34" charset="0"/>
                <a:ea typeface="Segoe UI" pitchFamily="34" charset="-122"/>
                <a:cs typeface="Segoe UI" pitchFamily="34" charset="-120"/>
              </a:rPr>
              <a:t>16 / 16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AcadeGate — عرض الشراكة للموردين والتجار</dc:title>
  <dc:subject>عرض شراكة المتجر الأكاديمي · محدّث ١٩ سبتمبر ٢٠٢٦ · acadegate-new.web.app</dc:subject>
  <dc:creator>AcadeGate</dc:creator>
  <cp:lastModifiedBy>AcadeGate</cp:lastModifiedBy>
  <cp:revision>1</cp:revision>
  <dcterms:created xsi:type="dcterms:W3CDTF">2026-09-19T19:30:36Z</dcterms:created>
  <dcterms:modified xsi:type="dcterms:W3CDTF">2026-09-19T19:30:36Z</dcterms:modified>
</cp:coreProperties>
</file>